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7"/>
  </p:notesMasterIdLst>
  <p:sldIdLst>
    <p:sldId id="256" r:id="rId2"/>
    <p:sldId id="274" r:id="rId3"/>
    <p:sldId id="275" r:id="rId4"/>
    <p:sldId id="257" r:id="rId5"/>
    <p:sldId id="258" r:id="rId6"/>
    <p:sldId id="259" r:id="rId7"/>
    <p:sldId id="260" r:id="rId8"/>
    <p:sldId id="261" r:id="rId9"/>
    <p:sldId id="262" r:id="rId10"/>
    <p:sldId id="265" r:id="rId11"/>
    <p:sldId id="264" r:id="rId12"/>
    <p:sldId id="263" r:id="rId13"/>
    <p:sldId id="267" r:id="rId14"/>
    <p:sldId id="268" r:id="rId15"/>
    <p:sldId id="269" r:id="rId16"/>
    <p:sldId id="270" r:id="rId17"/>
    <p:sldId id="271" r:id="rId18"/>
    <p:sldId id="272" r:id="rId19"/>
    <p:sldId id="276" r:id="rId20"/>
    <p:sldId id="277" r:id="rId21"/>
    <p:sldId id="278" r:id="rId22"/>
    <p:sldId id="279" r:id="rId23"/>
    <p:sldId id="280" r:id="rId24"/>
    <p:sldId id="289" r:id="rId25"/>
    <p:sldId id="281" r:id="rId26"/>
    <p:sldId id="288" r:id="rId27"/>
    <p:sldId id="282" r:id="rId28"/>
    <p:sldId id="290" r:id="rId29"/>
    <p:sldId id="285" r:id="rId30"/>
    <p:sldId id="291" r:id="rId31"/>
    <p:sldId id="286" r:id="rId32"/>
    <p:sldId id="292" r:id="rId33"/>
    <p:sldId id="283" r:id="rId34"/>
    <p:sldId id="293" r:id="rId35"/>
    <p:sldId id="284" r:id="rId36"/>
  </p:sldIdLst>
  <p:sldSz cx="12192000" cy="6858000"/>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C0000"/>
    <a:srgbClr val="996600"/>
    <a:srgbClr val="99CC00"/>
    <a:srgbClr val="006699"/>
    <a:srgbClr val="00FFFF"/>
    <a:srgbClr val="FF292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011" autoAdjust="0"/>
    <p:restoredTop sz="94660"/>
  </p:normalViewPr>
  <p:slideViewPr>
    <p:cSldViewPr snapToGrid="0">
      <p:cViewPr varScale="1">
        <p:scale>
          <a:sx n="101" d="100"/>
          <a:sy n="101" d="100"/>
        </p:scale>
        <p:origin x="150" y="21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1A04C40-BD28-4243-928B-B59B34B35460}" type="datetimeFigureOut">
              <a:rPr lang="vi-VN" smtClean="0"/>
              <a:t>30/11/2025</a:t>
            </a:fld>
            <a:endParaRPr lang="vi-V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779D7B-E594-4D86-A5E4-613FD71702B3}" type="slidenum">
              <a:rPr lang="vi-VN" smtClean="0"/>
              <a:t>‹#›</a:t>
            </a:fld>
            <a:endParaRPr lang="vi-VN"/>
          </a:p>
        </p:txBody>
      </p:sp>
    </p:spTree>
    <p:extLst>
      <p:ext uri="{BB962C8B-B14F-4D97-AF65-F5344CB8AC3E}">
        <p14:creationId xmlns:p14="http://schemas.microsoft.com/office/powerpoint/2010/main" val="7301337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5"/>
          </p:nvPr>
        </p:nvSpPr>
        <p:spPr/>
        <p:txBody>
          <a:bodyPr/>
          <a:lstStyle/>
          <a:p>
            <a:fld id="{DF779D7B-E594-4D86-A5E4-613FD71702B3}" type="slidenum">
              <a:rPr lang="vi-VN" smtClean="0"/>
              <a:t>19</a:t>
            </a:fld>
            <a:endParaRPr lang="vi-VN"/>
          </a:p>
        </p:txBody>
      </p:sp>
    </p:spTree>
    <p:extLst>
      <p:ext uri="{BB962C8B-B14F-4D97-AF65-F5344CB8AC3E}">
        <p14:creationId xmlns:p14="http://schemas.microsoft.com/office/powerpoint/2010/main" val="12562367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F5C9EB-CD2F-20A4-3706-E8AD697E0358}"/>
              </a:ext>
            </a:extLst>
          </p:cNvPr>
          <p:cNvSpPr>
            <a:spLocks noGrp="1"/>
          </p:cNvSpPr>
          <p:nvPr>
            <p:ph type="ctrTitle"/>
          </p:nvPr>
        </p:nvSpPr>
        <p:spPr>
          <a:xfrm>
            <a:off x="1524000" y="1122363"/>
            <a:ext cx="9144000" cy="2387600"/>
          </a:xfrm>
        </p:spPr>
        <p:txBody>
          <a:bodyPr anchor="b"/>
          <a:lstStyle>
            <a:lvl1pPr algn="ctr">
              <a:defRPr sz="6000" b="1"/>
            </a:lvl1pPr>
          </a:lstStyle>
          <a:p>
            <a:r>
              <a:rPr lang="en-US"/>
              <a:t>Click to edit Master title style</a:t>
            </a:r>
            <a:endParaRPr lang="vi-VN"/>
          </a:p>
        </p:txBody>
      </p:sp>
      <p:sp>
        <p:nvSpPr>
          <p:cNvPr id="3" name="Subtitle 2">
            <a:extLst>
              <a:ext uri="{FF2B5EF4-FFF2-40B4-BE49-F238E27FC236}">
                <a16:creationId xmlns:a16="http://schemas.microsoft.com/office/drawing/2014/main" id="{7D863A89-3CBA-1E6C-2273-9592212E9FE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vi-VN"/>
          </a:p>
        </p:txBody>
      </p:sp>
      <p:sp>
        <p:nvSpPr>
          <p:cNvPr id="4" name="Date Placeholder 3">
            <a:extLst>
              <a:ext uri="{FF2B5EF4-FFF2-40B4-BE49-F238E27FC236}">
                <a16:creationId xmlns:a16="http://schemas.microsoft.com/office/drawing/2014/main" id="{08B125E3-4733-F139-5B68-A5BD0E944F17}"/>
              </a:ext>
            </a:extLst>
          </p:cNvPr>
          <p:cNvSpPr>
            <a:spLocks noGrp="1"/>
          </p:cNvSpPr>
          <p:nvPr>
            <p:ph type="dt" sz="half" idx="10"/>
          </p:nvPr>
        </p:nvSpPr>
        <p:spPr/>
        <p:txBody>
          <a:bodyPr/>
          <a:lstStyle/>
          <a:p>
            <a:fld id="{B0E8608D-3736-4636-AB6B-79F347890E19}" type="datetimeFigureOut">
              <a:rPr lang="vi-VN" smtClean="0"/>
              <a:t>30/11/2025</a:t>
            </a:fld>
            <a:endParaRPr lang="vi-VN"/>
          </a:p>
        </p:txBody>
      </p:sp>
      <p:sp>
        <p:nvSpPr>
          <p:cNvPr id="5" name="Footer Placeholder 4">
            <a:extLst>
              <a:ext uri="{FF2B5EF4-FFF2-40B4-BE49-F238E27FC236}">
                <a16:creationId xmlns:a16="http://schemas.microsoft.com/office/drawing/2014/main" id="{D082A6F1-38AD-AB39-7B7A-C3BCEE63A9BE}"/>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D682D98D-C16C-2111-F73A-03B0DA604932}"/>
              </a:ext>
            </a:extLst>
          </p:cNvPr>
          <p:cNvSpPr>
            <a:spLocks noGrp="1"/>
          </p:cNvSpPr>
          <p:nvPr>
            <p:ph type="sldNum" sz="quarter" idx="12"/>
          </p:nvPr>
        </p:nvSpPr>
        <p:spPr/>
        <p:txBody>
          <a:bodyPr/>
          <a:lstStyle/>
          <a:p>
            <a:fld id="{4ED22EA6-6E07-498D-89D0-2FA887FD1E5C}" type="slidenum">
              <a:rPr lang="vi-VN" smtClean="0"/>
              <a:t>‹#›</a:t>
            </a:fld>
            <a:endParaRPr lang="vi-VN"/>
          </a:p>
        </p:txBody>
      </p:sp>
    </p:spTree>
    <p:extLst>
      <p:ext uri="{BB962C8B-B14F-4D97-AF65-F5344CB8AC3E}">
        <p14:creationId xmlns:p14="http://schemas.microsoft.com/office/powerpoint/2010/main" val="42591740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9E4BB7-A2E2-B128-D624-47416DEAC492}"/>
              </a:ext>
            </a:extLst>
          </p:cNvPr>
          <p:cNvSpPr>
            <a:spLocks noGrp="1"/>
          </p:cNvSpPr>
          <p:nvPr>
            <p:ph type="title"/>
          </p:nvPr>
        </p:nvSpPr>
        <p:spPr/>
        <p:txBody>
          <a:bodyPr/>
          <a:lstStyle>
            <a:lvl1pPr>
              <a:defRPr b="1"/>
            </a:lvl1pPr>
          </a:lstStyle>
          <a:p>
            <a:r>
              <a:rPr lang="en-US"/>
              <a:t>Click to edit Master title style</a:t>
            </a:r>
            <a:endParaRPr lang="vi-VN"/>
          </a:p>
        </p:txBody>
      </p:sp>
      <p:sp>
        <p:nvSpPr>
          <p:cNvPr id="3" name="Content Placeholder 2">
            <a:extLst>
              <a:ext uri="{FF2B5EF4-FFF2-40B4-BE49-F238E27FC236}">
                <a16:creationId xmlns:a16="http://schemas.microsoft.com/office/drawing/2014/main" id="{37821069-E065-3079-BDF8-4048687032E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Date Placeholder 3">
            <a:extLst>
              <a:ext uri="{FF2B5EF4-FFF2-40B4-BE49-F238E27FC236}">
                <a16:creationId xmlns:a16="http://schemas.microsoft.com/office/drawing/2014/main" id="{93A35624-8C06-385E-7B84-DC5DB9D4B51B}"/>
              </a:ext>
            </a:extLst>
          </p:cNvPr>
          <p:cNvSpPr>
            <a:spLocks noGrp="1"/>
          </p:cNvSpPr>
          <p:nvPr>
            <p:ph type="dt" sz="half" idx="10"/>
          </p:nvPr>
        </p:nvSpPr>
        <p:spPr/>
        <p:txBody>
          <a:bodyPr/>
          <a:lstStyle/>
          <a:p>
            <a:fld id="{B0E8608D-3736-4636-AB6B-79F347890E19}" type="datetimeFigureOut">
              <a:rPr lang="vi-VN" smtClean="0"/>
              <a:t>30/11/2025</a:t>
            </a:fld>
            <a:endParaRPr lang="vi-VN"/>
          </a:p>
        </p:txBody>
      </p:sp>
      <p:sp>
        <p:nvSpPr>
          <p:cNvPr id="5" name="Footer Placeholder 4">
            <a:extLst>
              <a:ext uri="{FF2B5EF4-FFF2-40B4-BE49-F238E27FC236}">
                <a16:creationId xmlns:a16="http://schemas.microsoft.com/office/drawing/2014/main" id="{675524C3-759E-17F6-2E3E-D7CE6FCE1570}"/>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D77E189F-466F-7938-65D0-3813C1ED6165}"/>
              </a:ext>
            </a:extLst>
          </p:cNvPr>
          <p:cNvSpPr>
            <a:spLocks noGrp="1"/>
          </p:cNvSpPr>
          <p:nvPr>
            <p:ph type="sldNum" sz="quarter" idx="12"/>
          </p:nvPr>
        </p:nvSpPr>
        <p:spPr/>
        <p:txBody>
          <a:bodyPr/>
          <a:lstStyle/>
          <a:p>
            <a:fld id="{4ED22EA6-6E07-498D-89D0-2FA887FD1E5C}" type="slidenum">
              <a:rPr lang="vi-VN" smtClean="0"/>
              <a:t>‹#›</a:t>
            </a:fld>
            <a:endParaRPr lang="vi-VN"/>
          </a:p>
        </p:txBody>
      </p:sp>
    </p:spTree>
    <p:extLst>
      <p:ext uri="{BB962C8B-B14F-4D97-AF65-F5344CB8AC3E}">
        <p14:creationId xmlns:p14="http://schemas.microsoft.com/office/powerpoint/2010/main" val="39753244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877D56-F60C-F2C7-BAF9-0BDF7D62FA34}"/>
              </a:ext>
            </a:extLst>
          </p:cNvPr>
          <p:cNvSpPr>
            <a:spLocks noGrp="1"/>
          </p:cNvSpPr>
          <p:nvPr>
            <p:ph type="title"/>
          </p:nvPr>
        </p:nvSpPr>
        <p:spPr>
          <a:xfrm>
            <a:off x="831850" y="1709738"/>
            <a:ext cx="10515600" cy="2852737"/>
          </a:xfrm>
        </p:spPr>
        <p:txBody>
          <a:bodyPr anchor="b"/>
          <a:lstStyle>
            <a:lvl1pPr>
              <a:defRPr sz="6000" b="1"/>
            </a:lvl1pPr>
          </a:lstStyle>
          <a:p>
            <a:r>
              <a:rPr lang="en-US"/>
              <a:t>Click to edit Master title style</a:t>
            </a:r>
            <a:endParaRPr lang="vi-VN"/>
          </a:p>
        </p:txBody>
      </p:sp>
      <p:sp>
        <p:nvSpPr>
          <p:cNvPr id="3" name="Text Placeholder 2">
            <a:extLst>
              <a:ext uri="{FF2B5EF4-FFF2-40B4-BE49-F238E27FC236}">
                <a16:creationId xmlns:a16="http://schemas.microsoft.com/office/drawing/2014/main" id="{5299144E-64F1-7AB0-2D3A-980B67E3CDA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F0350A1-799D-2454-577D-FAFE8446CBD8}"/>
              </a:ext>
            </a:extLst>
          </p:cNvPr>
          <p:cNvSpPr>
            <a:spLocks noGrp="1"/>
          </p:cNvSpPr>
          <p:nvPr>
            <p:ph type="dt" sz="half" idx="10"/>
          </p:nvPr>
        </p:nvSpPr>
        <p:spPr/>
        <p:txBody>
          <a:bodyPr/>
          <a:lstStyle/>
          <a:p>
            <a:fld id="{B0E8608D-3736-4636-AB6B-79F347890E19}" type="datetimeFigureOut">
              <a:rPr lang="vi-VN" smtClean="0"/>
              <a:t>30/11/2025</a:t>
            </a:fld>
            <a:endParaRPr lang="vi-VN"/>
          </a:p>
        </p:txBody>
      </p:sp>
      <p:sp>
        <p:nvSpPr>
          <p:cNvPr id="5" name="Footer Placeholder 4">
            <a:extLst>
              <a:ext uri="{FF2B5EF4-FFF2-40B4-BE49-F238E27FC236}">
                <a16:creationId xmlns:a16="http://schemas.microsoft.com/office/drawing/2014/main" id="{0F7E41D2-7B36-8286-59BC-4591BE24F38A}"/>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E48568B2-1CDB-6ABC-ED85-6E3AAF4DCE7A}"/>
              </a:ext>
            </a:extLst>
          </p:cNvPr>
          <p:cNvSpPr>
            <a:spLocks noGrp="1"/>
          </p:cNvSpPr>
          <p:nvPr>
            <p:ph type="sldNum" sz="quarter" idx="12"/>
          </p:nvPr>
        </p:nvSpPr>
        <p:spPr/>
        <p:txBody>
          <a:bodyPr/>
          <a:lstStyle/>
          <a:p>
            <a:fld id="{4ED22EA6-6E07-498D-89D0-2FA887FD1E5C}" type="slidenum">
              <a:rPr lang="vi-VN" smtClean="0"/>
              <a:t>‹#›</a:t>
            </a:fld>
            <a:endParaRPr lang="vi-VN"/>
          </a:p>
        </p:txBody>
      </p:sp>
    </p:spTree>
    <p:extLst>
      <p:ext uri="{BB962C8B-B14F-4D97-AF65-F5344CB8AC3E}">
        <p14:creationId xmlns:p14="http://schemas.microsoft.com/office/powerpoint/2010/main" val="11204160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2C2F69-8E25-456E-B604-D1D531AE2182}"/>
              </a:ext>
            </a:extLst>
          </p:cNvPr>
          <p:cNvSpPr>
            <a:spLocks noGrp="1"/>
          </p:cNvSpPr>
          <p:nvPr>
            <p:ph type="title"/>
          </p:nvPr>
        </p:nvSpPr>
        <p:spPr/>
        <p:txBody>
          <a:bodyPr/>
          <a:lstStyle/>
          <a:p>
            <a:r>
              <a:rPr lang="en-US"/>
              <a:t>Click to edit Master title style</a:t>
            </a:r>
            <a:endParaRPr lang="vi-VN"/>
          </a:p>
        </p:txBody>
      </p:sp>
      <p:sp>
        <p:nvSpPr>
          <p:cNvPr id="3" name="Content Placeholder 2">
            <a:extLst>
              <a:ext uri="{FF2B5EF4-FFF2-40B4-BE49-F238E27FC236}">
                <a16:creationId xmlns:a16="http://schemas.microsoft.com/office/drawing/2014/main" id="{D3F9DC7C-5383-2976-CEB1-55C5F490ABB3}"/>
              </a:ext>
            </a:extLst>
          </p:cNvPr>
          <p:cNvSpPr>
            <a:spLocks noGrp="1"/>
          </p:cNvSpPr>
          <p:nvPr>
            <p:ph sz="half" idx="1"/>
          </p:nvPr>
        </p:nvSpPr>
        <p:spPr>
          <a:xfrm>
            <a:off x="838200" y="1193800"/>
            <a:ext cx="5181600" cy="49831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Content Placeholder 3">
            <a:extLst>
              <a:ext uri="{FF2B5EF4-FFF2-40B4-BE49-F238E27FC236}">
                <a16:creationId xmlns:a16="http://schemas.microsoft.com/office/drawing/2014/main" id="{BC51B79C-62FB-5724-7F98-50E6048DFD3F}"/>
              </a:ext>
            </a:extLst>
          </p:cNvPr>
          <p:cNvSpPr>
            <a:spLocks noGrp="1"/>
          </p:cNvSpPr>
          <p:nvPr>
            <p:ph sz="half" idx="2"/>
          </p:nvPr>
        </p:nvSpPr>
        <p:spPr>
          <a:xfrm>
            <a:off x="6172200" y="1193800"/>
            <a:ext cx="5181600" cy="49831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5" name="Date Placeholder 4">
            <a:extLst>
              <a:ext uri="{FF2B5EF4-FFF2-40B4-BE49-F238E27FC236}">
                <a16:creationId xmlns:a16="http://schemas.microsoft.com/office/drawing/2014/main" id="{BDB42C93-64E1-35D3-F23C-9D6C4840565C}"/>
              </a:ext>
            </a:extLst>
          </p:cNvPr>
          <p:cNvSpPr>
            <a:spLocks noGrp="1"/>
          </p:cNvSpPr>
          <p:nvPr>
            <p:ph type="dt" sz="half" idx="10"/>
          </p:nvPr>
        </p:nvSpPr>
        <p:spPr/>
        <p:txBody>
          <a:bodyPr/>
          <a:lstStyle/>
          <a:p>
            <a:fld id="{B0E8608D-3736-4636-AB6B-79F347890E19}" type="datetimeFigureOut">
              <a:rPr lang="vi-VN" smtClean="0"/>
              <a:t>30/11/2025</a:t>
            </a:fld>
            <a:endParaRPr lang="vi-VN"/>
          </a:p>
        </p:txBody>
      </p:sp>
      <p:sp>
        <p:nvSpPr>
          <p:cNvPr id="6" name="Footer Placeholder 5">
            <a:extLst>
              <a:ext uri="{FF2B5EF4-FFF2-40B4-BE49-F238E27FC236}">
                <a16:creationId xmlns:a16="http://schemas.microsoft.com/office/drawing/2014/main" id="{7F98F3B0-22E8-B542-6ECD-3299E1098974}"/>
              </a:ext>
            </a:extLst>
          </p:cNvPr>
          <p:cNvSpPr>
            <a:spLocks noGrp="1"/>
          </p:cNvSpPr>
          <p:nvPr>
            <p:ph type="ftr" sz="quarter" idx="11"/>
          </p:nvPr>
        </p:nvSpPr>
        <p:spPr/>
        <p:txBody>
          <a:bodyPr/>
          <a:lstStyle/>
          <a:p>
            <a:endParaRPr lang="vi-VN"/>
          </a:p>
        </p:txBody>
      </p:sp>
      <p:sp>
        <p:nvSpPr>
          <p:cNvPr id="7" name="Slide Number Placeholder 6">
            <a:extLst>
              <a:ext uri="{FF2B5EF4-FFF2-40B4-BE49-F238E27FC236}">
                <a16:creationId xmlns:a16="http://schemas.microsoft.com/office/drawing/2014/main" id="{7922FB48-67EA-0E06-F743-F608576EB2C3}"/>
              </a:ext>
            </a:extLst>
          </p:cNvPr>
          <p:cNvSpPr>
            <a:spLocks noGrp="1"/>
          </p:cNvSpPr>
          <p:nvPr>
            <p:ph type="sldNum" sz="quarter" idx="12"/>
          </p:nvPr>
        </p:nvSpPr>
        <p:spPr/>
        <p:txBody>
          <a:bodyPr/>
          <a:lstStyle/>
          <a:p>
            <a:fld id="{4ED22EA6-6E07-498D-89D0-2FA887FD1E5C}" type="slidenum">
              <a:rPr lang="vi-VN" smtClean="0"/>
              <a:t>‹#›</a:t>
            </a:fld>
            <a:endParaRPr lang="vi-VN"/>
          </a:p>
        </p:txBody>
      </p:sp>
    </p:spTree>
    <p:extLst>
      <p:ext uri="{BB962C8B-B14F-4D97-AF65-F5344CB8AC3E}">
        <p14:creationId xmlns:p14="http://schemas.microsoft.com/office/powerpoint/2010/main" val="109115593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2340B8-F7E1-D0F3-E63E-DF77BCAE1492}"/>
              </a:ext>
            </a:extLst>
          </p:cNvPr>
          <p:cNvSpPr>
            <a:spLocks noGrp="1"/>
          </p:cNvSpPr>
          <p:nvPr>
            <p:ph type="title"/>
          </p:nvPr>
        </p:nvSpPr>
        <p:spPr>
          <a:xfrm>
            <a:off x="838200" y="365126"/>
            <a:ext cx="10515600" cy="828674"/>
          </a:xfrm>
          <a:prstGeom prst="rect">
            <a:avLst/>
          </a:prstGeom>
        </p:spPr>
        <p:txBody>
          <a:bodyPr vert="horz" lIns="91440" tIns="45720" rIns="91440" bIns="45720" rtlCol="0" anchor="ctr">
            <a:normAutofit/>
          </a:bodyPr>
          <a:lstStyle/>
          <a:p>
            <a:r>
              <a:rPr lang="en-US"/>
              <a:t>Click to edit Master title style</a:t>
            </a:r>
            <a:endParaRPr lang="vi-VN"/>
          </a:p>
        </p:txBody>
      </p:sp>
      <p:sp>
        <p:nvSpPr>
          <p:cNvPr id="3" name="Text Placeholder 2">
            <a:extLst>
              <a:ext uri="{FF2B5EF4-FFF2-40B4-BE49-F238E27FC236}">
                <a16:creationId xmlns:a16="http://schemas.microsoft.com/office/drawing/2014/main" id="{5F289FB4-45F4-8BB9-DF15-A551783996DD}"/>
              </a:ext>
            </a:extLst>
          </p:cNvPr>
          <p:cNvSpPr>
            <a:spLocks noGrp="1"/>
          </p:cNvSpPr>
          <p:nvPr>
            <p:ph type="body" idx="1"/>
          </p:nvPr>
        </p:nvSpPr>
        <p:spPr>
          <a:xfrm>
            <a:off x="838200" y="1193800"/>
            <a:ext cx="10515600" cy="49831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Date Placeholder 3">
            <a:extLst>
              <a:ext uri="{FF2B5EF4-FFF2-40B4-BE49-F238E27FC236}">
                <a16:creationId xmlns:a16="http://schemas.microsoft.com/office/drawing/2014/main" id="{582A62EA-FF14-0EB0-11C5-0AF603999E3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0E8608D-3736-4636-AB6B-79F347890E19}" type="datetimeFigureOut">
              <a:rPr lang="vi-VN" smtClean="0"/>
              <a:t>30/11/2025</a:t>
            </a:fld>
            <a:endParaRPr lang="vi-VN"/>
          </a:p>
        </p:txBody>
      </p:sp>
      <p:sp>
        <p:nvSpPr>
          <p:cNvPr id="5" name="Footer Placeholder 4">
            <a:extLst>
              <a:ext uri="{FF2B5EF4-FFF2-40B4-BE49-F238E27FC236}">
                <a16:creationId xmlns:a16="http://schemas.microsoft.com/office/drawing/2014/main" id="{8816B055-5FB7-AEB5-084B-2BC346E62A9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vi-VN"/>
          </a:p>
        </p:txBody>
      </p:sp>
      <p:sp>
        <p:nvSpPr>
          <p:cNvPr id="6" name="Slide Number Placeholder 5">
            <a:extLst>
              <a:ext uri="{FF2B5EF4-FFF2-40B4-BE49-F238E27FC236}">
                <a16:creationId xmlns:a16="http://schemas.microsoft.com/office/drawing/2014/main" id="{743485B8-00D1-BFE2-1171-2D6EE42002E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ED22EA6-6E07-498D-89D0-2FA887FD1E5C}" type="slidenum">
              <a:rPr lang="vi-VN" smtClean="0"/>
              <a:t>‹#›</a:t>
            </a:fld>
            <a:endParaRPr lang="vi-VN"/>
          </a:p>
        </p:txBody>
      </p:sp>
      <p:sp>
        <p:nvSpPr>
          <p:cNvPr id="7" name="Rectangle 6">
            <a:extLst>
              <a:ext uri="{FF2B5EF4-FFF2-40B4-BE49-F238E27FC236}">
                <a16:creationId xmlns:a16="http://schemas.microsoft.com/office/drawing/2014/main" id="{ACC93C87-C713-0053-A38E-A9C88CAA3E42}"/>
              </a:ext>
            </a:extLst>
          </p:cNvPr>
          <p:cNvSpPr/>
          <p:nvPr userDrawn="1"/>
        </p:nvSpPr>
        <p:spPr>
          <a:xfrm>
            <a:off x="0" y="6176963"/>
            <a:ext cx="12192000" cy="681037"/>
          </a:xfrm>
          <a:prstGeom prst="rect">
            <a:avLst/>
          </a:prstGeom>
          <a:solidFill>
            <a:schemeClr val="accent1">
              <a:lumMod val="20000"/>
              <a:lumOff val="8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169626693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txStyles>
    <p:titleStyle>
      <a:lvl1pPr algn="l" defTabSz="914400" rtl="0" eaLnBrk="1" latinLnBrk="0" hangingPunct="1">
        <a:lnSpc>
          <a:spcPct val="90000"/>
        </a:lnSpc>
        <a:spcBef>
          <a:spcPct val="0"/>
        </a:spcBef>
        <a:buNone/>
        <a:defRPr sz="4400" b="1"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3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HaianCao/FoodChatbot/" TargetMode="External"/><Relationship Id="rId2" Type="http://schemas.openxmlformats.org/officeDocument/2006/relationships/hyperlink" Target="https://github.com/HaianCao/FoodChatbot/blob/main/LaTeX%20Template/main-vi.pdf"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hyperlink" Target="https://therecipecritic.com/"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3D86FE-1FD5-AB72-F677-C1745DFCE1A9}"/>
              </a:ext>
            </a:extLst>
          </p:cNvPr>
          <p:cNvSpPr>
            <a:spLocks noGrp="1"/>
          </p:cNvSpPr>
          <p:nvPr>
            <p:ph type="ctrTitle"/>
          </p:nvPr>
        </p:nvSpPr>
        <p:spPr/>
        <p:txBody>
          <a:bodyPr/>
          <a:lstStyle/>
          <a:p>
            <a:r>
              <a:rPr lang="vi-VN" b="1"/>
              <a:t>Chatbot Ẩm Thực</a:t>
            </a:r>
          </a:p>
        </p:txBody>
      </p:sp>
      <p:sp>
        <p:nvSpPr>
          <p:cNvPr id="3" name="Subtitle 2">
            <a:extLst>
              <a:ext uri="{FF2B5EF4-FFF2-40B4-BE49-F238E27FC236}">
                <a16:creationId xmlns:a16="http://schemas.microsoft.com/office/drawing/2014/main" id="{7DF5C7E1-F6C6-3641-3172-1443CFD9CD21}"/>
              </a:ext>
            </a:extLst>
          </p:cNvPr>
          <p:cNvSpPr>
            <a:spLocks noGrp="1"/>
          </p:cNvSpPr>
          <p:nvPr>
            <p:ph type="subTitle" idx="1"/>
          </p:nvPr>
        </p:nvSpPr>
        <p:spPr/>
        <p:txBody>
          <a:bodyPr/>
          <a:lstStyle/>
          <a:p>
            <a:endParaRPr lang="vi-VN"/>
          </a:p>
        </p:txBody>
      </p:sp>
    </p:spTree>
    <p:extLst>
      <p:ext uri="{BB962C8B-B14F-4D97-AF65-F5344CB8AC3E}">
        <p14:creationId xmlns:p14="http://schemas.microsoft.com/office/powerpoint/2010/main" val="111438252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EC90A6-AE36-81A0-0419-ACE019268365}"/>
              </a:ext>
            </a:extLst>
          </p:cNvPr>
          <p:cNvSpPr>
            <a:spLocks noGrp="1"/>
          </p:cNvSpPr>
          <p:nvPr>
            <p:ph type="title"/>
          </p:nvPr>
        </p:nvSpPr>
        <p:spPr/>
        <p:txBody>
          <a:bodyPr>
            <a:normAutofit/>
          </a:bodyPr>
          <a:lstStyle/>
          <a:p>
            <a:r>
              <a:rPr lang="vi-VN"/>
              <a:t>Thông tin</a:t>
            </a:r>
          </a:p>
        </p:txBody>
      </p:sp>
      <p:sp>
        <p:nvSpPr>
          <p:cNvPr id="3" name="Content Placeholder 2">
            <a:extLst>
              <a:ext uri="{FF2B5EF4-FFF2-40B4-BE49-F238E27FC236}">
                <a16:creationId xmlns:a16="http://schemas.microsoft.com/office/drawing/2014/main" id="{235DA66D-15F4-5460-04D4-E67BFA92021E}"/>
              </a:ext>
            </a:extLst>
          </p:cNvPr>
          <p:cNvSpPr>
            <a:spLocks noGrp="1"/>
          </p:cNvSpPr>
          <p:nvPr>
            <p:ph idx="1"/>
          </p:nvPr>
        </p:nvSpPr>
        <p:spPr/>
        <p:txBody>
          <a:bodyPr>
            <a:normAutofit fontScale="77500" lnSpcReduction="20000"/>
          </a:bodyPr>
          <a:lstStyle/>
          <a:p>
            <a:r>
              <a:rPr lang="vi-VN" b="1"/>
              <a:t>Môn học:</a:t>
            </a:r>
            <a:r>
              <a:rPr lang="vi-VN"/>
              <a:t> MAT1207E - Nhập môn Trí tuệ Nhân tạo</a:t>
            </a:r>
          </a:p>
          <a:p>
            <a:r>
              <a:rPr lang="vi-VN" b="1"/>
              <a:t>Học kỳ:</a:t>
            </a:r>
            <a:r>
              <a:rPr lang="vi-VN"/>
              <a:t> Học kỳ 1 - 2025-2026</a:t>
            </a:r>
          </a:p>
          <a:p>
            <a:r>
              <a:rPr lang="vi-VN" b="1"/>
              <a:t>Trường:</a:t>
            </a:r>
            <a:r>
              <a:rPr lang="vi-VN"/>
              <a:t> VNU-HUS (Đại học Quốc gia Hà Nội - Trường Đại học Khoa học Tự nhiên)</a:t>
            </a:r>
          </a:p>
          <a:p>
            <a:r>
              <a:rPr lang="vi-VN" b="1"/>
              <a:t>Tiêu đề:</a:t>
            </a:r>
            <a:r>
              <a:rPr lang="vi-VN"/>
              <a:t> Chatbot ẩm thực</a:t>
            </a:r>
          </a:p>
          <a:p>
            <a:r>
              <a:rPr lang="vi-VN" b="1"/>
              <a:t>Ngày nộp:</a:t>
            </a:r>
            <a:endParaRPr lang="vi-VN"/>
          </a:p>
          <a:p>
            <a:r>
              <a:rPr lang="vi-VN" b="1"/>
              <a:t>Báo cáo PDF:</a:t>
            </a:r>
            <a:r>
              <a:rPr lang="vi-VN"/>
              <a:t> </a:t>
            </a:r>
            <a:r>
              <a:rPr lang="vi-VN">
                <a:hlinkClick r:id="rId2"/>
              </a:rPr>
              <a:t>Github</a:t>
            </a:r>
            <a:endParaRPr lang="vi-VN"/>
          </a:p>
          <a:p>
            <a:r>
              <a:rPr lang="vi-VN" b="1"/>
              <a:t>Slide thuyết trình:</a:t>
            </a:r>
            <a:r>
              <a:rPr lang="vi-VN"/>
              <a:t> [Liên kết tới slide thuyết trình trong kho lưu trữ này]</a:t>
            </a:r>
          </a:p>
          <a:p>
            <a:r>
              <a:rPr lang="vi-VN" b="1"/>
              <a:t>Kho lưu trữ:</a:t>
            </a:r>
            <a:r>
              <a:rPr lang="vi-VN"/>
              <a:t> </a:t>
            </a:r>
            <a:r>
              <a:rPr lang="vi-VN">
                <a:hlinkClick r:id="rId3"/>
              </a:rPr>
              <a:t>Github</a:t>
            </a:r>
            <a:endParaRPr lang="vi-VN"/>
          </a:p>
          <a:p>
            <a:endParaRPr lang="vi-VN"/>
          </a:p>
        </p:txBody>
      </p:sp>
    </p:spTree>
    <p:extLst>
      <p:ext uri="{BB962C8B-B14F-4D97-AF65-F5344CB8AC3E}">
        <p14:creationId xmlns:p14="http://schemas.microsoft.com/office/powerpoint/2010/main" val="226423492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fade">
                                      <p:cBhvr>
                                        <p:cTn id="19" dur="500"/>
                                        <p:tgtEl>
                                          <p:spTgt spid="3">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animEffect transition="in" filter="fade">
                                      <p:cBhvr>
                                        <p:cTn id="22" dur="500"/>
                                        <p:tgtEl>
                                          <p:spTgt spid="3">
                                            <p:txEl>
                                              <p:pRg st="5" end="5"/>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animEffect transition="in" filter="fade">
                                      <p:cBhvr>
                                        <p:cTn id="25" dur="500"/>
                                        <p:tgtEl>
                                          <p:spTgt spid="3">
                                            <p:txEl>
                                              <p:pRg st="6" end="6"/>
                                            </p:txEl>
                                          </p:spTgt>
                                        </p:tgtEl>
                                      </p:cBhvr>
                                    </p:animEffect>
                                  </p:childTnLst>
                                </p:cTn>
                              </p:par>
                              <p:par>
                                <p:cTn id="26" presetID="10" presetClass="entr" presetSubtype="0" fill="hold" nodeType="withEffect">
                                  <p:stCondLst>
                                    <p:cond delay="0"/>
                                  </p:stCondLst>
                                  <p:childTnLst>
                                    <p:set>
                                      <p:cBhvr>
                                        <p:cTn id="27" dur="1" fill="hold">
                                          <p:stCondLst>
                                            <p:cond delay="0"/>
                                          </p:stCondLst>
                                        </p:cTn>
                                        <p:tgtEl>
                                          <p:spTgt spid="3">
                                            <p:txEl>
                                              <p:pRg st="7" end="7"/>
                                            </p:txEl>
                                          </p:spTgt>
                                        </p:tgtEl>
                                        <p:attrNameLst>
                                          <p:attrName>style.visibility</p:attrName>
                                        </p:attrNameLst>
                                      </p:cBhvr>
                                      <p:to>
                                        <p:strVal val="visible"/>
                                      </p:to>
                                    </p:set>
                                    <p:animEffect transition="in" filter="fade">
                                      <p:cBhvr>
                                        <p:cTn id="28"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EA3490-3E4D-864F-7C99-0A2852DDA261}"/>
              </a:ext>
            </a:extLst>
          </p:cNvPr>
          <p:cNvSpPr>
            <a:spLocks noGrp="1"/>
          </p:cNvSpPr>
          <p:nvPr>
            <p:ph type="title"/>
          </p:nvPr>
        </p:nvSpPr>
        <p:spPr/>
        <p:txBody>
          <a:bodyPr>
            <a:normAutofit/>
          </a:bodyPr>
          <a:lstStyle/>
          <a:p>
            <a:r>
              <a:rPr lang="vi-VN"/>
              <a:t>Thành viên nhóm</a:t>
            </a:r>
          </a:p>
        </p:txBody>
      </p:sp>
      <p:graphicFrame>
        <p:nvGraphicFramePr>
          <p:cNvPr id="4" name="Content Placeholder 3">
            <a:extLst>
              <a:ext uri="{FF2B5EF4-FFF2-40B4-BE49-F238E27FC236}">
                <a16:creationId xmlns:a16="http://schemas.microsoft.com/office/drawing/2014/main" id="{05DB8F99-E416-EDB8-CD8B-BE2A9EF61B8C}"/>
              </a:ext>
            </a:extLst>
          </p:cNvPr>
          <p:cNvGraphicFramePr>
            <a:graphicFrameLocks noGrp="1"/>
          </p:cNvGraphicFramePr>
          <p:nvPr>
            <p:ph idx="1"/>
            <p:extLst>
              <p:ext uri="{D42A27DB-BD31-4B8C-83A1-F6EECF244321}">
                <p14:modId xmlns:p14="http://schemas.microsoft.com/office/powerpoint/2010/main" val="789938180"/>
              </p:ext>
            </p:extLst>
          </p:nvPr>
        </p:nvGraphicFramePr>
        <p:xfrm>
          <a:off x="838200" y="1193800"/>
          <a:ext cx="10515600" cy="3749040"/>
        </p:xfrm>
        <a:graphic>
          <a:graphicData uri="http://schemas.openxmlformats.org/drawingml/2006/table">
            <a:tbl>
              <a:tblPr>
                <a:tableStyleId>{793D81CF-94F2-401A-BA57-92F5A7B2D0C5}</a:tableStyleId>
              </a:tblPr>
              <a:tblGrid>
                <a:gridCol w="2628900">
                  <a:extLst>
                    <a:ext uri="{9D8B030D-6E8A-4147-A177-3AD203B41FA5}">
                      <a16:colId xmlns:a16="http://schemas.microsoft.com/office/drawing/2014/main" val="923927413"/>
                    </a:ext>
                  </a:extLst>
                </a:gridCol>
                <a:gridCol w="2628900">
                  <a:extLst>
                    <a:ext uri="{9D8B030D-6E8A-4147-A177-3AD203B41FA5}">
                      <a16:colId xmlns:a16="http://schemas.microsoft.com/office/drawing/2014/main" val="2236061479"/>
                    </a:ext>
                  </a:extLst>
                </a:gridCol>
                <a:gridCol w="2628900">
                  <a:extLst>
                    <a:ext uri="{9D8B030D-6E8A-4147-A177-3AD203B41FA5}">
                      <a16:colId xmlns:a16="http://schemas.microsoft.com/office/drawing/2014/main" val="4241240352"/>
                    </a:ext>
                  </a:extLst>
                </a:gridCol>
                <a:gridCol w="2628900">
                  <a:extLst>
                    <a:ext uri="{9D8B030D-6E8A-4147-A177-3AD203B41FA5}">
                      <a16:colId xmlns:a16="http://schemas.microsoft.com/office/drawing/2014/main" val="298532619"/>
                    </a:ext>
                  </a:extLst>
                </a:gridCol>
              </a:tblGrid>
              <a:tr h="624840">
                <a:tc>
                  <a:txBody>
                    <a:bodyPr/>
                    <a:lstStyle/>
                    <a:p>
                      <a:pPr algn="ctr">
                        <a:buNone/>
                      </a:pPr>
                      <a:r>
                        <a:rPr lang="vi-VN" b="1">
                          <a:effectLst/>
                        </a:rPr>
                        <a:t>Họ và tên</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vi-VN" b="1">
                          <a:effectLst/>
                        </a:rPr>
                        <a:t>Mã sinh viên</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vi-VN" b="1">
                          <a:effectLst/>
                        </a:rPr>
                        <a:t>Tên GitHub</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vi-VN" b="1">
                          <a:effectLst/>
                        </a:rPr>
                        <a:t>Đóng góp</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99558300"/>
                  </a:ext>
                </a:extLst>
              </a:tr>
              <a:tr h="624840">
                <a:tc>
                  <a:txBody>
                    <a:bodyPr/>
                    <a:lstStyle/>
                    <a:p>
                      <a:pPr algn="ctr">
                        <a:buNone/>
                      </a:pPr>
                      <a:r>
                        <a:rPr lang="vi-VN">
                          <a:effectLst/>
                        </a:rPr>
                        <a:t>Cao Hải An</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vi-VN">
                          <a:effectLst/>
                        </a:rPr>
                        <a:t>23001818</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vi-VN">
                          <a:effectLst/>
                        </a:rPr>
                        <a:t>HaianCao</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vi-VN">
                          <a:effectLst/>
                        </a:rPr>
                        <a:t>Xây dựng pipeline chatbot</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04841569"/>
                  </a:ext>
                </a:extLst>
              </a:tr>
              <a:tr h="624840">
                <a:tc>
                  <a:txBody>
                    <a:bodyPr/>
                    <a:lstStyle/>
                    <a:p>
                      <a:pPr algn="ctr">
                        <a:buNone/>
                      </a:pPr>
                      <a:r>
                        <a:rPr lang="vi-VN">
                          <a:effectLst/>
                        </a:rPr>
                        <a:t>Đặng Thế Anh</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vi-VN">
                          <a:effectLst/>
                        </a:rPr>
                        <a:t>23001821</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vi-VN">
                          <a:effectLst/>
                        </a:rPr>
                        <a:t>DangTAnh</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vi-VN">
                          <a:effectLst/>
                        </a:rPr>
                        <a:t>Thu thập dữ liệu</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75957940"/>
                  </a:ext>
                </a:extLst>
              </a:tr>
              <a:tr h="624840">
                <a:tc>
                  <a:txBody>
                    <a:bodyPr/>
                    <a:lstStyle/>
                    <a:p>
                      <a:pPr algn="ctr">
                        <a:buNone/>
                      </a:pPr>
                      <a:r>
                        <a:rPr lang="vi-VN">
                          <a:effectLst/>
                        </a:rPr>
                        <a:t>Phạm Minh Cương</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vi-VN">
                          <a:effectLst/>
                        </a:rPr>
                        <a:t>23001840</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vi-VN">
                          <a:effectLst/>
                        </a:rPr>
                        <a:t>mcnb2005</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vi-VN">
                          <a:effectLst/>
                        </a:rPr>
                        <a:t>Phát triển giao diện web</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20875906"/>
                  </a:ext>
                </a:extLst>
              </a:tr>
              <a:tr h="624840">
                <a:tc>
                  <a:txBody>
                    <a:bodyPr/>
                    <a:lstStyle/>
                    <a:p>
                      <a:pPr algn="ctr">
                        <a:buNone/>
                      </a:pPr>
                      <a:r>
                        <a:rPr lang="vi-VN">
                          <a:effectLst/>
                        </a:rPr>
                        <a:t>Đỗ Minh Đức</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vi-VN">
                          <a:effectLst/>
                        </a:rPr>
                        <a:t>23001864</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vi-VN">
                          <a:effectLst/>
                        </a:rPr>
                        <a:t>minhhhduc</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vi-VN">
                          <a:effectLst/>
                        </a:rPr>
                        <a:t>Xây dựng module truy xuất dữ liệu</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8984594"/>
                  </a:ext>
                </a:extLst>
              </a:tr>
              <a:tr h="624840">
                <a:tc>
                  <a:txBody>
                    <a:bodyPr/>
                    <a:lstStyle/>
                    <a:p>
                      <a:pPr algn="ctr">
                        <a:buNone/>
                      </a:pPr>
                      <a:r>
                        <a:rPr lang="vi-VN">
                          <a:effectLst/>
                        </a:rPr>
                        <a:t>Phạm Nhật Quang</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vi-VN">
                          <a:effectLst/>
                        </a:rPr>
                        <a:t>23001920</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vi-VN">
                          <a:effectLst/>
                        </a:rPr>
                        <a:t>NhatquangPham</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vi-VN">
                          <a:effectLst/>
                        </a:rPr>
                        <a:t>Tiền xử lý dữ liệu</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44997368"/>
                  </a:ext>
                </a:extLst>
              </a:tr>
            </a:tbl>
          </a:graphicData>
        </a:graphic>
      </p:graphicFrame>
    </p:spTree>
    <p:extLst>
      <p:ext uri="{BB962C8B-B14F-4D97-AF65-F5344CB8AC3E}">
        <p14:creationId xmlns:p14="http://schemas.microsoft.com/office/powerpoint/2010/main" val="158828092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678E567-B70B-0E11-1C02-89E4AB15CA90}"/>
              </a:ext>
            </a:extLst>
          </p:cNvPr>
          <p:cNvSpPr>
            <a:spLocks noGrp="1"/>
          </p:cNvSpPr>
          <p:nvPr>
            <p:ph type="title"/>
          </p:nvPr>
        </p:nvSpPr>
        <p:spPr/>
        <p:txBody>
          <a:bodyPr>
            <a:normAutofit/>
          </a:bodyPr>
          <a:lstStyle/>
          <a:p>
            <a:r>
              <a:rPr lang="vi-VN"/>
              <a:t>Nội dung</a:t>
            </a:r>
          </a:p>
        </p:txBody>
      </p:sp>
      <p:sp>
        <p:nvSpPr>
          <p:cNvPr id="5" name="Content Placeholder 4">
            <a:extLst>
              <a:ext uri="{FF2B5EF4-FFF2-40B4-BE49-F238E27FC236}">
                <a16:creationId xmlns:a16="http://schemas.microsoft.com/office/drawing/2014/main" id="{C8082702-813A-0A26-4DDD-C4AF5AFBB6A0}"/>
              </a:ext>
            </a:extLst>
          </p:cNvPr>
          <p:cNvSpPr>
            <a:spLocks noGrp="1"/>
          </p:cNvSpPr>
          <p:nvPr>
            <p:ph idx="1"/>
          </p:nvPr>
        </p:nvSpPr>
        <p:spPr/>
        <p:txBody>
          <a:bodyPr/>
          <a:lstStyle/>
          <a:p>
            <a:pPr marL="571500" indent="-571500">
              <a:buFont typeface="+mj-lt"/>
              <a:buAutoNum type="romanUcPeriod"/>
            </a:pPr>
            <a:r>
              <a:rPr lang="vi-VN"/>
              <a:t>Giới thiệu bài toán</a:t>
            </a:r>
          </a:p>
          <a:p>
            <a:pPr marL="571500" indent="-571500">
              <a:buFont typeface="+mj-lt"/>
              <a:buAutoNum type="romanUcPeriod"/>
            </a:pPr>
            <a:r>
              <a:rPr lang="vi-VN"/>
              <a:t>Tổng quan dự án</a:t>
            </a:r>
          </a:p>
          <a:p>
            <a:pPr marL="571500" indent="-571500">
              <a:buFont typeface="+mj-lt"/>
              <a:buAutoNum type="romanUcPeriod"/>
            </a:pPr>
            <a:r>
              <a:rPr lang="vi-VN"/>
              <a:t>Xử lý dữ liệu</a:t>
            </a:r>
          </a:p>
          <a:p>
            <a:pPr marL="571500" indent="-571500">
              <a:buFont typeface="+mj-lt"/>
              <a:buAutoNum type="romanUcPeriod"/>
            </a:pPr>
            <a:r>
              <a:rPr lang="vi-VN"/>
              <a:t>Hệ thống chatbot</a:t>
            </a:r>
          </a:p>
          <a:p>
            <a:pPr marL="571500" indent="-571500">
              <a:buFont typeface="+mj-lt"/>
              <a:buAutoNum type="romanUcPeriod"/>
            </a:pPr>
            <a:r>
              <a:rPr lang="vi-VN"/>
              <a:t>Kết quả và đánh giá</a:t>
            </a:r>
          </a:p>
          <a:p>
            <a:pPr marL="571500" indent="-571500">
              <a:buFont typeface="+mj-lt"/>
              <a:buAutoNum type="romanUcPeriod"/>
            </a:pPr>
            <a:r>
              <a:rPr lang="vi-VN"/>
              <a:t>Demo chatbot</a:t>
            </a:r>
          </a:p>
        </p:txBody>
      </p:sp>
    </p:spTree>
    <p:extLst>
      <p:ext uri="{BB962C8B-B14F-4D97-AF65-F5344CB8AC3E}">
        <p14:creationId xmlns:p14="http://schemas.microsoft.com/office/powerpoint/2010/main" val="276134950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5">
                                            <p:txEl>
                                              <p:pRg st="1" end="1"/>
                                            </p:txEl>
                                          </p:spTgt>
                                        </p:tgtEl>
                                        <p:attrNameLst>
                                          <p:attrName>style.visibility</p:attrName>
                                        </p:attrNameLst>
                                      </p:cBhvr>
                                      <p:to>
                                        <p:strVal val="visible"/>
                                      </p:to>
                                    </p:set>
                                    <p:animEffect transition="in" filter="fade">
                                      <p:cBhvr>
                                        <p:cTn id="10" dur="500"/>
                                        <p:tgtEl>
                                          <p:spTgt spid="5">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animEffect transition="in" filter="fade">
                                      <p:cBhvr>
                                        <p:cTn id="13" dur="500"/>
                                        <p:tgtEl>
                                          <p:spTgt spid="5">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fade">
                                      <p:cBhvr>
                                        <p:cTn id="16" dur="500"/>
                                        <p:tgtEl>
                                          <p:spTgt spid="5">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5">
                                            <p:txEl>
                                              <p:pRg st="4" end="4"/>
                                            </p:txEl>
                                          </p:spTgt>
                                        </p:tgtEl>
                                        <p:attrNameLst>
                                          <p:attrName>style.visibility</p:attrName>
                                        </p:attrNameLst>
                                      </p:cBhvr>
                                      <p:to>
                                        <p:strVal val="visible"/>
                                      </p:to>
                                    </p:set>
                                    <p:animEffect transition="in" filter="fade">
                                      <p:cBhvr>
                                        <p:cTn id="19" dur="500"/>
                                        <p:tgtEl>
                                          <p:spTgt spid="5">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5">
                                            <p:txEl>
                                              <p:pRg st="5" end="5"/>
                                            </p:txEl>
                                          </p:spTgt>
                                        </p:tgtEl>
                                        <p:attrNameLst>
                                          <p:attrName>style.visibility</p:attrName>
                                        </p:attrNameLst>
                                      </p:cBhvr>
                                      <p:to>
                                        <p:strVal val="visible"/>
                                      </p:to>
                                    </p:set>
                                    <p:animEffect transition="in" filter="fade">
                                      <p:cBhvr>
                                        <p:cTn id="22" dur="500"/>
                                        <p:tgtEl>
                                          <p:spTgt spid="5">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776AF57-F788-56C9-0B67-723CFEE864DF}"/>
              </a:ext>
            </a:extLst>
          </p:cNvPr>
          <p:cNvSpPr>
            <a:spLocks noGrp="1"/>
          </p:cNvSpPr>
          <p:nvPr>
            <p:ph type="title"/>
          </p:nvPr>
        </p:nvSpPr>
        <p:spPr/>
        <p:txBody>
          <a:bodyPr/>
          <a:lstStyle/>
          <a:p>
            <a:r>
              <a:rPr lang="vi-VN"/>
              <a:t>I. Giới thiệu bài toán</a:t>
            </a:r>
          </a:p>
        </p:txBody>
      </p:sp>
      <p:sp>
        <p:nvSpPr>
          <p:cNvPr id="5" name="Text Placeholder 4">
            <a:extLst>
              <a:ext uri="{FF2B5EF4-FFF2-40B4-BE49-F238E27FC236}">
                <a16:creationId xmlns:a16="http://schemas.microsoft.com/office/drawing/2014/main" id="{BC145286-C8F2-6C67-B93A-8FA1D37DCBD1}"/>
              </a:ext>
            </a:extLst>
          </p:cNvPr>
          <p:cNvSpPr>
            <a:spLocks noGrp="1"/>
          </p:cNvSpPr>
          <p:nvPr>
            <p:ph type="body" idx="1"/>
          </p:nvPr>
        </p:nvSpPr>
        <p:spPr/>
        <p:txBody>
          <a:bodyPr/>
          <a:lstStyle/>
          <a:p>
            <a:endParaRPr lang="vi-VN"/>
          </a:p>
        </p:txBody>
      </p:sp>
    </p:spTree>
    <p:extLst>
      <p:ext uri="{BB962C8B-B14F-4D97-AF65-F5344CB8AC3E}">
        <p14:creationId xmlns:p14="http://schemas.microsoft.com/office/powerpoint/2010/main" val="222097017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B3AB754-2DB6-DA97-3832-C8A2D61F8EFC}"/>
              </a:ext>
            </a:extLst>
          </p:cNvPr>
          <p:cNvSpPr>
            <a:spLocks noGrp="1"/>
          </p:cNvSpPr>
          <p:nvPr>
            <p:ph type="title"/>
          </p:nvPr>
        </p:nvSpPr>
        <p:spPr/>
        <p:txBody>
          <a:bodyPr>
            <a:normAutofit/>
          </a:bodyPr>
          <a:lstStyle/>
          <a:p>
            <a:r>
              <a:rPr lang="vi-VN"/>
              <a:t>I. Giới thiệu bài toán</a:t>
            </a:r>
          </a:p>
        </p:txBody>
      </p:sp>
      <p:sp>
        <p:nvSpPr>
          <p:cNvPr id="5" name="Content Placeholder 4">
            <a:extLst>
              <a:ext uri="{FF2B5EF4-FFF2-40B4-BE49-F238E27FC236}">
                <a16:creationId xmlns:a16="http://schemas.microsoft.com/office/drawing/2014/main" id="{9314A38F-11BF-DFC1-6B22-808F8FF347B9}"/>
              </a:ext>
            </a:extLst>
          </p:cNvPr>
          <p:cNvSpPr>
            <a:spLocks noGrp="1"/>
          </p:cNvSpPr>
          <p:nvPr>
            <p:ph idx="1"/>
          </p:nvPr>
        </p:nvSpPr>
        <p:spPr/>
        <p:txBody>
          <a:bodyPr/>
          <a:lstStyle/>
          <a:p>
            <a:r>
              <a:rPr lang="vi-VN" b="1"/>
              <a:t>Bối cảnh</a:t>
            </a:r>
            <a:r>
              <a:rPr lang="vi-VN"/>
              <a:t>: Ngày nay, người dùng ngày càng có xu hướng tìm kiếm giải pháp nhanh, chính xác và mang tính cá nhân hóa. Trong đó việc lựa chọn món ăn và tìm kiếm công thức nấu nướng là những nhu cầu phổ biến.</a:t>
            </a:r>
          </a:p>
          <a:p>
            <a:r>
              <a:rPr lang="vi-VN" b="1"/>
              <a:t>Thách thức</a:t>
            </a:r>
            <a:r>
              <a:rPr lang="vi-VN"/>
              <a:t>:</a:t>
            </a:r>
          </a:p>
          <a:p>
            <a:pPr lvl="1"/>
            <a:r>
              <a:rPr lang="vi-VN"/>
              <a:t>Dữ liệu bị phân tán</a:t>
            </a:r>
          </a:p>
          <a:p>
            <a:pPr lvl="1"/>
            <a:r>
              <a:rPr lang="vi-VN"/>
              <a:t>Chất lượng không đồng đều</a:t>
            </a:r>
          </a:p>
          <a:p>
            <a:pPr lvl="1"/>
            <a:r>
              <a:rPr lang="vi-VN"/>
              <a:t>Khó phù hợp với điều kiện thực tế</a:t>
            </a:r>
          </a:p>
        </p:txBody>
      </p:sp>
    </p:spTree>
    <p:extLst>
      <p:ext uri="{BB962C8B-B14F-4D97-AF65-F5344CB8AC3E}">
        <p14:creationId xmlns:p14="http://schemas.microsoft.com/office/powerpoint/2010/main" val="215385424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animEffect transition="in" filter="fade">
                                      <p:cBhvr>
                                        <p:cTn id="11" dur="500"/>
                                        <p:tgtEl>
                                          <p:spTgt spid="5">
                                            <p:txEl>
                                              <p:pRg st="1" end="1"/>
                                            </p:txEl>
                                          </p:spTgt>
                                        </p:tgtEl>
                                      </p:cBhvr>
                                    </p:animEffect>
                                  </p:childTnLst>
                                </p:cTn>
                              </p:par>
                              <p:par>
                                <p:cTn id="12" presetID="10" presetClass="entr" presetSubtype="0" fill="hold" nodeType="withEffect">
                                  <p:stCondLst>
                                    <p:cond delay="0"/>
                                  </p:stCondLst>
                                  <p:childTnLst>
                                    <p:set>
                                      <p:cBhvr>
                                        <p:cTn id="13" dur="1" fill="hold">
                                          <p:stCondLst>
                                            <p:cond delay="0"/>
                                          </p:stCondLst>
                                        </p:cTn>
                                        <p:tgtEl>
                                          <p:spTgt spid="5">
                                            <p:txEl>
                                              <p:pRg st="2" end="2"/>
                                            </p:txEl>
                                          </p:spTgt>
                                        </p:tgtEl>
                                        <p:attrNameLst>
                                          <p:attrName>style.visibility</p:attrName>
                                        </p:attrNameLst>
                                      </p:cBhvr>
                                      <p:to>
                                        <p:strVal val="visible"/>
                                      </p:to>
                                    </p:set>
                                    <p:animEffect transition="in" filter="fade">
                                      <p:cBhvr>
                                        <p:cTn id="14" dur="500"/>
                                        <p:tgtEl>
                                          <p:spTgt spid="5">
                                            <p:txEl>
                                              <p:pRg st="2" end="2"/>
                                            </p:txEl>
                                          </p:spTgt>
                                        </p:tgtEl>
                                      </p:cBhvr>
                                    </p:animEffect>
                                  </p:childTnLst>
                                </p:cTn>
                              </p:par>
                              <p:par>
                                <p:cTn id="15" presetID="10" presetClass="entr" presetSubtype="0" fill="hold" nodeType="withEffect">
                                  <p:stCondLst>
                                    <p:cond delay="0"/>
                                  </p:stCondLst>
                                  <p:childTnLst>
                                    <p:set>
                                      <p:cBhvr>
                                        <p:cTn id="16" dur="1" fill="hold">
                                          <p:stCondLst>
                                            <p:cond delay="0"/>
                                          </p:stCondLst>
                                        </p:cTn>
                                        <p:tgtEl>
                                          <p:spTgt spid="5">
                                            <p:txEl>
                                              <p:pRg st="3" end="3"/>
                                            </p:txEl>
                                          </p:spTgt>
                                        </p:tgtEl>
                                        <p:attrNameLst>
                                          <p:attrName>style.visibility</p:attrName>
                                        </p:attrNameLst>
                                      </p:cBhvr>
                                      <p:to>
                                        <p:strVal val="visible"/>
                                      </p:to>
                                    </p:set>
                                    <p:animEffect transition="in" filter="fade">
                                      <p:cBhvr>
                                        <p:cTn id="17" dur="500"/>
                                        <p:tgtEl>
                                          <p:spTgt spid="5">
                                            <p:txEl>
                                              <p:pRg st="3" end="3"/>
                                            </p:txEl>
                                          </p:spTgt>
                                        </p:tgtEl>
                                      </p:cBhvr>
                                    </p:animEffect>
                                  </p:childTnLst>
                                </p:cTn>
                              </p:par>
                              <p:par>
                                <p:cTn id="18" presetID="10" presetClass="entr" presetSubtype="0" fill="hold" nodeType="withEffect">
                                  <p:stCondLst>
                                    <p:cond delay="0"/>
                                  </p:stCondLst>
                                  <p:childTnLst>
                                    <p:set>
                                      <p:cBhvr>
                                        <p:cTn id="19" dur="1" fill="hold">
                                          <p:stCondLst>
                                            <p:cond delay="0"/>
                                          </p:stCondLst>
                                        </p:cTn>
                                        <p:tgtEl>
                                          <p:spTgt spid="5">
                                            <p:txEl>
                                              <p:pRg st="4" end="4"/>
                                            </p:txEl>
                                          </p:spTgt>
                                        </p:tgtEl>
                                        <p:attrNameLst>
                                          <p:attrName>style.visibility</p:attrName>
                                        </p:attrNameLst>
                                      </p:cBhvr>
                                      <p:to>
                                        <p:strVal val="visible"/>
                                      </p:to>
                                    </p:set>
                                    <p:animEffect transition="in" filter="fade">
                                      <p:cBhvr>
                                        <p:cTn id="20" dur="500"/>
                                        <p:tgtEl>
                                          <p:spTgt spid="5">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57F606-93C7-EC7A-7AA5-2BC08CF014EB}"/>
              </a:ext>
            </a:extLst>
          </p:cNvPr>
          <p:cNvSpPr>
            <a:spLocks noGrp="1"/>
          </p:cNvSpPr>
          <p:nvPr>
            <p:ph type="title"/>
          </p:nvPr>
        </p:nvSpPr>
        <p:spPr/>
        <p:txBody>
          <a:bodyPr>
            <a:normAutofit/>
          </a:bodyPr>
          <a:lstStyle/>
          <a:p>
            <a:r>
              <a:rPr lang="vi-VN"/>
              <a:t>I. Giới thiệu bài toán</a:t>
            </a:r>
          </a:p>
        </p:txBody>
      </p:sp>
      <p:sp>
        <p:nvSpPr>
          <p:cNvPr id="3" name="Content Placeholder 2">
            <a:extLst>
              <a:ext uri="{FF2B5EF4-FFF2-40B4-BE49-F238E27FC236}">
                <a16:creationId xmlns:a16="http://schemas.microsoft.com/office/drawing/2014/main" id="{4D9D3425-9FDF-26CA-098D-DB7B87F192A5}"/>
              </a:ext>
            </a:extLst>
          </p:cNvPr>
          <p:cNvSpPr>
            <a:spLocks noGrp="1"/>
          </p:cNvSpPr>
          <p:nvPr>
            <p:ph idx="1"/>
          </p:nvPr>
        </p:nvSpPr>
        <p:spPr/>
        <p:txBody>
          <a:bodyPr/>
          <a:lstStyle/>
          <a:p>
            <a:r>
              <a:rPr lang="vi-VN" b="1"/>
              <a:t>Mục tiêu</a:t>
            </a:r>
            <a:r>
              <a:rPr lang="vi-VN"/>
              <a:t>: Xây dựng một hệ thống chatbot ẩm thực thông minh có khả năng cung cấp thông tin toàn diện.</a:t>
            </a:r>
          </a:p>
          <a:p>
            <a:r>
              <a:rPr lang="vi-VN" b="1"/>
              <a:t>Yêu cầu</a:t>
            </a:r>
            <a:r>
              <a:rPr lang="vi-VN"/>
              <a:t>: </a:t>
            </a:r>
          </a:p>
          <a:p>
            <a:pPr lvl="1"/>
            <a:r>
              <a:rPr lang="vi-VN"/>
              <a:t>Chính xác và nhanh chóng</a:t>
            </a:r>
          </a:p>
          <a:p>
            <a:pPr lvl="1"/>
            <a:r>
              <a:rPr lang="vi-VN"/>
              <a:t>Trả lời tự nhiên, mạch lạc và đáng tin cậy</a:t>
            </a:r>
          </a:p>
          <a:p>
            <a:pPr lvl="1"/>
            <a:r>
              <a:rPr lang="vi-VN"/>
              <a:t>Cá nhân hóa</a:t>
            </a:r>
          </a:p>
        </p:txBody>
      </p:sp>
    </p:spTree>
    <p:extLst>
      <p:ext uri="{BB962C8B-B14F-4D97-AF65-F5344CB8AC3E}">
        <p14:creationId xmlns:p14="http://schemas.microsoft.com/office/powerpoint/2010/main" val="370085097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fade">
                                      <p:cBhvr>
                                        <p:cTn id="11" dur="500"/>
                                        <p:tgtEl>
                                          <p:spTgt spid="3">
                                            <p:txEl>
                                              <p:pRg st="1" end="1"/>
                                            </p:txEl>
                                          </p:spTgt>
                                        </p:tgtEl>
                                      </p:cBhvr>
                                    </p:animEffect>
                                  </p:childTnLst>
                                </p:cTn>
                              </p:par>
                              <p:par>
                                <p:cTn id="12" presetID="10" presetClass="entr" presetSubtype="0" fill="hold" nodeType="withEffect">
                                  <p:stCondLst>
                                    <p:cond delay="0"/>
                                  </p:stCondLst>
                                  <p:childTnLst>
                                    <p:set>
                                      <p:cBhvr>
                                        <p:cTn id="13" dur="1" fill="hold">
                                          <p:stCondLst>
                                            <p:cond delay="0"/>
                                          </p:stCondLst>
                                        </p:cTn>
                                        <p:tgtEl>
                                          <p:spTgt spid="3">
                                            <p:txEl>
                                              <p:pRg st="2" end="2"/>
                                            </p:txEl>
                                          </p:spTgt>
                                        </p:tgtEl>
                                        <p:attrNameLst>
                                          <p:attrName>style.visibility</p:attrName>
                                        </p:attrNameLst>
                                      </p:cBhvr>
                                      <p:to>
                                        <p:strVal val="visible"/>
                                      </p:to>
                                    </p:set>
                                    <p:animEffect transition="in" filter="fade">
                                      <p:cBhvr>
                                        <p:cTn id="14" dur="500"/>
                                        <p:tgtEl>
                                          <p:spTgt spid="3">
                                            <p:txEl>
                                              <p:pRg st="2" end="2"/>
                                            </p:txEl>
                                          </p:spTgt>
                                        </p:tgtEl>
                                      </p:cBhvr>
                                    </p:animEffect>
                                  </p:childTnLst>
                                </p:cTn>
                              </p:par>
                              <p:par>
                                <p:cTn id="15" presetID="10"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500"/>
                                        <p:tgtEl>
                                          <p:spTgt spid="3">
                                            <p:txEl>
                                              <p:pRg st="3" end="3"/>
                                            </p:txEl>
                                          </p:spTgt>
                                        </p:tgtEl>
                                      </p:cBhvr>
                                    </p:animEffect>
                                  </p:childTnLst>
                                </p:cTn>
                              </p:par>
                              <p:par>
                                <p:cTn id="18" presetID="10" presetClass="entr" presetSubtype="0" fill="hold" nodeType="with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Effect transition="in" filter="fade">
                                      <p:cBhvr>
                                        <p:cTn id="20"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E50A3C9-3BFD-D010-6477-9115EA1F0CA1}"/>
              </a:ext>
            </a:extLst>
          </p:cNvPr>
          <p:cNvSpPr>
            <a:spLocks noGrp="1"/>
          </p:cNvSpPr>
          <p:nvPr>
            <p:ph type="title"/>
          </p:nvPr>
        </p:nvSpPr>
        <p:spPr/>
        <p:txBody>
          <a:bodyPr/>
          <a:lstStyle/>
          <a:p>
            <a:r>
              <a:rPr lang="vi-VN"/>
              <a:t>II. Tổng quan dự án</a:t>
            </a:r>
          </a:p>
        </p:txBody>
      </p:sp>
      <p:sp>
        <p:nvSpPr>
          <p:cNvPr id="5" name="Text Placeholder 4">
            <a:extLst>
              <a:ext uri="{FF2B5EF4-FFF2-40B4-BE49-F238E27FC236}">
                <a16:creationId xmlns:a16="http://schemas.microsoft.com/office/drawing/2014/main" id="{7B9C6940-7F49-2812-E283-0108708D771D}"/>
              </a:ext>
            </a:extLst>
          </p:cNvPr>
          <p:cNvSpPr>
            <a:spLocks noGrp="1"/>
          </p:cNvSpPr>
          <p:nvPr>
            <p:ph type="body" idx="1"/>
          </p:nvPr>
        </p:nvSpPr>
        <p:spPr/>
        <p:txBody>
          <a:bodyPr/>
          <a:lstStyle/>
          <a:p>
            <a:endParaRPr lang="vi-VN"/>
          </a:p>
        </p:txBody>
      </p:sp>
    </p:spTree>
    <p:extLst>
      <p:ext uri="{BB962C8B-B14F-4D97-AF65-F5344CB8AC3E}">
        <p14:creationId xmlns:p14="http://schemas.microsoft.com/office/powerpoint/2010/main" val="163885248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6A8FE9C-CAE1-B1A6-B45B-629AC957AE74}"/>
              </a:ext>
            </a:extLst>
          </p:cNvPr>
          <p:cNvSpPr>
            <a:spLocks noGrp="1"/>
          </p:cNvSpPr>
          <p:nvPr>
            <p:ph type="title"/>
          </p:nvPr>
        </p:nvSpPr>
        <p:spPr/>
        <p:txBody>
          <a:bodyPr>
            <a:normAutofit/>
          </a:bodyPr>
          <a:lstStyle/>
          <a:p>
            <a:r>
              <a:rPr lang="vi-VN"/>
              <a:t>II. Tổng quan dự án</a:t>
            </a:r>
          </a:p>
        </p:txBody>
      </p:sp>
      <p:sp>
        <p:nvSpPr>
          <p:cNvPr id="5" name="Content Placeholder 4">
            <a:extLst>
              <a:ext uri="{FF2B5EF4-FFF2-40B4-BE49-F238E27FC236}">
                <a16:creationId xmlns:a16="http://schemas.microsoft.com/office/drawing/2014/main" id="{9D951E52-0288-4859-0260-9D52DE4BEBE9}"/>
              </a:ext>
            </a:extLst>
          </p:cNvPr>
          <p:cNvSpPr>
            <a:spLocks noGrp="1"/>
          </p:cNvSpPr>
          <p:nvPr>
            <p:ph idx="1"/>
          </p:nvPr>
        </p:nvSpPr>
        <p:spPr/>
        <p:txBody>
          <a:bodyPr/>
          <a:lstStyle/>
          <a:p>
            <a:r>
              <a:rPr lang="vi-VN"/>
              <a:t>Dự án chatbot ẩm thực được xây dựng dựa trên sự kết hợp giữa:</a:t>
            </a:r>
          </a:p>
          <a:p>
            <a:pPr lvl="1"/>
            <a:r>
              <a:rPr lang="vi-VN"/>
              <a:t>­</a:t>
            </a:r>
            <a:r>
              <a:rPr lang="vi-VN">
                <a:solidFill>
                  <a:schemeClr val="accent2">
                    <a:lumMod val="75000"/>
                  </a:schemeClr>
                </a:solidFill>
              </a:rPr>
              <a:t>Mô hình ngôn ngữ lớn </a:t>
            </a:r>
            <a:r>
              <a:rPr lang="vi-VN"/>
              <a:t>(</a:t>
            </a:r>
            <a:r>
              <a:rPr lang="vi-VN" i="1">
                <a:solidFill>
                  <a:schemeClr val="accent2">
                    <a:lumMod val="75000"/>
                  </a:schemeClr>
                </a:solidFill>
              </a:rPr>
              <a:t>Large Language Model – LLM</a:t>
            </a:r>
            <a:r>
              <a:rPr lang="vi-VN"/>
              <a:t>)</a:t>
            </a:r>
          </a:p>
          <a:p>
            <a:pPr lvl="1"/>
            <a:r>
              <a:rPr lang="vi-VN"/>
              <a:t>Kiến trúc </a:t>
            </a:r>
            <a:r>
              <a:rPr lang="vi-VN">
                <a:solidFill>
                  <a:schemeClr val="tx2">
                    <a:lumMod val="75000"/>
                    <a:lumOff val="25000"/>
                  </a:schemeClr>
                </a:solidFill>
              </a:rPr>
              <a:t>Retrieval-Augmented Generation </a:t>
            </a:r>
            <a:r>
              <a:rPr lang="vi-VN"/>
              <a:t>(</a:t>
            </a:r>
            <a:r>
              <a:rPr lang="vi-VN" i="1">
                <a:solidFill>
                  <a:schemeClr val="tx2">
                    <a:lumMod val="75000"/>
                    <a:lumOff val="25000"/>
                  </a:schemeClr>
                </a:solidFill>
              </a:rPr>
              <a:t>RAG</a:t>
            </a:r>
            <a:r>
              <a:rPr lang="vi-VN"/>
              <a:t>)</a:t>
            </a:r>
          </a:p>
          <a:p>
            <a:pPr lvl="1"/>
            <a:r>
              <a:rPr lang="vi-VN"/>
              <a:t>­</a:t>
            </a:r>
            <a:r>
              <a:rPr lang="vi-VN">
                <a:solidFill>
                  <a:schemeClr val="accent6">
                    <a:lumMod val="75000"/>
                  </a:schemeClr>
                </a:solidFill>
              </a:rPr>
              <a:t>Cơ sở dữ liệu vector</a:t>
            </a:r>
          </a:p>
          <a:p>
            <a:pPr>
              <a:buFont typeface="Arial" panose="020B0604020202020204" pitchFamily="34" charset="0"/>
              <a:buChar char="→"/>
            </a:pPr>
            <a:r>
              <a:rPr lang="vi-VN"/>
              <a:t>Khắc phục hạn chế về tính cập nhật của mô hình ngôn ngữ đơn thuần, đồng thời duy trì chất lượng ngôn ngữ tự nhiên và khả năng gợi ý chính xác theo bối cảnh.</a:t>
            </a:r>
          </a:p>
        </p:txBody>
      </p:sp>
    </p:spTree>
    <p:extLst>
      <p:ext uri="{BB962C8B-B14F-4D97-AF65-F5344CB8AC3E}">
        <p14:creationId xmlns:p14="http://schemas.microsoft.com/office/powerpoint/2010/main" val="158185972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5">
                                            <p:txEl>
                                              <p:pRg st="1" end="1"/>
                                            </p:txEl>
                                          </p:spTgt>
                                        </p:tgtEl>
                                        <p:attrNameLst>
                                          <p:attrName>style.visibility</p:attrName>
                                        </p:attrNameLst>
                                      </p:cBhvr>
                                      <p:to>
                                        <p:strVal val="visible"/>
                                      </p:to>
                                    </p:set>
                                    <p:animEffect transition="in" filter="fade">
                                      <p:cBhvr>
                                        <p:cTn id="10" dur="500"/>
                                        <p:tgtEl>
                                          <p:spTgt spid="5">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animEffect transition="in" filter="fade">
                                      <p:cBhvr>
                                        <p:cTn id="13" dur="500"/>
                                        <p:tgtEl>
                                          <p:spTgt spid="5">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fade">
                                      <p:cBhvr>
                                        <p:cTn id="16" dur="500"/>
                                        <p:tgtEl>
                                          <p:spTgt spid="5">
                                            <p:txEl>
                                              <p:pRg st="3" end="3"/>
                                            </p:txEl>
                                          </p:spTgt>
                                        </p:tgtEl>
                                      </p:cBhvr>
                                    </p:animEffect>
                                  </p:childTnLst>
                                </p:cTn>
                              </p:par>
                            </p:childTnLst>
                          </p:cTn>
                        </p:par>
                        <p:par>
                          <p:cTn id="17" fill="hold">
                            <p:stCondLst>
                              <p:cond delay="500"/>
                            </p:stCondLst>
                            <p:childTnLst>
                              <p:par>
                                <p:cTn id="18" presetID="10" presetClass="entr" presetSubtype="0" fill="hold" nodeType="afterEffect">
                                  <p:stCondLst>
                                    <p:cond delay="0"/>
                                  </p:stCondLst>
                                  <p:childTnLst>
                                    <p:set>
                                      <p:cBhvr>
                                        <p:cTn id="19" dur="1" fill="hold">
                                          <p:stCondLst>
                                            <p:cond delay="0"/>
                                          </p:stCondLst>
                                        </p:cTn>
                                        <p:tgtEl>
                                          <p:spTgt spid="5">
                                            <p:txEl>
                                              <p:pRg st="4" end="4"/>
                                            </p:txEl>
                                          </p:spTgt>
                                        </p:tgtEl>
                                        <p:attrNameLst>
                                          <p:attrName>style.visibility</p:attrName>
                                        </p:attrNameLst>
                                      </p:cBhvr>
                                      <p:to>
                                        <p:strVal val="visible"/>
                                      </p:to>
                                    </p:set>
                                    <p:animEffect transition="in" filter="fade">
                                      <p:cBhvr>
                                        <p:cTn id="20" dur="500"/>
                                        <p:tgtEl>
                                          <p:spTgt spid="5">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CE4C86-62CB-39B4-A02E-BB60E120F45E}"/>
              </a:ext>
            </a:extLst>
          </p:cNvPr>
          <p:cNvSpPr>
            <a:spLocks noGrp="1"/>
          </p:cNvSpPr>
          <p:nvPr>
            <p:ph type="title"/>
          </p:nvPr>
        </p:nvSpPr>
        <p:spPr/>
        <p:txBody>
          <a:bodyPr>
            <a:normAutofit/>
          </a:bodyPr>
          <a:lstStyle/>
          <a:p>
            <a:r>
              <a:rPr lang="vi-VN"/>
              <a:t>II. Tổng quan </a:t>
            </a:r>
          </a:p>
        </p:txBody>
      </p:sp>
      <p:sp>
        <p:nvSpPr>
          <p:cNvPr id="3" name="Content Placeholder 2">
            <a:extLst>
              <a:ext uri="{FF2B5EF4-FFF2-40B4-BE49-F238E27FC236}">
                <a16:creationId xmlns:a16="http://schemas.microsoft.com/office/drawing/2014/main" id="{79FB7FE2-068B-73CF-B35A-C475FF79C662}"/>
              </a:ext>
            </a:extLst>
          </p:cNvPr>
          <p:cNvSpPr>
            <a:spLocks noGrp="1"/>
          </p:cNvSpPr>
          <p:nvPr>
            <p:ph idx="1"/>
          </p:nvPr>
        </p:nvSpPr>
        <p:spPr/>
        <p:txBody>
          <a:bodyPr/>
          <a:lstStyle/>
          <a:p>
            <a:r>
              <a:rPr lang="vi-VN" b="1"/>
              <a:t>Quy trình xử lý dữ liệu</a:t>
            </a:r>
            <a:r>
              <a:rPr lang="vi-VN"/>
              <a:t>:</a:t>
            </a:r>
          </a:p>
          <a:p>
            <a:pPr marL="914400" lvl="1" indent="-457200">
              <a:buFont typeface="+mj-lt"/>
              <a:buAutoNum type="arabicPeriod"/>
            </a:pPr>
            <a:r>
              <a:rPr lang="vi-VN"/>
              <a:t>Thu thập (sử dụng crawler)</a:t>
            </a:r>
          </a:p>
          <a:p>
            <a:pPr marL="914400" lvl="1" indent="-457200">
              <a:buFont typeface="+mj-lt"/>
              <a:buAutoNum type="arabicPeriod"/>
            </a:pPr>
            <a:r>
              <a:rPr lang="vi-VN"/>
              <a:t>Tiền xử lý</a:t>
            </a:r>
          </a:p>
          <a:p>
            <a:pPr marL="914400" lvl="1" indent="-457200">
              <a:buFont typeface="+mj-lt"/>
              <a:buAutoNum type="arabicPeriod"/>
            </a:pPr>
            <a:r>
              <a:rPr lang="vi-VN"/>
              <a:t>Nhúng và thêm vào cơ sở dữ liệu </a:t>
            </a:r>
            <a:r>
              <a:rPr lang="vi-VN" b="1">
                <a:solidFill>
                  <a:schemeClr val="accent6">
                    <a:lumMod val="75000"/>
                  </a:schemeClr>
                </a:solidFill>
              </a:rPr>
              <a:t>ChromaDB</a:t>
            </a:r>
          </a:p>
          <a:p>
            <a:r>
              <a:rPr lang="vi-VN" b="1"/>
              <a:t>Luồng phục vụ</a:t>
            </a:r>
            <a:r>
              <a:rPr lang="vi-VN"/>
              <a:t>: </a:t>
            </a:r>
          </a:p>
          <a:p>
            <a:pPr marL="457200" lvl="1" indent="0">
              <a:buNone/>
            </a:pPr>
            <a:r>
              <a:rPr lang="vi-VN"/>
              <a:t>Người dùng</a:t>
            </a:r>
          </a:p>
          <a:p>
            <a:pPr lvl="1">
              <a:buFont typeface="Arial" panose="020B0604020202020204" pitchFamily="34" charset="0"/>
              <a:buChar char="→"/>
            </a:pPr>
            <a:r>
              <a:rPr lang="vi-VN"/>
              <a:t>Web UI / API</a:t>
            </a:r>
          </a:p>
          <a:p>
            <a:pPr lvl="1">
              <a:buFont typeface="Arial" panose="020B0604020202020204" pitchFamily="34" charset="0"/>
              <a:buChar char="→"/>
            </a:pPr>
            <a:r>
              <a:rPr lang="vi-VN"/>
              <a:t>Chatbot</a:t>
            </a:r>
          </a:p>
          <a:p>
            <a:pPr lvl="1">
              <a:buFont typeface="Arial" panose="020B0604020202020204" pitchFamily="34" charset="0"/>
              <a:buChar char="→"/>
            </a:pPr>
            <a:r>
              <a:rPr lang="vi-VN"/>
              <a:t>­</a:t>
            </a:r>
            <a:r>
              <a:rPr lang="vi-VN" b="1">
                <a:solidFill>
                  <a:schemeClr val="accent6">
                    <a:lumMod val="75000"/>
                  </a:schemeClr>
                </a:solidFill>
              </a:rPr>
              <a:t>ChromaDBManager</a:t>
            </a:r>
            <a:r>
              <a:rPr lang="vi-VN"/>
              <a:t> và </a:t>
            </a:r>
            <a:r>
              <a:rPr lang="vi-VN" b="1">
                <a:solidFill>
                  <a:schemeClr val="accent2">
                    <a:lumMod val="75000"/>
                  </a:schemeClr>
                </a:solidFill>
              </a:rPr>
              <a:t>GeminiClient</a:t>
            </a:r>
          </a:p>
        </p:txBody>
      </p:sp>
    </p:spTree>
    <p:extLst>
      <p:ext uri="{BB962C8B-B14F-4D97-AF65-F5344CB8AC3E}">
        <p14:creationId xmlns:p14="http://schemas.microsoft.com/office/powerpoint/2010/main" val="383688256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childTnLst>
                          </p:cTn>
                        </p:par>
                        <p:par>
                          <p:cTn id="17" fill="hold">
                            <p:stCondLst>
                              <p:cond delay="500"/>
                            </p:stCondLst>
                            <p:childTnLst>
                              <p:par>
                                <p:cTn id="18" presetID="10" presetClass="entr" presetSubtype="0" fill="hold" nodeType="after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Effect transition="in" filter="fade">
                                      <p:cBhvr>
                                        <p:cTn id="20" dur="500"/>
                                        <p:tgtEl>
                                          <p:spTgt spid="3">
                                            <p:txEl>
                                              <p:pRg st="4" end="4"/>
                                            </p:txEl>
                                          </p:spTgt>
                                        </p:tgtEl>
                                      </p:cBhvr>
                                    </p:animEffect>
                                  </p:childTnLst>
                                </p:cTn>
                              </p:par>
                              <p:par>
                                <p:cTn id="21" presetID="10" presetClass="entr" presetSubtype="0" fill="hold" nodeType="with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animEffect transition="in" filter="fade">
                                      <p:cBhvr>
                                        <p:cTn id="23" dur="500"/>
                                        <p:tgtEl>
                                          <p:spTgt spid="3">
                                            <p:txEl>
                                              <p:pRg st="5" end="5"/>
                                            </p:txEl>
                                          </p:spTgt>
                                        </p:tgtEl>
                                      </p:cBhvr>
                                    </p:animEffect>
                                  </p:childTnLst>
                                </p:cTn>
                              </p:par>
                              <p:par>
                                <p:cTn id="24" presetID="10" presetClass="entr" presetSubtype="0" fill="hold" nodeType="with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animEffect transition="in" filter="fade">
                                      <p:cBhvr>
                                        <p:cTn id="26" dur="500"/>
                                        <p:tgtEl>
                                          <p:spTgt spid="3">
                                            <p:txEl>
                                              <p:pRg st="6" end="6"/>
                                            </p:txEl>
                                          </p:spTgt>
                                        </p:tgtEl>
                                      </p:cBhvr>
                                    </p:animEffect>
                                  </p:childTnLst>
                                </p:cTn>
                              </p:par>
                              <p:par>
                                <p:cTn id="27" presetID="10" presetClass="entr" presetSubtype="0" fill="hold" nodeType="with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animEffect transition="in" filter="fade">
                                      <p:cBhvr>
                                        <p:cTn id="29" dur="500"/>
                                        <p:tgtEl>
                                          <p:spTgt spid="3">
                                            <p:txEl>
                                              <p:pRg st="7" end="7"/>
                                            </p:txEl>
                                          </p:spTgt>
                                        </p:tgtEl>
                                      </p:cBhvr>
                                    </p:animEffect>
                                  </p:childTnLst>
                                </p:cTn>
                              </p:par>
                              <p:par>
                                <p:cTn id="30" presetID="10" presetClass="entr" presetSubtype="0" fill="hold" nodeType="withEffect">
                                  <p:stCondLst>
                                    <p:cond delay="0"/>
                                  </p:stCondLst>
                                  <p:childTnLst>
                                    <p:set>
                                      <p:cBhvr>
                                        <p:cTn id="31" dur="1" fill="hold">
                                          <p:stCondLst>
                                            <p:cond delay="0"/>
                                          </p:stCondLst>
                                        </p:cTn>
                                        <p:tgtEl>
                                          <p:spTgt spid="3">
                                            <p:txEl>
                                              <p:pRg st="8" end="8"/>
                                            </p:txEl>
                                          </p:spTgt>
                                        </p:tgtEl>
                                        <p:attrNameLst>
                                          <p:attrName>style.visibility</p:attrName>
                                        </p:attrNameLst>
                                      </p:cBhvr>
                                      <p:to>
                                        <p:strVal val="visible"/>
                                      </p:to>
                                    </p:set>
                                    <p:animEffect transition="in" filter="fade">
                                      <p:cBhvr>
                                        <p:cTn id="32"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6404B7C-752B-9D9B-0556-A4A9327EB234}"/>
              </a:ext>
            </a:extLst>
          </p:cNvPr>
          <p:cNvSpPr>
            <a:spLocks noGrp="1"/>
          </p:cNvSpPr>
          <p:nvPr>
            <p:ph type="title"/>
          </p:nvPr>
        </p:nvSpPr>
        <p:spPr/>
        <p:txBody>
          <a:bodyPr/>
          <a:lstStyle/>
          <a:p>
            <a:r>
              <a:rPr lang="vi-VN"/>
              <a:t>III. Xử lý dữ liệu</a:t>
            </a:r>
          </a:p>
        </p:txBody>
      </p:sp>
      <p:sp>
        <p:nvSpPr>
          <p:cNvPr id="5" name="Text Placeholder 4">
            <a:extLst>
              <a:ext uri="{FF2B5EF4-FFF2-40B4-BE49-F238E27FC236}">
                <a16:creationId xmlns:a16="http://schemas.microsoft.com/office/drawing/2014/main" id="{CC14FF5B-D4B0-2B83-9F05-3AC22BAD3118}"/>
              </a:ext>
            </a:extLst>
          </p:cNvPr>
          <p:cNvSpPr>
            <a:spLocks noGrp="1"/>
          </p:cNvSpPr>
          <p:nvPr>
            <p:ph type="body" idx="1"/>
          </p:nvPr>
        </p:nvSpPr>
        <p:spPr/>
        <p:txBody>
          <a:bodyPr/>
          <a:lstStyle/>
          <a:p>
            <a:endParaRPr lang="vi-VN"/>
          </a:p>
        </p:txBody>
      </p:sp>
    </p:spTree>
    <p:extLst>
      <p:ext uri="{BB962C8B-B14F-4D97-AF65-F5344CB8AC3E}">
        <p14:creationId xmlns:p14="http://schemas.microsoft.com/office/powerpoint/2010/main" val="265241910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AB34-4873-4C08-36A0-33779B06ECF5}"/>
              </a:ext>
            </a:extLst>
          </p:cNvPr>
          <p:cNvSpPr>
            <a:spLocks noGrp="1"/>
          </p:cNvSpPr>
          <p:nvPr>
            <p:ph type="title"/>
          </p:nvPr>
        </p:nvSpPr>
        <p:spPr/>
        <p:txBody>
          <a:bodyPr>
            <a:normAutofit/>
          </a:bodyPr>
          <a:lstStyle/>
          <a:p>
            <a:r>
              <a:rPr lang="vi-VN"/>
              <a:t>III. Xử lý dữ liệu</a:t>
            </a:r>
          </a:p>
        </p:txBody>
      </p:sp>
      <p:sp>
        <p:nvSpPr>
          <p:cNvPr id="3" name="Content Placeholder 2">
            <a:extLst>
              <a:ext uri="{FF2B5EF4-FFF2-40B4-BE49-F238E27FC236}">
                <a16:creationId xmlns:a16="http://schemas.microsoft.com/office/drawing/2014/main" id="{FCD086AB-2D44-0F24-5D87-BA040659E2F1}"/>
              </a:ext>
            </a:extLst>
          </p:cNvPr>
          <p:cNvSpPr>
            <a:spLocks noGrp="1"/>
          </p:cNvSpPr>
          <p:nvPr>
            <p:ph idx="1"/>
          </p:nvPr>
        </p:nvSpPr>
        <p:spPr/>
        <p:txBody>
          <a:bodyPr/>
          <a:lstStyle/>
          <a:p>
            <a:r>
              <a:rPr lang="vi-VN"/>
              <a:t>Dữ liệu được thu thập từ </a:t>
            </a:r>
            <a:r>
              <a:rPr lang="vi-VN" i="1">
                <a:hlinkClick r:id="rId2"/>
              </a:rPr>
              <a:t>therecipecritic.com</a:t>
            </a:r>
            <a:r>
              <a:rPr lang="vi-VN" i="1"/>
              <a:t> </a:t>
            </a:r>
            <a:r>
              <a:rPr lang="vi-VN"/>
              <a:t>sử dụng Selenium với driver Chrome.</a:t>
            </a:r>
          </a:p>
          <a:p>
            <a:r>
              <a:rPr lang="vi-VN"/>
              <a:t>Gồm 2 giai đoạn chính:</a:t>
            </a:r>
          </a:p>
          <a:p>
            <a:pPr marL="914400" lvl="1" indent="-457200">
              <a:buFont typeface="+mj-lt"/>
              <a:buAutoNum type="arabicPeriod"/>
            </a:pPr>
            <a:r>
              <a:rPr lang="vi-VN"/>
              <a:t>Thu thập đường dẫn danh mục</a:t>
            </a:r>
          </a:p>
          <a:p>
            <a:pPr marL="914400" lvl="1" indent="-457200">
              <a:buFont typeface="+mj-lt"/>
              <a:buAutoNum type="arabicPeriod"/>
            </a:pPr>
            <a:r>
              <a:rPr lang="vi-VN"/>
              <a:t>Thu thập đường dẫn chi tiết của từng công thức.</a:t>
            </a:r>
          </a:p>
        </p:txBody>
      </p:sp>
    </p:spTree>
    <p:extLst>
      <p:ext uri="{BB962C8B-B14F-4D97-AF65-F5344CB8AC3E}">
        <p14:creationId xmlns:p14="http://schemas.microsoft.com/office/powerpoint/2010/main" val="1032226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fade">
                                      <p:cBhvr>
                                        <p:cTn id="11" dur="500"/>
                                        <p:tgtEl>
                                          <p:spTgt spid="3">
                                            <p:txEl>
                                              <p:pRg st="1" end="1"/>
                                            </p:txEl>
                                          </p:spTgt>
                                        </p:tgtEl>
                                      </p:cBhvr>
                                    </p:animEffect>
                                  </p:childTnLst>
                                </p:cTn>
                              </p:par>
                              <p:par>
                                <p:cTn id="12" presetID="10" presetClass="entr" presetSubtype="0" fill="hold" nodeType="withEffect">
                                  <p:stCondLst>
                                    <p:cond delay="0"/>
                                  </p:stCondLst>
                                  <p:childTnLst>
                                    <p:set>
                                      <p:cBhvr>
                                        <p:cTn id="13" dur="1" fill="hold">
                                          <p:stCondLst>
                                            <p:cond delay="0"/>
                                          </p:stCondLst>
                                        </p:cTn>
                                        <p:tgtEl>
                                          <p:spTgt spid="3">
                                            <p:txEl>
                                              <p:pRg st="2" end="2"/>
                                            </p:txEl>
                                          </p:spTgt>
                                        </p:tgtEl>
                                        <p:attrNameLst>
                                          <p:attrName>style.visibility</p:attrName>
                                        </p:attrNameLst>
                                      </p:cBhvr>
                                      <p:to>
                                        <p:strVal val="visible"/>
                                      </p:to>
                                    </p:set>
                                    <p:animEffect transition="in" filter="fade">
                                      <p:cBhvr>
                                        <p:cTn id="14" dur="500"/>
                                        <p:tgtEl>
                                          <p:spTgt spid="3">
                                            <p:txEl>
                                              <p:pRg st="2" end="2"/>
                                            </p:txEl>
                                          </p:spTgt>
                                        </p:tgtEl>
                                      </p:cBhvr>
                                    </p:animEffect>
                                  </p:childTnLst>
                                </p:cTn>
                              </p:par>
                              <p:par>
                                <p:cTn id="15" presetID="10"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68ABCE-3EEE-1584-781F-CD52E84B0472}"/>
              </a:ext>
            </a:extLst>
          </p:cNvPr>
          <p:cNvSpPr>
            <a:spLocks noGrp="1"/>
          </p:cNvSpPr>
          <p:nvPr>
            <p:ph type="title"/>
          </p:nvPr>
        </p:nvSpPr>
        <p:spPr/>
        <p:txBody>
          <a:bodyPr>
            <a:normAutofit/>
          </a:bodyPr>
          <a:lstStyle/>
          <a:p>
            <a:r>
              <a:rPr lang="vi-VN"/>
              <a:t>III. Xử lý dữ liệu</a:t>
            </a:r>
          </a:p>
        </p:txBody>
      </p:sp>
      <p:sp>
        <p:nvSpPr>
          <p:cNvPr id="3" name="Content Placeholder 2">
            <a:extLst>
              <a:ext uri="{FF2B5EF4-FFF2-40B4-BE49-F238E27FC236}">
                <a16:creationId xmlns:a16="http://schemas.microsoft.com/office/drawing/2014/main" id="{25ED016C-BA11-7BB5-2214-D1DA0C39B87C}"/>
              </a:ext>
            </a:extLst>
          </p:cNvPr>
          <p:cNvSpPr>
            <a:spLocks noGrp="1"/>
          </p:cNvSpPr>
          <p:nvPr>
            <p:ph idx="1"/>
          </p:nvPr>
        </p:nvSpPr>
        <p:spPr/>
        <p:txBody>
          <a:bodyPr/>
          <a:lstStyle/>
          <a:p>
            <a:r>
              <a:rPr lang="vi-VN"/>
              <a:t>Các thông tin được thu thập bao gồm các trường:</a:t>
            </a:r>
          </a:p>
          <a:p>
            <a:pPr lvl="1"/>
            <a:r>
              <a:rPr lang="vi-VN"/>
              <a:t>Mô tả</a:t>
            </a:r>
          </a:p>
          <a:p>
            <a:pPr lvl="1"/>
            <a:r>
              <a:rPr lang="vi-VN"/>
              <a:t>Metadata (</a:t>
            </a:r>
            <a:r>
              <a:rPr lang="vi-VN" i="1"/>
              <a:t>Thời gian nấu, thời gian chuẩn bị, ...</a:t>
            </a:r>
            <a:r>
              <a:rPr lang="vi-VN"/>
              <a:t>)</a:t>
            </a:r>
          </a:p>
          <a:p>
            <a:pPr lvl="1"/>
            <a:r>
              <a:rPr lang="vi-VN"/>
              <a:t>Nguyên liệu</a:t>
            </a:r>
          </a:p>
          <a:p>
            <a:pPr lvl="1"/>
            <a:r>
              <a:rPr lang="vi-VN"/>
              <a:t>Các bước chế biến</a:t>
            </a:r>
          </a:p>
          <a:p>
            <a:pPr lvl="1"/>
            <a:r>
              <a:rPr lang="vi-VN"/>
              <a:t>Thông tin dinh dưỡng</a:t>
            </a:r>
          </a:p>
          <a:p>
            <a:pPr lvl="1"/>
            <a:r>
              <a:rPr lang="vi-VN"/>
              <a:t>Bình luận</a:t>
            </a:r>
          </a:p>
          <a:p>
            <a:endParaRPr lang="vi-VN"/>
          </a:p>
        </p:txBody>
      </p:sp>
    </p:spTree>
    <p:extLst>
      <p:ext uri="{BB962C8B-B14F-4D97-AF65-F5344CB8AC3E}">
        <p14:creationId xmlns:p14="http://schemas.microsoft.com/office/powerpoint/2010/main" val="264431453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fade">
                                      <p:cBhvr>
                                        <p:cTn id="19" dur="500"/>
                                        <p:tgtEl>
                                          <p:spTgt spid="3">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animEffect transition="in" filter="fade">
                                      <p:cBhvr>
                                        <p:cTn id="22" dur="500"/>
                                        <p:tgtEl>
                                          <p:spTgt spid="3">
                                            <p:txEl>
                                              <p:pRg st="5" end="5"/>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animEffect transition="in" filter="fade">
                                      <p:cBhvr>
                                        <p:cTn id="25"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363B8C-6A74-0ADD-3412-2DF709B64E08}"/>
              </a:ext>
            </a:extLst>
          </p:cNvPr>
          <p:cNvSpPr>
            <a:spLocks noGrp="1"/>
          </p:cNvSpPr>
          <p:nvPr>
            <p:ph type="title"/>
          </p:nvPr>
        </p:nvSpPr>
        <p:spPr/>
        <p:txBody>
          <a:bodyPr>
            <a:normAutofit/>
          </a:bodyPr>
          <a:lstStyle/>
          <a:p>
            <a:r>
              <a:rPr lang="vi-VN"/>
              <a:t>III. Xử lý dữ liệu</a:t>
            </a:r>
          </a:p>
        </p:txBody>
      </p:sp>
      <p:sp>
        <p:nvSpPr>
          <p:cNvPr id="3" name="Content Placeholder 2">
            <a:extLst>
              <a:ext uri="{FF2B5EF4-FFF2-40B4-BE49-F238E27FC236}">
                <a16:creationId xmlns:a16="http://schemas.microsoft.com/office/drawing/2014/main" id="{89E0701B-7B6E-B7D7-C771-E324A72E36CF}"/>
              </a:ext>
            </a:extLst>
          </p:cNvPr>
          <p:cNvSpPr>
            <a:spLocks noGrp="1"/>
          </p:cNvSpPr>
          <p:nvPr>
            <p:ph idx="1"/>
          </p:nvPr>
        </p:nvSpPr>
        <p:spPr/>
        <p:txBody>
          <a:bodyPr/>
          <a:lstStyle/>
          <a:p>
            <a:r>
              <a:rPr lang="vi-VN" b="1"/>
              <a:t>Tiền xử lý dữ liệu</a:t>
            </a:r>
            <a:r>
              <a:rPr lang="vi-VN"/>
              <a:t>:</a:t>
            </a:r>
          </a:p>
          <a:p>
            <a:pPr lvl="1"/>
            <a:r>
              <a:rPr lang="vi-VN"/>
              <a:t>Làm sạch dữ liệu:</a:t>
            </a:r>
          </a:p>
          <a:p>
            <a:pPr lvl="2"/>
            <a:r>
              <a:rPr lang="vi-VN"/>
              <a:t>Thay thế các ký tự đặc biệt (</a:t>
            </a:r>
            <a:r>
              <a:rPr lang="vi-VN" i="1"/>
              <a:t>ví dụ: ◦, ®, ©, ½, ...</a:t>
            </a:r>
            <a:r>
              <a:rPr lang="vi-VN"/>
              <a:t>)</a:t>
            </a:r>
          </a:p>
          <a:p>
            <a:pPr lvl="2"/>
            <a:r>
              <a:rPr lang="vi-VN"/>
              <a:t>Loại bỏ ký tự không hiển thị, emoji, khoảng trắng thừa</a:t>
            </a:r>
          </a:p>
          <a:p>
            <a:pPr lvl="2"/>
            <a:r>
              <a:rPr lang="vi-VN"/>
              <a:t>Chuẩn hóa khoảng trắng và xuống dòng, đảm bảo text liền mạch</a:t>
            </a:r>
          </a:p>
          <a:p>
            <a:pPr lvl="1"/>
            <a:r>
              <a:rPr lang="vi-VN"/>
              <a:t>Chuẩn hóa dữ liệu các trường</a:t>
            </a:r>
          </a:p>
          <a:p>
            <a:pPr lvl="1"/>
            <a:r>
              <a:rPr lang="vi-VN"/>
              <a:t>Gộp dữ liệu của các công thức vào một file định dạng .json</a:t>
            </a:r>
          </a:p>
        </p:txBody>
      </p:sp>
    </p:spTree>
    <p:extLst>
      <p:ext uri="{BB962C8B-B14F-4D97-AF65-F5344CB8AC3E}">
        <p14:creationId xmlns:p14="http://schemas.microsoft.com/office/powerpoint/2010/main" val="402713979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fade">
                                      <p:cBhvr>
                                        <p:cTn id="19" dur="500"/>
                                        <p:tgtEl>
                                          <p:spTgt spid="3">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animEffect transition="in" filter="fade">
                                      <p:cBhvr>
                                        <p:cTn id="22" dur="500"/>
                                        <p:tgtEl>
                                          <p:spTgt spid="3">
                                            <p:txEl>
                                              <p:pRg st="5" end="5"/>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animEffect transition="in" filter="fade">
                                      <p:cBhvr>
                                        <p:cTn id="25"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6615D-D8E3-65C8-0435-6AA91AD02904}"/>
              </a:ext>
            </a:extLst>
          </p:cNvPr>
          <p:cNvSpPr>
            <a:spLocks noGrp="1"/>
          </p:cNvSpPr>
          <p:nvPr>
            <p:ph type="title"/>
          </p:nvPr>
        </p:nvSpPr>
        <p:spPr/>
        <p:txBody>
          <a:bodyPr>
            <a:normAutofit/>
          </a:bodyPr>
          <a:lstStyle/>
          <a:p>
            <a:r>
              <a:rPr lang="vi-VN"/>
              <a:t>III. Xử lý dữ liệu</a:t>
            </a:r>
          </a:p>
        </p:txBody>
      </p:sp>
      <p:sp>
        <p:nvSpPr>
          <p:cNvPr id="3" name="Content Placeholder 2">
            <a:extLst>
              <a:ext uri="{FF2B5EF4-FFF2-40B4-BE49-F238E27FC236}">
                <a16:creationId xmlns:a16="http://schemas.microsoft.com/office/drawing/2014/main" id="{4D5C7EE5-90CA-F888-CE91-A77FED520459}"/>
              </a:ext>
            </a:extLst>
          </p:cNvPr>
          <p:cNvSpPr>
            <a:spLocks noGrp="1"/>
          </p:cNvSpPr>
          <p:nvPr>
            <p:ph idx="1"/>
          </p:nvPr>
        </p:nvSpPr>
        <p:spPr/>
        <p:txBody>
          <a:bodyPr/>
          <a:lstStyle/>
          <a:p>
            <a:r>
              <a:rPr lang="vi-VN" b="1"/>
              <a:t>­</a:t>
            </a:r>
            <a:r>
              <a:rPr lang="vi-VN" b="1">
                <a:solidFill>
                  <a:schemeClr val="accent6">
                    <a:lumMod val="75000"/>
                  </a:schemeClr>
                </a:solidFill>
              </a:rPr>
              <a:t>ChromaDB</a:t>
            </a:r>
            <a:r>
              <a:rPr lang="vi-VN"/>
              <a:t> là một cơ sở dữ liệu vector dùng để lưu trữ và truy vấn các vector embedding.</a:t>
            </a:r>
          </a:p>
          <a:p>
            <a:r>
              <a:rPr lang="vi-VN" b="1"/>
              <a:t>Mục tiêu</a:t>
            </a:r>
            <a:r>
              <a:rPr lang="vi-VN"/>
              <a:t>: Hỗ trợ tìm kiếm ngữ nghĩa (</a:t>
            </a:r>
            <a:r>
              <a:rPr lang="vi-VN" i="1"/>
              <a:t>semantic search</a:t>
            </a:r>
            <a:r>
              <a:rPr lang="vi-VN"/>
              <a:t>), truy xuất nhanh các đoạn văn bản có nội dung giống nhau/liên quan bằng các so sánh các embedding.</a:t>
            </a:r>
          </a:p>
          <a:p>
            <a:r>
              <a:rPr lang="vi-VN"/>
              <a:t>Dữ liệu sau tiền xử lý sẽ được nhúng và lưu vào cơ sở dữ liệu </a:t>
            </a:r>
            <a:r>
              <a:rPr lang="vi-VN" b="1">
                <a:solidFill>
                  <a:schemeClr val="accent6">
                    <a:lumMod val="75000"/>
                  </a:schemeClr>
                </a:solidFill>
              </a:rPr>
              <a:t>ChromaDB</a:t>
            </a:r>
            <a:r>
              <a:rPr lang="vi-VN"/>
              <a:t>.</a:t>
            </a:r>
          </a:p>
        </p:txBody>
      </p:sp>
    </p:spTree>
    <p:extLst>
      <p:ext uri="{BB962C8B-B14F-4D97-AF65-F5344CB8AC3E}">
        <p14:creationId xmlns:p14="http://schemas.microsoft.com/office/powerpoint/2010/main" val="102199585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fade">
                                      <p:cBhvr>
                                        <p:cTn id="11" dur="500"/>
                                        <p:tgtEl>
                                          <p:spTgt spid="3">
                                            <p:txEl>
                                              <p:pRg st="1" end="1"/>
                                            </p:txEl>
                                          </p:spTgt>
                                        </p:tgtEl>
                                      </p:cBhvr>
                                    </p:animEffect>
                                  </p:childTnLst>
                                </p:cTn>
                              </p:par>
                            </p:childTnLst>
                          </p:cTn>
                        </p:par>
                        <p:par>
                          <p:cTn id="12" fill="hold">
                            <p:stCondLst>
                              <p:cond delay="1000"/>
                            </p:stCondLst>
                            <p:childTnLst>
                              <p:par>
                                <p:cTn id="13" presetID="10" presetClass="entr" presetSubtype="0" fill="hold"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08AB6F-9ED9-16B2-5D6E-471AACEC3D29}"/>
              </a:ext>
            </a:extLst>
          </p:cNvPr>
          <p:cNvSpPr>
            <a:spLocks noGrp="1"/>
          </p:cNvSpPr>
          <p:nvPr>
            <p:ph type="title"/>
          </p:nvPr>
        </p:nvSpPr>
        <p:spPr/>
        <p:txBody>
          <a:bodyPr>
            <a:normAutofit/>
          </a:bodyPr>
          <a:lstStyle/>
          <a:p>
            <a:r>
              <a:rPr lang="vi-VN"/>
              <a:t>III. Xử lý dữ liệu</a:t>
            </a:r>
          </a:p>
        </p:txBody>
      </p:sp>
      <p:pic>
        <p:nvPicPr>
          <p:cNvPr id="7" name="Content Placeholder 6">
            <a:extLst>
              <a:ext uri="{FF2B5EF4-FFF2-40B4-BE49-F238E27FC236}">
                <a16:creationId xmlns:a16="http://schemas.microsoft.com/office/drawing/2014/main" id="{5A380B46-6628-6B8B-D69C-B8B83A13CDB7}"/>
              </a:ext>
            </a:extLst>
          </p:cNvPr>
          <p:cNvPicPr>
            <a:picLocks noGrp="1" noChangeAspect="1"/>
          </p:cNvPicPr>
          <p:nvPr>
            <p:ph idx="1"/>
          </p:nvPr>
        </p:nvPicPr>
        <p:blipFill>
          <a:blip r:embed="rId2"/>
          <a:stretch>
            <a:fillRect/>
          </a:stretch>
        </p:blipFill>
        <p:spPr>
          <a:xfrm>
            <a:off x="1680546" y="1690688"/>
            <a:ext cx="8830907" cy="4258269"/>
          </a:xfrm>
          <a:prstGeom prst="rect">
            <a:avLst/>
          </a:prstGeom>
        </p:spPr>
      </p:pic>
    </p:spTree>
    <p:extLst>
      <p:ext uri="{BB962C8B-B14F-4D97-AF65-F5344CB8AC3E}">
        <p14:creationId xmlns:p14="http://schemas.microsoft.com/office/powerpoint/2010/main" val="156377505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7D6D067-8603-11AA-EAB5-67570795D758}"/>
              </a:ext>
            </a:extLst>
          </p:cNvPr>
          <p:cNvSpPr>
            <a:spLocks noGrp="1"/>
          </p:cNvSpPr>
          <p:nvPr>
            <p:ph type="title"/>
          </p:nvPr>
        </p:nvSpPr>
        <p:spPr/>
        <p:txBody>
          <a:bodyPr/>
          <a:lstStyle/>
          <a:p>
            <a:r>
              <a:rPr lang="vi-VN"/>
              <a:t>IV. Hệ thống chatbot</a:t>
            </a:r>
          </a:p>
        </p:txBody>
      </p:sp>
      <p:sp>
        <p:nvSpPr>
          <p:cNvPr id="5" name="Text Placeholder 4">
            <a:extLst>
              <a:ext uri="{FF2B5EF4-FFF2-40B4-BE49-F238E27FC236}">
                <a16:creationId xmlns:a16="http://schemas.microsoft.com/office/drawing/2014/main" id="{79C1E8A1-5C45-7621-6459-97D0C1E58E1A}"/>
              </a:ext>
            </a:extLst>
          </p:cNvPr>
          <p:cNvSpPr>
            <a:spLocks noGrp="1"/>
          </p:cNvSpPr>
          <p:nvPr>
            <p:ph type="body" idx="1"/>
          </p:nvPr>
        </p:nvSpPr>
        <p:spPr/>
        <p:txBody>
          <a:bodyPr/>
          <a:lstStyle/>
          <a:p>
            <a:endParaRPr lang="vi-VN"/>
          </a:p>
        </p:txBody>
      </p:sp>
    </p:spTree>
    <p:extLst>
      <p:ext uri="{BB962C8B-B14F-4D97-AF65-F5344CB8AC3E}">
        <p14:creationId xmlns:p14="http://schemas.microsoft.com/office/powerpoint/2010/main" val="16799216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07F7EFD-D82F-B17F-34F7-935EE49CF110}"/>
              </a:ext>
            </a:extLst>
          </p:cNvPr>
          <p:cNvSpPr>
            <a:spLocks noGrp="1"/>
          </p:cNvSpPr>
          <p:nvPr>
            <p:ph type="title"/>
          </p:nvPr>
        </p:nvSpPr>
        <p:spPr/>
        <p:txBody>
          <a:bodyPr>
            <a:normAutofit/>
          </a:bodyPr>
          <a:lstStyle/>
          <a:p>
            <a:r>
              <a:rPr lang="vi-VN"/>
              <a:t>IV. Hệ thống chatbot</a:t>
            </a:r>
          </a:p>
        </p:txBody>
      </p:sp>
      <p:sp>
        <p:nvSpPr>
          <p:cNvPr id="5" name="Content Placeholder 4">
            <a:extLst>
              <a:ext uri="{FF2B5EF4-FFF2-40B4-BE49-F238E27FC236}">
                <a16:creationId xmlns:a16="http://schemas.microsoft.com/office/drawing/2014/main" id="{3BD622C6-9DFD-134F-2AAB-2A361FBE4AF5}"/>
              </a:ext>
            </a:extLst>
          </p:cNvPr>
          <p:cNvSpPr>
            <a:spLocks noGrp="1"/>
          </p:cNvSpPr>
          <p:nvPr>
            <p:ph idx="1"/>
          </p:nvPr>
        </p:nvSpPr>
        <p:spPr/>
        <p:txBody>
          <a:bodyPr/>
          <a:lstStyle/>
          <a:p>
            <a:r>
              <a:rPr lang="vi-VN"/>
              <a:t>­</a:t>
            </a:r>
            <a:r>
              <a:rPr lang="vi-VN" b="1">
                <a:solidFill>
                  <a:schemeClr val="tx2">
                    <a:lumMod val="75000"/>
                    <a:lumOff val="25000"/>
                  </a:schemeClr>
                </a:solidFill>
              </a:rPr>
              <a:t>Retrieval-Augmented Generation</a:t>
            </a:r>
            <a:r>
              <a:rPr lang="vi-VN" b="1"/>
              <a:t> </a:t>
            </a:r>
            <a:r>
              <a:rPr lang="vi-VN"/>
              <a:t>(</a:t>
            </a:r>
            <a:r>
              <a:rPr lang="vi-VN" b="1" i="1">
                <a:solidFill>
                  <a:schemeClr val="tx2">
                    <a:lumMod val="75000"/>
                    <a:lumOff val="25000"/>
                  </a:schemeClr>
                </a:solidFill>
              </a:rPr>
              <a:t>RAG</a:t>
            </a:r>
            <a:r>
              <a:rPr lang="vi-VN"/>
              <a:t>) là kỹ thuật kết hợp tìm kiếm ngữ nghĩa (</a:t>
            </a:r>
            <a:r>
              <a:rPr lang="vi-VN" i="1"/>
              <a:t>retrieval</a:t>
            </a:r>
            <a:r>
              <a:rPr lang="vi-VN"/>
              <a:t>) trên một </a:t>
            </a:r>
            <a:r>
              <a:rPr lang="vi-VN">
                <a:solidFill>
                  <a:schemeClr val="accent6">
                    <a:lumMod val="75000"/>
                  </a:schemeClr>
                </a:solidFill>
              </a:rPr>
              <a:t>kho tri thức </a:t>
            </a:r>
            <a:r>
              <a:rPr lang="vi-VN"/>
              <a:t>(</a:t>
            </a:r>
            <a:r>
              <a:rPr lang="vi-VN" i="1">
                <a:solidFill>
                  <a:schemeClr val="accent6">
                    <a:lumMod val="75000"/>
                  </a:schemeClr>
                </a:solidFill>
              </a:rPr>
              <a:t>vector DB</a:t>
            </a:r>
            <a:r>
              <a:rPr lang="vi-VN"/>
              <a:t>) với </a:t>
            </a:r>
            <a:r>
              <a:rPr lang="vi-VN">
                <a:solidFill>
                  <a:schemeClr val="accent2">
                    <a:lumMod val="75000"/>
                  </a:schemeClr>
                </a:solidFill>
              </a:rPr>
              <a:t>mô hình sinh ngôn ngữ</a:t>
            </a:r>
            <a:r>
              <a:rPr lang="vi-VN"/>
              <a:t>.</a:t>
            </a:r>
          </a:p>
        </p:txBody>
      </p:sp>
      <p:pic>
        <p:nvPicPr>
          <p:cNvPr id="7" name="Picture 6">
            <a:extLst>
              <a:ext uri="{FF2B5EF4-FFF2-40B4-BE49-F238E27FC236}">
                <a16:creationId xmlns:a16="http://schemas.microsoft.com/office/drawing/2014/main" id="{3B4ADBAA-1EAB-3798-1E91-254498678811}"/>
              </a:ext>
            </a:extLst>
          </p:cNvPr>
          <p:cNvPicPr>
            <a:picLocks noChangeAspect="1"/>
          </p:cNvPicPr>
          <p:nvPr/>
        </p:nvPicPr>
        <p:blipFill>
          <a:blip r:embed="rId2"/>
          <a:stretch>
            <a:fillRect/>
          </a:stretch>
        </p:blipFill>
        <p:spPr>
          <a:xfrm>
            <a:off x="838200" y="3370364"/>
            <a:ext cx="10515600" cy="2744964"/>
          </a:xfrm>
          <a:prstGeom prst="rect">
            <a:avLst/>
          </a:prstGeom>
        </p:spPr>
      </p:pic>
    </p:spTree>
    <p:extLst>
      <p:ext uri="{BB962C8B-B14F-4D97-AF65-F5344CB8AC3E}">
        <p14:creationId xmlns:p14="http://schemas.microsoft.com/office/powerpoint/2010/main" val="144625397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9B586C-06DF-3D34-1853-FF81947292A8}"/>
              </a:ext>
            </a:extLst>
          </p:cNvPr>
          <p:cNvSpPr>
            <a:spLocks noGrp="1"/>
          </p:cNvSpPr>
          <p:nvPr>
            <p:ph type="title"/>
          </p:nvPr>
        </p:nvSpPr>
        <p:spPr/>
        <p:txBody>
          <a:bodyPr>
            <a:normAutofit/>
          </a:bodyPr>
          <a:lstStyle/>
          <a:p>
            <a:r>
              <a:rPr lang="vi-VN"/>
              <a:t>IV. Hệ thống chatbot</a:t>
            </a:r>
          </a:p>
        </p:txBody>
      </p:sp>
      <p:sp>
        <p:nvSpPr>
          <p:cNvPr id="3" name="Content Placeholder 2">
            <a:extLst>
              <a:ext uri="{FF2B5EF4-FFF2-40B4-BE49-F238E27FC236}">
                <a16:creationId xmlns:a16="http://schemas.microsoft.com/office/drawing/2014/main" id="{A8621EBF-AC97-C74D-996A-97791DEE3CAE}"/>
              </a:ext>
            </a:extLst>
          </p:cNvPr>
          <p:cNvSpPr>
            <a:spLocks noGrp="1"/>
          </p:cNvSpPr>
          <p:nvPr>
            <p:ph sz="half" idx="1"/>
          </p:nvPr>
        </p:nvSpPr>
        <p:spPr/>
        <p:txBody>
          <a:bodyPr/>
          <a:lstStyle/>
          <a:p>
            <a:r>
              <a:rPr lang="vi-VN"/>
              <a:t>Kiến trúc transformer</a:t>
            </a:r>
          </a:p>
        </p:txBody>
      </p:sp>
      <p:pic>
        <p:nvPicPr>
          <p:cNvPr id="14" name="Content Placeholder 13">
            <a:extLst>
              <a:ext uri="{FF2B5EF4-FFF2-40B4-BE49-F238E27FC236}">
                <a16:creationId xmlns:a16="http://schemas.microsoft.com/office/drawing/2014/main" id="{1F429AA5-4415-1342-81D3-26356C7A309A}"/>
              </a:ext>
            </a:extLst>
          </p:cNvPr>
          <p:cNvPicPr>
            <a:picLocks noGrp="1" noChangeAspect="1"/>
          </p:cNvPicPr>
          <p:nvPr>
            <p:ph sz="half" idx="2"/>
          </p:nvPr>
        </p:nvPicPr>
        <p:blipFill>
          <a:blip r:embed="rId3"/>
          <a:stretch>
            <a:fillRect/>
          </a:stretch>
        </p:blipFill>
        <p:spPr>
          <a:xfrm>
            <a:off x="6951755" y="1193800"/>
            <a:ext cx="3622490" cy="4983163"/>
          </a:xfrm>
          <a:prstGeom prst="rect">
            <a:avLst/>
          </a:prstGeom>
        </p:spPr>
      </p:pic>
    </p:spTree>
    <p:extLst>
      <p:ext uri="{BB962C8B-B14F-4D97-AF65-F5344CB8AC3E}">
        <p14:creationId xmlns:p14="http://schemas.microsoft.com/office/powerpoint/2010/main" val="383154334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F3701595-AA4B-C956-75AC-AE0B8757ECD6}"/>
              </a:ext>
            </a:extLst>
          </p:cNvPr>
          <p:cNvSpPr>
            <a:spLocks noGrp="1"/>
          </p:cNvSpPr>
          <p:nvPr>
            <p:ph type="title"/>
          </p:nvPr>
        </p:nvSpPr>
        <p:spPr/>
        <p:txBody>
          <a:bodyPr>
            <a:normAutofit/>
          </a:bodyPr>
          <a:lstStyle/>
          <a:p>
            <a:r>
              <a:rPr lang="vi-VN"/>
              <a:t>IV. Hệ thống chatbot</a:t>
            </a:r>
          </a:p>
        </p:txBody>
      </p:sp>
      <p:sp>
        <p:nvSpPr>
          <p:cNvPr id="6" name="Content Placeholder 5">
            <a:extLst>
              <a:ext uri="{FF2B5EF4-FFF2-40B4-BE49-F238E27FC236}">
                <a16:creationId xmlns:a16="http://schemas.microsoft.com/office/drawing/2014/main" id="{0A6868C0-DB4E-B375-616C-BFFC1984BE7C}"/>
              </a:ext>
            </a:extLst>
          </p:cNvPr>
          <p:cNvSpPr>
            <a:spLocks noGrp="1"/>
          </p:cNvSpPr>
          <p:nvPr>
            <p:ph idx="1"/>
          </p:nvPr>
        </p:nvSpPr>
        <p:spPr/>
        <p:txBody>
          <a:bodyPr/>
          <a:lstStyle/>
          <a:p>
            <a:r>
              <a:rPr lang="vi-VN"/>
              <a:t>Cải tiến kiến trúc trong </a:t>
            </a:r>
            <a:r>
              <a:rPr lang="vi-VN" b="1">
                <a:solidFill>
                  <a:schemeClr val="accent2">
                    <a:lumMod val="75000"/>
                  </a:schemeClr>
                </a:solidFill>
              </a:rPr>
              <a:t>gemini-2.5-flash-lite</a:t>
            </a:r>
            <a:r>
              <a:rPr lang="vi-VN"/>
              <a:t>:</a:t>
            </a:r>
          </a:p>
          <a:p>
            <a:pPr lvl="1"/>
            <a:r>
              <a:rPr lang="vi-VN"/>
              <a:t>Mixture-of-Experts (</a:t>
            </a:r>
            <a:r>
              <a:rPr lang="vi-VN" i="1"/>
              <a:t>MoE</a:t>
            </a:r>
            <a:r>
              <a:rPr lang="vi-VN"/>
              <a:t>) thưa</a:t>
            </a:r>
          </a:p>
          <a:p>
            <a:pPr lvl="1"/>
            <a:r>
              <a:rPr lang="vi-VN"/>
              <a:t>Grouped-Query Attention (</a:t>
            </a:r>
            <a:r>
              <a:rPr lang="vi-VN" i="1"/>
              <a:t>GQA</a:t>
            </a:r>
            <a:r>
              <a:rPr lang="vi-VN"/>
              <a:t>)</a:t>
            </a:r>
          </a:p>
          <a:p>
            <a:pPr lvl="1"/>
            <a:r>
              <a:rPr lang="vi-VN"/>
              <a:t>Rotary Positional Embeddings (</a:t>
            </a:r>
            <a:r>
              <a:rPr lang="vi-VN" i="1"/>
              <a:t>RoPE</a:t>
            </a:r>
            <a:r>
              <a:rPr lang="vi-VN"/>
              <a:t>)</a:t>
            </a:r>
          </a:p>
          <a:p>
            <a:pPr lvl="1"/>
            <a:r>
              <a:rPr lang="vi-VN"/>
              <a:t>Hàm kích hoạt và Chuẩn hóa</a:t>
            </a:r>
          </a:p>
        </p:txBody>
      </p:sp>
    </p:spTree>
    <p:extLst>
      <p:ext uri="{BB962C8B-B14F-4D97-AF65-F5344CB8AC3E}">
        <p14:creationId xmlns:p14="http://schemas.microsoft.com/office/powerpoint/2010/main" val="180468396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fade">
                                      <p:cBhvr>
                                        <p:cTn id="7" dur="500"/>
                                        <p:tgtEl>
                                          <p:spTgt spid="6">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6">
                                            <p:txEl>
                                              <p:pRg st="1" end="1"/>
                                            </p:txEl>
                                          </p:spTgt>
                                        </p:tgtEl>
                                        <p:attrNameLst>
                                          <p:attrName>style.visibility</p:attrName>
                                        </p:attrNameLst>
                                      </p:cBhvr>
                                      <p:to>
                                        <p:strVal val="visible"/>
                                      </p:to>
                                    </p:set>
                                    <p:animEffect transition="in" filter="fade">
                                      <p:cBhvr>
                                        <p:cTn id="10" dur="500"/>
                                        <p:tgtEl>
                                          <p:spTgt spid="6">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animEffect transition="in" filter="fade">
                                      <p:cBhvr>
                                        <p:cTn id="13" dur="500"/>
                                        <p:tgtEl>
                                          <p:spTgt spid="6">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6">
                                            <p:txEl>
                                              <p:pRg st="3" end="3"/>
                                            </p:txEl>
                                          </p:spTgt>
                                        </p:tgtEl>
                                        <p:attrNameLst>
                                          <p:attrName>style.visibility</p:attrName>
                                        </p:attrNameLst>
                                      </p:cBhvr>
                                      <p:to>
                                        <p:strVal val="visible"/>
                                      </p:to>
                                    </p:set>
                                    <p:animEffect transition="in" filter="fade">
                                      <p:cBhvr>
                                        <p:cTn id="16" dur="500"/>
                                        <p:tgtEl>
                                          <p:spTgt spid="6">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6">
                                            <p:txEl>
                                              <p:pRg st="4" end="4"/>
                                            </p:txEl>
                                          </p:spTgt>
                                        </p:tgtEl>
                                        <p:attrNameLst>
                                          <p:attrName>style.visibility</p:attrName>
                                        </p:attrNameLst>
                                      </p:cBhvr>
                                      <p:to>
                                        <p:strVal val="visible"/>
                                      </p:to>
                                    </p:set>
                                    <p:animEffect transition="in" filter="fade">
                                      <p:cBhvr>
                                        <p:cTn id="19" dur="500"/>
                                        <p:tgtEl>
                                          <p:spTgt spid="6">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1F3DC4-2107-7EFC-1A2B-B53ACD33037D}"/>
              </a:ext>
            </a:extLst>
          </p:cNvPr>
          <p:cNvSpPr>
            <a:spLocks noGrp="1"/>
          </p:cNvSpPr>
          <p:nvPr>
            <p:ph type="title"/>
          </p:nvPr>
        </p:nvSpPr>
        <p:spPr/>
        <p:txBody>
          <a:bodyPr>
            <a:normAutofit/>
          </a:bodyPr>
          <a:lstStyle/>
          <a:p>
            <a:r>
              <a:rPr lang="vi-VN"/>
              <a:t>IV. Hệ thống chatbot</a:t>
            </a:r>
          </a:p>
        </p:txBody>
      </p:sp>
      <p:sp>
        <p:nvSpPr>
          <p:cNvPr id="3" name="Content Placeholder 2">
            <a:extLst>
              <a:ext uri="{FF2B5EF4-FFF2-40B4-BE49-F238E27FC236}">
                <a16:creationId xmlns:a16="http://schemas.microsoft.com/office/drawing/2014/main" id="{52FE8697-A460-57AE-69CA-C92AC32E88A3}"/>
              </a:ext>
            </a:extLst>
          </p:cNvPr>
          <p:cNvSpPr>
            <a:spLocks noGrp="1"/>
          </p:cNvSpPr>
          <p:nvPr>
            <p:ph idx="1"/>
          </p:nvPr>
        </p:nvSpPr>
        <p:spPr/>
        <p:txBody>
          <a:bodyPr/>
          <a:lstStyle/>
          <a:p>
            <a:r>
              <a:rPr lang="vi-VN" b="1"/>
              <a:t>­</a:t>
            </a:r>
            <a:r>
              <a:rPr lang="vi-VN" b="1">
                <a:solidFill>
                  <a:schemeClr val="accent6">
                    <a:lumMod val="75000"/>
                  </a:schemeClr>
                </a:solidFill>
              </a:rPr>
              <a:t>Cơ sở dữ liệu vector </a:t>
            </a:r>
            <a:r>
              <a:rPr lang="vi-VN" b="1"/>
              <a:t>và nhúng từ</a:t>
            </a:r>
            <a:r>
              <a:rPr lang="vi-VN"/>
              <a:t>:</a:t>
            </a:r>
          </a:p>
          <a:p>
            <a:pPr lvl="1"/>
            <a:r>
              <a:rPr lang="vi-VN"/>
              <a:t>Nhúng từ: Đưa một dạng văn bản về không gian vector d chiều</a:t>
            </a:r>
          </a:p>
          <a:p>
            <a:pPr lvl="1"/>
            <a:r>
              <a:rPr lang="vi-VN"/>
              <a:t>Cơ sở dữ liệu vector: Lưu trữ các vector nhúng từ kèm metadata</a:t>
            </a:r>
          </a:p>
          <a:p>
            <a:r>
              <a:rPr lang="vi-VN" b="1"/>
              <a:t>­</a:t>
            </a:r>
            <a:r>
              <a:rPr lang="vi-VN" b="1">
                <a:solidFill>
                  <a:schemeClr val="accent6">
                    <a:lumMod val="75000"/>
                  </a:schemeClr>
                </a:solidFill>
              </a:rPr>
              <a:t>ChromaDB</a:t>
            </a:r>
            <a:r>
              <a:rPr lang="vi-VN"/>
              <a:t>:</a:t>
            </a:r>
          </a:p>
          <a:p>
            <a:pPr lvl="1"/>
            <a:r>
              <a:rPr lang="vi-VN"/>
              <a:t>Nhúng từ mặc định sử dụng mô hình </a:t>
            </a:r>
            <a:r>
              <a:rPr lang="vi-VN" b="1"/>
              <a:t>all-MiniLM-L6-v2</a:t>
            </a:r>
            <a:r>
              <a:rPr lang="vi-VN"/>
              <a:t> tạo ra vector 384 chiều</a:t>
            </a:r>
          </a:p>
          <a:p>
            <a:pPr lvl="1"/>
            <a:r>
              <a:rPr lang="vi-VN"/>
              <a:t>Metadata lưu trữ các thông tin hỗ trợ lọc chuyên sâu</a:t>
            </a:r>
          </a:p>
          <a:p>
            <a:endParaRPr lang="vi-VN"/>
          </a:p>
        </p:txBody>
      </p:sp>
    </p:spTree>
    <p:extLst>
      <p:ext uri="{BB962C8B-B14F-4D97-AF65-F5344CB8AC3E}">
        <p14:creationId xmlns:p14="http://schemas.microsoft.com/office/powerpoint/2010/main" val="1862191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childTnLst>
                          </p:cTn>
                        </p:par>
                        <p:par>
                          <p:cTn id="14" fill="hold">
                            <p:stCondLst>
                              <p:cond delay="500"/>
                            </p:stCondLst>
                            <p:childTnLst>
                              <p:par>
                                <p:cTn id="15" presetID="10" presetClass="entr" presetSubtype="0" fill="hold" nodeType="after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500"/>
                                        <p:tgtEl>
                                          <p:spTgt spid="3">
                                            <p:txEl>
                                              <p:pRg st="3" end="3"/>
                                            </p:txEl>
                                          </p:spTgt>
                                        </p:tgtEl>
                                      </p:cBhvr>
                                    </p:animEffect>
                                  </p:childTnLst>
                                </p:cTn>
                              </p:par>
                              <p:par>
                                <p:cTn id="18" presetID="10" presetClass="entr" presetSubtype="0" fill="hold" nodeType="with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Effect transition="in" filter="fade">
                                      <p:cBhvr>
                                        <p:cTn id="20" dur="500"/>
                                        <p:tgtEl>
                                          <p:spTgt spid="3">
                                            <p:txEl>
                                              <p:pRg st="4" end="4"/>
                                            </p:txEl>
                                          </p:spTgt>
                                        </p:tgtEl>
                                      </p:cBhvr>
                                    </p:animEffect>
                                  </p:childTnLst>
                                </p:cTn>
                              </p:par>
                              <p:par>
                                <p:cTn id="21" presetID="10" presetClass="entr" presetSubtype="0" fill="hold" nodeType="with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animEffect transition="in" filter="fade">
                                      <p:cBhvr>
                                        <p:cTn id="23"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E5597B-ABA3-5C10-3453-87819930D6F1}"/>
              </a:ext>
            </a:extLst>
          </p:cNvPr>
          <p:cNvSpPr>
            <a:spLocks noGrp="1"/>
          </p:cNvSpPr>
          <p:nvPr>
            <p:ph type="title"/>
          </p:nvPr>
        </p:nvSpPr>
        <p:spPr/>
        <p:txBody>
          <a:bodyPr>
            <a:normAutofit/>
          </a:bodyPr>
          <a:lstStyle/>
          <a:p>
            <a:r>
              <a:rPr lang="vi-VN"/>
              <a:t>IV. Hệ thống chatbot</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4EBB9B06-0CA7-8AA4-33A8-C4EC91099981}"/>
                  </a:ext>
                </a:extLst>
              </p:cNvPr>
              <p:cNvSpPr>
                <a:spLocks noGrp="1"/>
              </p:cNvSpPr>
              <p:nvPr>
                <p:ph idx="1"/>
              </p:nvPr>
            </p:nvSpPr>
            <p:spPr/>
            <p:txBody>
              <a:bodyPr/>
              <a:lstStyle/>
              <a:p>
                <a:r>
                  <a:rPr lang="vi-VN" b="1"/>
                  <a:t>Truy xuất dữ liệu</a:t>
                </a:r>
                <a:r>
                  <a:rPr lang="vi-VN"/>
                  <a:t>: sử dụng độ tương đồng cosine</a:t>
                </a:r>
              </a:p>
              <a:p>
                <a:pPr marL="0" indent="0" algn="ctr">
                  <a:buNone/>
                </a:pPr>
                <a14:m>
                  <m:oMath xmlns:m="http://schemas.openxmlformats.org/officeDocument/2006/math">
                    <m:r>
                      <m:rPr>
                        <m:sty m:val="p"/>
                      </m:rPr>
                      <a:rPr lang="vi-VN" i="1" smtClean="0">
                        <a:latin typeface="Cambria Math" panose="02040503050406030204" pitchFamily="18" charset="0"/>
                      </a:rPr>
                      <m:t>Cosine</m:t>
                    </m:r>
                    <m:d>
                      <m:dPr>
                        <m:ctrlPr>
                          <a:rPr lang="vi-VN" i="1" smtClean="0">
                            <a:latin typeface="Cambria Math" panose="02040503050406030204" pitchFamily="18" charset="0"/>
                          </a:rPr>
                        </m:ctrlPr>
                      </m:dPr>
                      <m:e>
                        <m:r>
                          <m:rPr>
                            <m:sty m:val="p"/>
                          </m:rPr>
                          <a:rPr lang="vi-VN" i="1">
                            <a:latin typeface="Cambria Math" panose="02040503050406030204" pitchFamily="18" charset="0"/>
                          </a:rPr>
                          <m:t>u</m:t>
                        </m:r>
                        <m:r>
                          <a:rPr lang="vi-VN" b="0" i="1" smtClean="0">
                            <a:latin typeface="Cambria Math" panose="02040503050406030204" pitchFamily="18" charset="0"/>
                          </a:rPr>
                          <m:t>,</m:t>
                        </m:r>
                        <m:r>
                          <m:rPr>
                            <m:sty m:val="p"/>
                          </m:rPr>
                          <a:rPr lang="vi-VN" i="1">
                            <a:latin typeface="Cambria Math" panose="02040503050406030204" pitchFamily="18" charset="0"/>
                          </a:rPr>
                          <m:t>v</m:t>
                        </m:r>
                      </m:e>
                    </m:d>
                    <m:r>
                      <a:rPr lang="vi-VN" b="0" i="1" smtClean="0">
                        <a:latin typeface="Cambria Math" panose="02040503050406030204" pitchFamily="18" charset="0"/>
                      </a:rPr>
                      <m:t>=</m:t>
                    </m:r>
                    <m:f>
                      <m:fPr>
                        <m:ctrlPr>
                          <a:rPr lang="vi-VN" b="0" i="1" smtClean="0">
                            <a:latin typeface="Cambria Math" panose="02040503050406030204" pitchFamily="18" charset="0"/>
                          </a:rPr>
                        </m:ctrlPr>
                      </m:fPr>
                      <m:num>
                        <m:r>
                          <m:rPr>
                            <m:sty m:val="p"/>
                          </m:rPr>
                          <a:rPr lang="vi-VN" i="1">
                            <a:latin typeface="Cambria Math" panose="02040503050406030204" pitchFamily="18" charset="0"/>
                          </a:rPr>
                          <m:t>u</m:t>
                        </m:r>
                        <m:r>
                          <a:rPr lang="vi-VN" i="1" smtClean="0">
                            <a:latin typeface="Cambria Math" panose="02040503050406030204" pitchFamily="18" charset="0"/>
                            <a:ea typeface="Cambria Math" panose="02040503050406030204" pitchFamily="18" charset="0"/>
                          </a:rPr>
                          <m:t>∙</m:t>
                        </m:r>
                        <m:r>
                          <m:rPr>
                            <m:sty m:val="p"/>
                          </m:rPr>
                          <a:rPr lang="vi-VN" i="1">
                            <a:latin typeface="Cambria Math" panose="02040503050406030204" pitchFamily="18" charset="0"/>
                            <a:ea typeface="Cambria Math" panose="02040503050406030204" pitchFamily="18" charset="0"/>
                          </a:rPr>
                          <m:t>v</m:t>
                        </m:r>
                      </m:num>
                      <m:den>
                        <m:r>
                          <a:rPr lang="vi-VN" b="0" i="1" smtClean="0">
                            <a:latin typeface="Cambria Math" panose="02040503050406030204" pitchFamily="18" charset="0"/>
                          </a:rPr>
                          <m:t>||</m:t>
                        </m:r>
                        <m:r>
                          <m:rPr>
                            <m:sty m:val="p"/>
                          </m:rPr>
                          <a:rPr lang="vi-VN" i="1">
                            <a:latin typeface="Cambria Math" panose="02040503050406030204" pitchFamily="18" charset="0"/>
                          </a:rPr>
                          <m:t>u</m:t>
                        </m:r>
                        <m:r>
                          <a:rPr lang="vi-VN" b="0" i="1" smtClean="0">
                            <a:latin typeface="Cambria Math" panose="02040503050406030204" pitchFamily="18" charset="0"/>
                          </a:rPr>
                          <m:t>||</m:t>
                        </m:r>
                        <m:r>
                          <a:rPr lang="vi-VN" b="0" i="1" smtClean="0">
                            <a:latin typeface="Cambria Math" panose="02040503050406030204" pitchFamily="18" charset="0"/>
                            <a:ea typeface="Cambria Math" panose="02040503050406030204" pitchFamily="18" charset="0"/>
                          </a:rPr>
                          <m:t>∙||</m:t>
                        </m:r>
                        <m:r>
                          <m:rPr>
                            <m:sty m:val="p"/>
                          </m:rPr>
                          <a:rPr lang="vi-VN" i="1">
                            <a:latin typeface="Cambria Math" panose="02040503050406030204" pitchFamily="18" charset="0"/>
                            <a:ea typeface="Cambria Math" panose="02040503050406030204" pitchFamily="18" charset="0"/>
                          </a:rPr>
                          <m:t>v</m:t>
                        </m:r>
                        <m:r>
                          <a:rPr lang="vi-VN" b="0" i="1" smtClean="0">
                            <a:latin typeface="Cambria Math" panose="02040503050406030204" pitchFamily="18" charset="0"/>
                            <a:ea typeface="Cambria Math" panose="02040503050406030204" pitchFamily="18" charset="0"/>
                          </a:rPr>
                          <m:t>||</m:t>
                        </m:r>
                      </m:den>
                    </m:f>
                    <m:r>
                      <a:rPr lang="vi-VN" b="0" i="1" smtClean="0">
                        <a:latin typeface="Cambria Math" panose="02040503050406030204" pitchFamily="18" charset="0"/>
                      </a:rPr>
                      <m:t>=</m:t>
                    </m:r>
                    <m:f>
                      <m:fPr>
                        <m:ctrlPr>
                          <a:rPr lang="vi-VN" b="0" i="1" smtClean="0">
                            <a:latin typeface="Cambria Math" panose="02040503050406030204" pitchFamily="18" charset="0"/>
                          </a:rPr>
                        </m:ctrlPr>
                      </m:fPr>
                      <m:num>
                        <m:nary>
                          <m:naryPr>
                            <m:chr m:val="∑"/>
                            <m:limLoc m:val="subSup"/>
                            <m:ctrlPr>
                              <a:rPr lang="vi-VN" b="0" i="1" smtClean="0">
                                <a:latin typeface="Cambria Math" panose="02040503050406030204" pitchFamily="18" charset="0"/>
                              </a:rPr>
                            </m:ctrlPr>
                          </m:naryPr>
                          <m:sub>
                            <m:r>
                              <m:rPr>
                                <m:sty m:val="p"/>
                                <m:brk m:alnAt="25"/>
                              </m:rPr>
                              <a:rPr lang="vi-VN" i="1">
                                <a:latin typeface="Cambria Math" panose="02040503050406030204" pitchFamily="18" charset="0"/>
                              </a:rPr>
                              <m:t>i</m:t>
                            </m:r>
                            <m:r>
                              <a:rPr lang="vi-VN" b="0" i="1" smtClean="0">
                                <a:latin typeface="Cambria Math" panose="02040503050406030204" pitchFamily="18" charset="0"/>
                              </a:rPr>
                              <m:t>=</m:t>
                            </m:r>
                            <m:r>
                              <a:rPr lang="vi-VN" i="1">
                                <a:latin typeface="Cambria Math" panose="02040503050406030204" pitchFamily="18" charset="0"/>
                              </a:rPr>
                              <m:t>1</m:t>
                            </m:r>
                          </m:sub>
                          <m:sup>
                            <m:r>
                              <m:rPr>
                                <m:sty m:val="p"/>
                              </m:rPr>
                              <a:rPr lang="vi-VN" i="1">
                                <a:latin typeface="Cambria Math" panose="02040503050406030204" pitchFamily="18" charset="0"/>
                              </a:rPr>
                              <m:t>d</m:t>
                            </m:r>
                          </m:sup>
                          <m:e>
                            <m:sSub>
                              <m:sSubPr>
                                <m:ctrlPr>
                                  <a:rPr lang="vi-VN" b="0" i="1" smtClean="0">
                                    <a:latin typeface="Cambria Math" panose="02040503050406030204" pitchFamily="18" charset="0"/>
                                  </a:rPr>
                                </m:ctrlPr>
                              </m:sSubPr>
                              <m:e>
                                <m:r>
                                  <m:rPr>
                                    <m:sty m:val="p"/>
                                  </m:rPr>
                                  <a:rPr lang="vi-VN" i="1">
                                    <a:latin typeface="Cambria Math" panose="02040503050406030204" pitchFamily="18" charset="0"/>
                                  </a:rPr>
                                  <m:t>u</m:t>
                                </m:r>
                              </m:e>
                              <m:sub>
                                <m:r>
                                  <m:rPr>
                                    <m:sty m:val="p"/>
                                  </m:rPr>
                                  <a:rPr lang="vi-VN" i="1">
                                    <a:latin typeface="Cambria Math" panose="02040503050406030204" pitchFamily="18" charset="0"/>
                                  </a:rPr>
                                  <m:t>i</m:t>
                                </m:r>
                              </m:sub>
                            </m:sSub>
                            <m:sSub>
                              <m:sSubPr>
                                <m:ctrlPr>
                                  <a:rPr lang="vi-VN" b="0" i="1" smtClean="0">
                                    <a:latin typeface="Cambria Math" panose="02040503050406030204" pitchFamily="18" charset="0"/>
                                  </a:rPr>
                                </m:ctrlPr>
                              </m:sSubPr>
                              <m:e>
                                <m:r>
                                  <m:rPr>
                                    <m:sty m:val="p"/>
                                  </m:rPr>
                                  <a:rPr lang="vi-VN" i="1">
                                    <a:latin typeface="Cambria Math" panose="02040503050406030204" pitchFamily="18" charset="0"/>
                                  </a:rPr>
                                  <m:t>v</m:t>
                                </m:r>
                              </m:e>
                              <m:sub>
                                <m:r>
                                  <m:rPr>
                                    <m:sty m:val="p"/>
                                  </m:rPr>
                                  <a:rPr lang="vi-VN" i="1">
                                    <a:latin typeface="Cambria Math" panose="02040503050406030204" pitchFamily="18" charset="0"/>
                                  </a:rPr>
                                  <m:t>i</m:t>
                                </m:r>
                              </m:sub>
                            </m:sSub>
                          </m:e>
                        </m:nary>
                      </m:num>
                      <m:den>
                        <m:rad>
                          <m:radPr>
                            <m:degHide m:val="on"/>
                            <m:ctrlPr>
                              <a:rPr lang="vi-VN" b="0" i="1" smtClean="0">
                                <a:latin typeface="Cambria Math" panose="02040503050406030204" pitchFamily="18" charset="0"/>
                              </a:rPr>
                            </m:ctrlPr>
                          </m:radPr>
                          <m:deg/>
                          <m:e>
                            <m:nary>
                              <m:naryPr>
                                <m:chr m:val="∑"/>
                                <m:limLoc m:val="subSup"/>
                                <m:ctrlPr>
                                  <a:rPr lang="vi-VN" b="0" i="1" smtClean="0">
                                    <a:latin typeface="Cambria Math" panose="02040503050406030204" pitchFamily="18" charset="0"/>
                                  </a:rPr>
                                </m:ctrlPr>
                              </m:naryPr>
                              <m:sub>
                                <m:r>
                                  <m:rPr>
                                    <m:sty m:val="p"/>
                                    <m:brk m:alnAt="25"/>
                                  </m:rPr>
                                  <a:rPr lang="vi-VN" i="1">
                                    <a:latin typeface="Cambria Math" panose="02040503050406030204" pitchFamily="18" charset="0"/>
                                  </a:rPr>
                                  <m:t>i</m:t>
                                </m:r>
                                <m:r>
                                  <a:rPr lang="vi-VN" b="0" i="1" smtClean="0">
                                    <a:latin typeface="Cambria Math" panose="02040503050406030204" pitchFamily="18" charset="0"/>
                                  </a:rPr>
                                  <m:t>=</m:t>
                                </m:r>
                                <m:r>
                                  <a:rPr lang="vi-VN" i="1">
                                    <a:latin typeface="Cambria Math" panose="02040503050406030204" pitchFamily="18" charset="0"/>
                                  </a:rPr>
                                  <m:t>1</m:t>
                                </m:r>
                              </m:sub>
                              <m:sup>
                                <m:r>
                                  <m:rPr>
                                    <m:sty m:val="p"/>
                                  </m:rPr>
                                  <a:rPr lang="vi-VN" i="1">
                                    <a:latin typeface="Cambria Math" panose="02040503050406030204" pitchFamily="18" charset="0"/>
                                  </a:rPr>
                                  <m:t>d</m:t>
                                </m:r>
                              </m:sup>
                              <m:e>
                                <m:sSubSup>
                                  <m:sSubSupPr>
                                    <m:ctrlPr>
                                      <a:rPr lang="vi-VN" b="0" i="1" smtClean="0">
                                        <a:latin typeface="Cambria Math" panose="02040503050406030204" pitchFamily="18" charset="0"/>
                                      </a:rPr>
                                    </m:ctrlPr>
                                  </m:sSubSupPr>
                                  <m:e>
                                    <m:r>
                                      <m:rPr>
                                        <m:sty m:val="p"/>
                                      </m:rPr>
                                      <a:rPr lang="vi-VN" i="1">
                                        <a:latin typeface="Cambria Math" panose="02040503050406030204" pitchFamily="18" charset="0"/>
                                      </a:rPr>
                                      <m:t>u</m:t>
                                    </m:r>
                                  </m:e>
                                  <m:sub>
                                    <m:r>
                                      <m:rPr>
                                        <m:sty m:val="p"/>
                                      </m:rPr>
                                      <a:rPr lang="vi-VN" i="1">
                                        <a:latin typeface="Cambria Math" panose="02040503050406030204" pitchFamily="18" charset="0"/>
                                      </a:rPr>
                                      <m:t>i</m:t>
                                    </m:r>
                                  </m:sub>
                                  <m:sup>
                                    <m:r>
                                      <a:rPr lang="vi-VN" i="1">
                                        <a:latin typeface="Cambria Math" panose="02040503050406030204" pitchFamily="18" charset="0"/>
                                      </a:rPr>
                                      <m:t>2</m:t>
                                    </m:r>
                                  </m:sup>
                                </m:sSubSup>
                              </m:e>
                            </m:nary>
                          </m:e>
                        </m:rad>
                        <m:r>
                          <a:rPr lang="vi-VN" b="0" i="1" smtClean="0">
                            <a:latin typeface="Cambria Math" panose="02040503050406030204" pitchFamily="18" charset="0"/>
                            <a:ea typeface="Cambria Math" panose="02040503050406030204" pitchFamily="18" charset="0"/>
                          </a:rPr>
                          <m:t>∙</m:t>
                        </m:r>
                        <m:rad>
                          <m:radPr>
                            <m:degHide m:val="on"/>
                            <m:ctrlPr>
                              <a:rPr lang="vi-VN" b="0" i="1" smtClean="0">
                                <a:latin typeface="Cambria Math" panose="02040503050406030204" pitchFamily="18" charset="0"/>
                                <a:ea typeface="Cambria Math" panose="02040503050406030204" pitchFamily="18" charset="0"/>
                              </a:rPr>
                            </m:ctrlPr>
                          </m:radPr>
                          <m:deg/>
                          <m:e>
                            <m:nary>
                              <m:naryPr>
                                <m:chr m:val="∑"/>
                                <m:limLoc m:val="subSup"/>
                                <m:ctrlPr>
                                  <a:rPr lang="vi-VN" b="0" i="1" smtClean="0">
                                    <a:latin typeface="Cambria Math" panose="02040503050406030204" pitchFamily="18" charset="0"/>
                                  </a:rPr>
                                </m:ctrlPr>
                              </m:naryPr>
                              <m:sub>
                                <m:r>
                                  <m:rPr>
                                    <m:sty m:val="p"/>
                                    <m:brk m:alnAt="25"/>
                                  </m:rPr>
                                  <a:rPr lang="vi-VN" i="1">
                                    <a:latin typeface="Cambria Math" panose="02040503050406030204" pitchFamily="18" charset="0"/>
                                  </a:rPr>
                                  <m:t>i</m:t>
                                </m:r>
                                <m:r>
                                  <a:rPr lang="vi-VN" b="0" i="1" smtClean="0">
                                    <a:latin typeface="Cambria Math" panose="02040503050406030204" pitchFamily="18" charset="0"/>
                                  </a:rPr>
                                  <m:t>=</m:t>
                                </m:r>
                                <m:r>
                                  <a:rPr lang="vi-VN" i="1">
                                    <a:latin typeface="Cambria Math" panose="02040503050406030204" pitchFamily="18" charset="0"/>
                                  </a:rPr>
                                  <m:t>1</m:t>
                                </m:r>
                              </m:sub>
                              <m:sup>
                                <m:r>
                                  <m:rPr>
                                    <m:sty m:val="p"/>
                                  </m:rPr>
                                  <a:rPr lang="vi-VN" i="1">
                                    <a:latin typeface="Cambria Math" panose="02040503050406030204" pitchFamily="18" charset="0"/>
                                  </a:rPr>
                                  <m:t>d</m:t>
                                </m:r>
                              </m:sup>
                              <m:e>
                                <m:sSubSup>
                                  <m:sSubSupPr>
                                    <m:ctrlPr>
                                      <a:rPr lang="vi-VN" b="0" i="1" smtClean="0">
                                        <a:latin typeface="Cambria Math" panose="02040503050406030204" pitchFamily="18" charset="0"/>
                                      </a:rPr>
                                    </m:ctrlPr>
                                  </m:sSubSupPr>
                                  <m:e>
                                    <m:r>
                                      <m:rPr>
                                        <m:sty m:val="p"/>
                                      </m:rPr>
                                      <a:rPr lang="vi-VN" i="1">
                                        <a:latin typeface="Cambria Math" panose="02040503050406030204" pitchFamily="18" charset="0"/>
                                      </a:rPr>
                                      <m:t>v</m:t>
                                    </m:r>
                                  </m:e>
                                  <m:sub>
                                    <m:r>
                                      <m:rPr>
                                        <m:sty m:val="p"/>
                                      </m:rPr>
                                      <a:rPr lang="vi-VN" i="1">
                                        <a:latin typeface="Cambria Math" panose="02040503050406030204" pitchFamily="18" charset="0"/>
                                      </a:rPr>
                                      <m:t>i</m:t>
                                    </m:r>
                                  </m:sub>
                                  <m:sup>
                                    <m:r>
                                      <a:rPr lang="vi-VN" i="1">
                                        <a:latin typeface="Cambria Math" panose="02040503050406030204" pitchFamily="18" charset="0"/>
                                      </a:rPr>
                                      <m:t>2</m:t>
                                    </m:r>
                                  </m:sup>
                                </m:sSubSup>
                              </m:e>
                            </m:nary>
                          </m:e>
                        </m:rad>
                      </m:den>
                    </m:f>
                  </m:oMath>
                </a14:m>
                <a:r>
                  <a:rPr lang="vi-VN"/>
                  <a:t> </a:t>
                </a:r>
              </a:p>
            </p:txBody>
          </p:sp>
        </mc:Choice>
        <mc:Fallback>
          <p:sp>
            <p:nvSpPr>
              <p:cNvPr id="3" name="Content Placeholder 2">
                <a:extLst>
                  <a:ext uri="{FF2B5EF4-FFF2-40B4-BE49-F238E27FC236}">
                    <a16:creationId xmlns:a16="http://schemas.microsoft.com/office/drawing/2014/main" id="{4EBB9B06-0CA7-8AA4-33A8-C4EC91099981}"/>
                  </a:ext>
                </a:extLst>
              </p:cNvPr>
              <p:cNvSpPr>
                <a:spLocks noGrp="1" noRot="1" noChangeAspect="1" noMove="1" noResize="1" noEditPoints="1" noAdjustHandles="1" noChangeArrowheads="1" noChangeShapeType="1" noTextEdit="1"/>
              </p:cNvSpPr>
              <p:nvPr>
                <p:ph idx="1"/>
              </p:nvPr>
            </p:nvSpPr>
            <p:spPr>
              <a:blipFill>
                <a:blip r:embed="rId2"/>
                <a:stretch>
                  <a:fillRect l="-1043" t="-2203"/>
                </a:stretch>
              </a:blipFill>
            </p:spPr>
            <p:txBody>
              <a:bodyPr/>
              <a:lstStyle/>
              <a:p>
                <a:r>
                  <a:rPr lang="vi-VN">
                    <a:noFill/>
                  </a:rPr>
                  <a:t> </a:t>
                </a:r>
              </a:p>
            </p:txBody>
          </p:sp>
        </mc:Fallback>
      </mc:AlternateContent>
    </p:spTree>
    <p:extLst>
      <p:ext uri="{BB962C8B-B14F-4D97-AF65-F5344CB8AC3E}">
        <p14:creationId xmlns:p14="http://schemas.microsoft.com/office/powerpoint/2010/main" val="149978253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98493F-F33B-3517-18B3-CAC2D71F48D4}"/>
              </a:ext>
            </a:extLst>
          </p:cNvPr>
          <p:cNvSpPr>
            <a:spLocks noGrp="1"/>
          </p:cNvSpPr>
          <p:nvPr>
            <p:ph type="title"/>
          </p:nvPr>
        </p:nvSpPr>
        <p:spPr/>
        <p:txBody>
          <a:bodyPr>
            <a:normAutofit/>
          </a:bodyPr>
          <a:lstStyle/>
          <a:p>
            <a:r>
              <a:rPr lang="vi-VN"/>
              <a:t>IV. Hệ thống chatbot</a:t>
            </a:r>
          </a:p>
        </p:txBody>
      </p:sp>
      <p:sp>
        <p:nvSpPr>
          <p:cNvPr id="7" name="Content Placeholder 6">
            <a:extLst>
              <a:ext uri="{FF2B5EF4-FFF2-40B4-BE49-F238E27FC236}">
                <a16:creationId xmlns:a16="http://schemas.microsoft.com/office/drawing/2014/main" id="{B263B091-E383-6830-ED80-82DC0E142FC0}"/>
              </a:ext>
            </a:extLst>
          </p:cNvPr>
          <p:cNvSpPr>
            <a:spLocks noGrp="1"/>
          </p:cNvSpPr>
          <p:nvPr>
            <p:ph idx="1"/>
          </p:nvPr>
        </p:nvSpPr>
        <p:spPr/>
        <p:txBody>
          <a:bodyPr/>
          <a:lstStyle/>
          <a:p>
            <a:r>
              <a:rPr lang="vi-VN" b="1"/>
              <a:t>Quy trình tổng thể</a:t>
            </a:r>
            <a:r>
              <a:rPr lang="vi-VN"/>
              <a:t>:</a:t>
            </a:r>
          </a:p>
          <a:p>
            <a:pPr marL="971550" lvl="1" indent="-514350">
              <a:buFont typeface="+mj-lt"/>
              <a:buAutoNum type="arabicPeriod"/>
            </a:pPr>
            <a:r>
              <a:rPr lang="vi-VN"/>
              <a:t>Nhận truy vấn </a:t>
            </a:r>
            <a:r>
              <a:rPr lang="vi-VN" b="1">
                <a:solidFill>
                  <a:schemeClr val="tx2">
                    <a:lumMod val="75000"/>
                    <a:lumOff val="25000"/>
                  </a:schemeClr>
                </a:solidFill>
              </a:rPr>
              <a:t>Q</a:t>
            </a:r>
          </a:p>
          <a:p>
            <a:pPr marL="971550" lvl="1" indent="-514350">
              <a:buFont typeface="+mj-lt"/>
              <a:buAutoNum type="arabicPeriod"/>
            </a:pPr>
            <a:r>
              <a:rPr lang="vi-VN"/>
              <a:t>Chuẩn hóa và dịch truy vấn </a:t>
            </a:r>
            <a:r>
              <a:rPr lang="vi-VN" b="1">
                <a:solidFill>
                  <a:schemeClr val="tx2">
                    <a:lumMod val="75000"/>
                    <a:lumOff val="25000"/>
                  </a:schemeClr>
                </a:solidFill>
              </a:rPr>
              <a:t>Q</a:t>
            </a:r>
            <a:r>
              <a:rPr lang="vi-VN">
                <a:solidFill>
                  <a:schemeClr val="tx2">
                    <a:lumMod val="75000"/>
                    <a:lumOff val="25000"/>
                  </a:schemeClr>
                </a:solidFill>
              </a:rPr>
              <a:t> </a:t>
            </a:r>
            <a:r>
              <a:rPr lang="vi-VN"/>
              <a:t>về tiếng anh → </a:t>
            </a:r>
            <a:r>
              <a:rPr lang="vi-VN" b="1">
                <a:solidFill>
                  <a:schemeClr val="accent6">
                    <a:lumMod val="75000"/>
                  </a:schemeClr>
                </a:solidFill>
              </a:rPr>
              <a:t>Q’</a:t>
            </a:r>
          </a:p>
          <a:p>
            <a:pPr marL="971550" lvl="1" indent="-514350">
              <a:buFont typeface="+mj-lt"/>
              <a:buAutoNum type="arabicPeriod"/>
            </a:pPr>
            <a:r>
              <a:rPr lang="vi-VN"/>
              <a:t>Lọc ra những từ khóa</a:t>
            </a:r>
            <a:r>
              <a:rPr lang="en-US"/>
              <a:t>, </a:t>
            </a:r>
            <a:r>
              <a:rPr lang="vi-VN"/>
              <a:t>sở thích,... từ truy vấn </a:t>
            </a:r>
            <a:r>
              <a:rPr lang="vi-VN" b="1">
                <a:solidFill>
                  <a:schemeClr val="accent6">
                    <a:lumMod val="75000"/>
                  </a:schemeClr>
                </a:solidFill>
              </a:rPr>
              <a:t>Q’</a:t>
            </a:r>
            <a:r>
              <a:rPr lang="vi-VN"/>
              <a:t> → </a:t>
            </a:r>
            <a:r>
              <a:rPr lang="vi-VN" b="1"/>
              <a:t>S</a:t>
            </a:r>
          </a:p>
          <a:p>
            <a:pPr marL="971550" lvl="1" indent="-514350">
              <a:buFont typeface="+mj-lt"/>
              <a:buAutoNum type="arabicPeriod"/>
            </a:pPr>
            <a:r>
              <a:rPr lang="vi-VN"/>
              <a:t>Trích xuất từ khóa lọc thông số dinh dưỡng từ truy vấn </a:t>
            </a:r>
            <a:r>
              <a:rPr lang="vi-VN" b="1">
                <a:solidFill>
                  <a:schemeClr val="accent6">
                    <a:lumMod val="75000"/>
                  </a:schemeClr>
                </a:solidFill>
              </a:rPr>
              <a:t>Q’</a:t>
            </a:r>
            <a:r>
              <a:rPr lang="vi-VN"/>
              <a:t> → </a:t>
            </a:r>
            <a:r>
              <a:rPr lang="vi-VN" b="1"/>
              <a:t>F </a:t>
            </a:r>
          </a:p>
          <a:p>
            <a:pPr marL="971550" lvl="1" indent="-514350">
              <a:buFont typeface="+mj-lt"/>
              <a:buAutoNum type="arabicPeriod"/>
            </a:pPr>
            <a:r>
              <a:rPr lang="vi-VN"/>
              <a:t>Sinh embedding truy vấn từ </a:t>
            </a:r>
            <a:r>
              <a:rPr lang="vi-VN" b="1">
                <a:solidFill>
                  <a:schemeClr val="accent6">
                    <a:lumMod val="75000"/>
                  </a:schemeClr>
                </a:solidFill>
              </a:rPr>
              <a:t>Q’</a:t>
            </a:r>
            <a:r>
              <a:rPr lang="vi-VN">
                <a:solidFill>
                  <a:schemeClr val="accent6">
                    <a:lumMod val="75000"/>
                  </a:schemeClr>
                </a:solidFill>
              </a:rPr>
              <a:t> </a:t>
            </a:r>
            <a:r>
              <a:rPr lang="vi-VN"/>
              <a:t>→ vector</a:t>
            </a:r>
            <a:r>
              <a:rPr lang="vi-VN">
                <a:solidFill>
                  <a:schemeClr val="accent5">
                    <a:lumMod val="75000"/>
                  </a:schemeClr>
                </a:solidFill>
              </a:rPr>
              <a:t> </a:t>
            </a:r>
            <a:r>
              <a:rPr lang="vi-VN" b="1">
                <a:solidFill>
                  <a:srgbClr val="FFC000"/>
                </a:solidFill>
              </a:rPr>
              <a:t>V</a:t>
            </a:r>
          </a:p>
          <a:p>
            <a:pPr marL="971550" lvl="1" indent="-514350">
              <a:buFont typeface="+mj-lt"/>
              <a:buAutoNum type="arabicPeriod"/>
            </a:pPr>
            <a:r>
              <a:rPr lang="vi-VN"/>
              <a:t>Truy xuất top-k đoạn liên quan từ vector </a:t>
            </a:r>
            <a:r>
              <a:rPr lang="vi-VN" b="1">
                <a:solidFill>
                  <a:srgbClr val="FFC000"/>
                </a:solidFill>
              </a:rPr>
              <a:t>V </a:t>
            </a:r>
            <a:r>
              <a:rPr lang="vi-VN"/>
              <a:t>và </a:t>
            </a:r>
            <a:r>
              <a:rPr lang="vi-VN" b="1"/>
              <a:t>F</a:t>
            </a:r>
            <a:r>
              <a:rPr lang="vi-VN">
                <a:solidFill>
                  <a:schemeClr val="accent5">
                    <a:lumMod val="75000"/>
                  </a:schemeClr>
                </a:solidFill>
              </a:rPr>
              <a:t> </a:t>
            </a:r>
            <a:r>
              <a:rPr lang="vi-VN"/>
              <a:t>→ ngữ cảnh </a:t>
            </a:r>
            <a:r>
              <a:rPr lang="vi-VN" b="1">
                <a:solidFill>
                  <a:schemeClr val="accent2">
                    <a:lumMod val="75000"/>
                  </a:schemeClr>
                </a:solidFill>
              </a:rPr>
              <a:t>D</a:t>
            </a:r>
          </a:p>
          <a:p>
            <a:pPr marL="971550" lvl="1" indent="-514350">
              <a:buFont typeface="+mj-lt"/>
              <a:buAutoNum type="arabicPeriod"/>
            </a:pPr>
            <a:r>
              <a:rPr lang="vi-VN"/>
              <a:t>Ghép ngữ cảnh </a:t>
            </a:r>
            <a:r>
              <a:rPr lang="vi-VN" b="1">
                <a:solidFill>
                  <a:schemeClr val="accent2">
                    <a:lumMod val="75000"/>
                  </a:schemeClr>
                </a:solidFill>
              </a:rPr>
              <a:t>D</a:t>
            </a:r>
            <a:r>
              <a:rPr lang="vi-VN">
                <a:solidFill>
                  <a:schemeClr val="accent2">
                    <a:lumMod val="75000"/>
                  </a:schemeClr>
                </a:solidFill>
              </a:rPr>
              <a:t> </a:t>
            </a:r>
            <a:r>
              <a:rPr lang="vi-VN"/>
              <a:t>vào truy vấn </a:t>
            </a:r>
            <a:r>
              <a:rPr lang="vi-VN" b="1">
                <a:solidFill>
                  <a:schemeClr val="accent6">
                    <a:lumMod val="75000"/>
                  </a:schemeClr>
                </a:solidFill>
              </a:rPr>
              <a:t>Q’</a:t>
            </a:r>
            <a:r>
              <a:rPr lang="vi-VN"/>
              <a:t> → prompt </a:t>
            </a:r>
            <a:r>
              <a:rPr lang="vi-VN" b="1">
                <a:solidFill>
                  <a:srgbClr val="CC0000"/>
                </a:solidFill>
              </a:rPr>
              <a:t>P</a:t>
            </a:r>
          </a:p>
          <a:p>
            <a:pPr marL="971550" lvl="1" indent="-514350">
              <a:buFont typeface="+mj-lt"/>
              <a:buAutoNum type="arabicPeriod"/>
            </a:pPr>
            <a:r>
              <a:rPr lang="vi-VN"/>
              <a:t>Gửi prompt </a:t>
            </a:r>
            <a:r>
              <a:rPr lang="vi-VN" b="1">
                <a:solidFill>
                  <a:srgbClr val="CC0000"/>
                </a:solidFill>
              </a:rPr>
              <a:t>P </a:t>
            </a:r>
            <a:r>
              <a:rPr lang="vi-VN"/>
              <a:t>và </a:t>
            </a:r>
            <a:r>
              <a:rPr lang="vi-VN" b="1"/>
              <a:t>S</a:t>
            </a:r>
            <a:r>
              <a:rPr lang="vi-VN"/>
              <a:t> vào Gemini → phản hồi </a:t>
            </a:r>
            <a:r>
              <a:rPr lang="vi-VN" b="1">
                <a:solidFill>
                  <a:srgbClr val="99CC00"/>
                </a:solidFill>
              </a:rPr>
              <a:t>A</a:t>
            </a:r>
          </a:p>
          <a:p>
            <a:pPr marL="971550" lvl="1" indent="-514350">
              <a:buFont typeface="+mj-lt"/>
              <a:buAutoNum type="arabicPeriod"/>
            </a:pPr>
            <a:r>
              <a:rPr lang="vi-VN"/>
              <a:t>Dịch phản hồi </a:t>
            </a:r>
            <a:r>
              <a:rPr lang="vi-VN" b="1">
                <a:solidFill>
                  <a:srgbClr val="99CC00"/>
                </a:solidFill>
              </a:rPr>
              <a:t>A</a:t>
            </a:r>
            <a:r>
              <a:rPr lang="vi-VN"/>
              <a:t> về ngôn ngữ gốc → </a:t>
            </a:r>
            <a:r>
              <a:rPr lang="vi-VN" b="1"/>
              <a:t>A’</a:t>
            </a:r>
          </a:p>
          <a:p>
            <a:pPr marL="971550" lvl="1" indent="-514350">
              <a:buFont typeface="+mj-lt"/>
              <a:buAutoNum type="arabicPeriod"/>
            </a:pPr>
            <a:r>
              <a:rPr lang="vi-VN"/>
              <a:t>Trả về phản hồi </a:t>
            </a:r>
            <a:r>
              <a:rPr lang="vi-VN" b="1"/>
              <a:t>A’</a:t>
            </a:r>
            <a:r>
              <a:rPr lang="vi-VN"/>
              <a:t> cho người dùng</a:t>
            </a:r>
          </a:p>
        </p:txBody>
      </p:sp>
    </p:spTree>
    <p:extLst>
      <p:ext uri="{BB962C8B-B14F-4D97-AF65-F5344CB8AC3E}">
        <p14:creationId xmlns:p14="http://schemas.microsoft.com/office/powerpoint/2010/main" val="80013966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500"/>
                                        <p:tgtEl>
                                          <p:spTgt spid="7">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7">
                                            <p:txEl>
                                              <p:pRg st="1" end="1"/>
                                            </p:txEl>
                                          </p:spTgt>
                                        </p:tgtEl>
                                        <p:attrNameLst>
                                          <p:attrName>style.visibility</p:attrName>
                                        </p:attrNameLst>
                                      </p:cBhvr>
                                      <p:to>
                                        <p:strVal val="visible"/>
                                      </p:to>
                                    </p:set>
                                    <p:animEffect transition="in" filter="fade">
                                      <p:cBhvr>
                                        <p:cTn id="10" dur="500"/>
                                        <p:tgtEl>
                                          <p:spTgt spid="7">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7">
                                            <p:txEl>
                                              <p:pRg st="2" end="2"/>
                                            </p:txEl>
                                          </p:spTgt>
                                        </p:tgtEl>
                                        <p:attrNameLst>
                                          <p:attrName>style.visibility</p:attrName>
                                        </p:attrNameLst>
                                      </p:cBhvr>
                                      <p:to>
                                        <p:strVal val="visible"/>
                                      </p:to>
                                    </p:set>
                                    <p:animEffect transition="in" filter="fade">
                                      <p:cBhvr>
                                        <p:cTn id="13" dur="500"/>
                                        <p:tgtEl>
                                          <p:spTgt spid="7">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7">
                                            <p:txEl>
                                              <p:pRg st="3" end="3"/>
                                            </p:txEl>
                                          </p:spTgt>
                                        </p:tgtEl>
                                        <p:attrNameLst>
                                          <p:attrName>style.visibility</p:attrName>
                                        </p:attrNameLst>
                                      </p:cBhvr>
                                      <p:to>
                                        <p:strVal val="visible"/>
                                      </p:to>
                                    </p:set>
                                    <p:animEffect transition="in" filter="fade">
                                      <p:cBhvr>
                                        <p:cTn id="16" dur="500"/>
                                        <p:tgtEl>
                                          <p:spTgt spid="7">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animEffect transition="in" filter="fade">
                                      <p:cBhvr>
                                        <p:cTn id="19" dur="500"/>
                                        <p:tgtEl>
                                          <p:spTgt spid="7">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7">
                                            <p:txEl>
                                              <p:pRg st="5" end="5"/>
                                            </p:txEl>
                                          </p:spTgt>
                                        </p:tgtEl>
                                        <p:attrNameLst>
                                          <p:attrName>style.visibility</p:attrName>
                                        </p:attrNameLst>
                                      </p:cBhvr>
                                      <p:to>
                                        <p:strVal val="visible"/>
                                      </p:to>
                                    </p:set>
                                    <p:animEffect transition="in" filter="fade">
                                      <p:cBhvr>
                                        <p:cTn id="22" dur="500"/>
                                        <p:tgtEl>
                                          <p:spTgt spid="7">
                                            <p:txEl>
                                              <p:pRg st="5" end="5"/>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7">
                                            <p:txEl>
                                              <p:pRg st="6" end="6"/>
                                            </p:txEl>
                                          </p:spTgt>
                                        </p:tgtEl>
                                        <p:attrNameLst>
                                          <p:attrName>style.visibility</p:attrName>
                                        </p:attrNameLst>
                                      </p:cBhvr>
                                      <p:to>
                                        <p:strVal val="visible"/>
                                      </p:to>
                                    </p:set>
                                    <p:animEffect transition="in" filter="fade">
                                      <p:cBhvr>
                                        <p:cTn id="25" dur="500"/>
                                        <p:tgtEl>
                                          <p:spTgt spid="7">
                                            <p:txEl>
                                              <p:pRg st="6" end="6"/>
                                            </p:txEl>
                                          </p:spTgt>
                                        </p:tgtEl>
                                      </p:cBhvr>
                                    </p:animEffect>
                                  </p:childTnLst>
                                </p:cTn>
                              </p:par>
                              <p:par>
                                <p:cTn id="26" presetID="10" presetClass="entr" presetSubtype="0" fill="hold" nodeType="withEffect">
                                  <p:stCondLst>
                                    <p:cond delay="0"/>
                                  </p:stCondLst>
                                  <p:childTnLst>
                                    <p:set>
                                      <p:cBhvr>
                                        <p:cTn id="27" dur="1" fill="hold">
                                          <p:stCondLst>
                                            <p:cond delay="0"/>
                                          </p:stCondLst>
                                        </p:cTn>
                                        <p:tgtEl>
                                          <p:spTgt spid="7">
                                            <p:txEl>
                                              <p:pRg st="7" end="7"/>
                                            </p:txEl>
                                          </p:spTgt>
                                        </p:tgtEl>
                                        <p:attrNameLst>
                                          <p:attrName>style.visibility</p:attrName>
                                        </p:attrNameLst>
                                      </p:cBhvr>
                                      <p:to>
                                        <p:strVal val="visible"/>
                                      </p:to>
                                    </p:set>
                                    <p:animEffect transition="in" filter="fade">
                                      <p:cBhvr>
                                        <p:cTn id="28" dur="500"/>
                                        <p:tgtEl>
                                          <p:spTgt spid="7">
                                            <p:txEl>
                                              <p:pRg st="7" end="7"/>
                                            </p:txEl>
                                          </p:spTgt>
                                        </p:tgtEl>
                                      </p:cBhvr>
                                    </p:animEffect>
                                  </p:childTnLst>
                                </p:cTn>
                              </p:par>
                              <p:par>
                                <p:cTn id="29" presetID="10" presetClass="entr" presetSubtype="0" fill="hold" nodeType="withEffect">
                                  <p:stCondLst>
                                    <p:cond delay="0"/>
                                  </p:stCondLst>
                                  <p:childTnLst>
                                    <p:set>
                                      <p:cBhvr>
                                        <p:cTn id="30" dur="1" fill="hold">
                                          <p:stCondLst>
                                            <p:cond delay="0"/>
                                          </p:stCondLst>
                                        </p:cTn>
                                        <p:tgtEl>
                                          <p:spTgt spid="7">
                                            <p:txEl>
                                              <p:pRg st="8" end="8"/>
                                            </p:txEl>
                                          </p:spTgt>
                                        </p:tgtEl>
                                        <p:attrNameLst>
                                          <p:attrName>style.visibility</p:attrName>
                                        </p:attrNameLst>
                                      </p:cBhvr>
                                      <p:to>
                                        <p:strVal val="visible"/>
                                      </p:to>
                                    </p:set>
                                    <p:animEffect transition="in" filter="fade">
                                      <p:cBhvr>
                                        <p:cTn id="31" dur="500"/>
                                        <p:tgtEl>
                                          <p:spTgt spid="7">
                                            <p:txEl>
                                              <p:pRg st="8" end="8"/>
                                            </p:txEl>
                                          </p:spTgt>
                                        </p:tgtEl>
                                      </p:cBhvr>
                                    </p:animEffect>
                                  </p:childTnLst>
                                </p:cTn>
                              </p:par>
                              <p:par>
                                <p:cTn id="32" presetID="10" presetClass="entr" presetSubtype="0" fill="hold" nodeType="withEffect">
                                  <p:stCondLst>
                                    <p:cond delay="0"/>
                                  </p:stCondLst>
                                  <p:childTnLst>
                                    <p:set>
                                      <p:cBhvr>
                                        <p:cTn id="33" dur="1" fill="hold">
                                          <p:stCondLst>
                                            <p:cond delay="0"/>
                                          </p:stCondLst>
                                        </p:cTn>
                                        <p:tgtEl>
                                          <p:spTgt spid="7">
                                            <p:txEl>
                                              <p:pRg st="9" end="9"/>
                                            </p:txEl>
                                          </p:spTgt>
                                        </p:tgtEl>
                                        <p:attrNameLst>
                                          <p:attrName>style.visibility</p:attrName>
                                        </p:attrNameLst>
                                      </p:cBhvr>
                                      <p:to>
                                        <p:strVal val="visible"/>
                                      </p:to>
                                    </p:set>
                                    <p:animEffect transition="in" filter="fade">
                                      <p:cBhvr>
                                        <p:cTn id="34" dur="500"/>
                                        <p:tgtEl>
                                          <p:spTgt spid="7">
                                            <p:txEl>
                                              <p:pRg st="9" end="9"/>
                                            </p:txEl>
                                          </p:spTgt>
                                        </p:tgtEl>
                                      </p:cBhvr>
                                    </p:animEffect>
                                  </p:childTnLst>
                                </p:cTn>
                              </p:par>
                              <p:par>
                                <p:cTn id="35" presetID="10" presetClass="entr" presetSubtype="0" fill="hold" nodeType="withEffect">
                                  <p:stCondLst>
                                    <p:cond delay="0"/>
                                  </p:stCondLst>
                                  <p:childTnLst>
                                    <p:set>
                                      <p:cBhvr>
                                        <p:cTn id="36" dur="1" fill="hold">
                                          <p:stCondLst>
                                            <p:cond delay="0"/>
                                          </p:stCondLst>
                                        </p:cTn>
                                        <p:tgtEl>
                                          <p:spTgt spid="7">
                                            <p:txEl>
                                              <p:pRg st="10" end="10"/>
                                            </p:txEl>
                                          </p:spTgt>
                                        </p:tgtEl>
                                        <p:attrNameLst>
                                          <p:attrName>style.visibility</p:attrName>
                                        </p:attrNameLst>
                                      </p:cBhvr>
                                      <p:to>
                                        <p:strVal val="visible"/>
                                      </p:to>
                                    </p:set>
                                    <p:animEffect transition="in" filter="fade">
                                      <p:cBhvr>
                                        <p:cTn id="37" dur="500"/>
                                        <p:tgtEl>
                                          <p:spTgt spid="7">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2784FE9-5B07-AF40-DBC3-2EF29D42F13F}"/>
              </a:ext>
            </a:extLst>
          </p:cNvPr>
          <p:cNvSpPr>
            <a:spLocks noGrp="1"/>
          </p:cNvSpPr>
          <p:nvPr>
            <p:ph type="title"/>
          </p:nvPr>
        </p:nvSpPr>
        <p:spPr/>
        <p:txBody>
          <a:bodyPr/>
          <a:lstStyle/>
          <a:p>
            <a:r>
              <a:rPr lang="vi-VN"/>
              <a:t>V. Kết quả và đánh giá</a:t>
            </a:r>
          </a:p>
        </p:txBody>
      </p:sp>
      <p:sp>
        <p:nvSpPr>
          <p:cNvPr id="5" name="Text Placeholder 4">
            <a:extLst>
              <a:ext uri="{FF2B5EF4-FFF2-40B4-BE49-F238E27FC236}">
                <a16:creationId xmlns:a16="http://schemas.microsoft.com/office/drawing/2014/main" id="{F2D115C8-C24F-1C35-3092-EE0BCCA71858}"/>
              </a:ext>
            </a:extLst>
          </p:cNvPr>
          <p:cNvSpPr>
            <a:spLocks noGrp="1"/>
          </p:cNvSpPr>
          <p:nvPr>
            <p:ph type="body" idx="1"/>
          </p:nvPr>
        </p:nvSpPr>
        <p:spPr/>
        <p:txBody>
          <a:bodyPr/>
          <a:lstStyle/>
          <a:p>
            <a:endParaRPr lang="vi-VN"/>
          </a:p>
        </p:txBody>
      </p:sp>
    </p:spTree>
    <p:extLst>
      <p:ext uri="{BB962C8B-B14F-4D97-AF65-F5344CB8AC3E}">
        <p14:creationId xmlns:p14="http://schemas.microsoft.com/office/powerpoint/2010/main" val="71256276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44592D-5392-0C2A-0C50-D1E785B172AF}"/>
              </a:ext>
            </a:extLst>
          </p:cNvPr>
          <p:cNvSpPr>
            <a:spLocks noGrp="1"/>
          </p:cNvSpPr>
          <p:nvPr>
            <p:ph type="title"/>
          </p:nvPr>
        </p:nvSpPr>
        <p:spPr/>
        <p:txBody>
          <a:bodyPr>
            <a:normAutofit/>
          </a:bodyPr>
          <a:lstStyle/>
          <a:p>
            <a:r>
              <a:rPr lang="vi-VN"/>
              <a:t>V. Kết quả và đánh giá</a:t>
            </a:r>
          </a:p>
        </p:txBody>
      </p:sp>
      <p:sp>
        <p:nvSpPr>
          <p:cNvPr id="3" name="Content Placeholder 2">
            <a:extLst>
              <a:ext uri="{FF2B5EF4-FFF2-40B4-BE49-F238E27FC236}">
                <a16:creationId xmlns:a16="http://schemas.microsoft.com/office/drawing/2014/main" id="{4AC49E50-F0AE-A37A-A612-B0EF285FFFAE}"/>
              </a:ext>
            </a:extLst>
          </p:cNvPr>
          <p:cNvSpPr>
            <a:spLocks noGrp="1"/>
          </p:cNvSpPr>
          <p:nvPr>
            <p:ph idx="1"/>
          </p:nvPr>
        </p:nvSpPr>
        <p:spPr/>
        <p:txBody>
          <a:bodyPr>
            <a:normAutofit lnSpcReduction="10000"/>
          </a:bodyPr>
          <a:lstStyle/>
          <a:p>
            <a:r>
              <a:rPr lang="vi-VN" b="1"/>
              <a:t>Số phiên </a:t>
            </a:r>
            <a:r>
              <a:rPr lang="vi-VN"/>
              <a:t>(</a:t>
            </a:r>
            <a:r>
              <a:rPr lang="vi-VN" i="1"/>
              <a:t>sessions</a:t>
            </a:r>
            <a:r>
              <a:rPr lang="vi-VN"/>
              <a:t>): 30 phiên với </a:t>
            </a:r>
            <a:r>
              <a:rPr lang="vi-VN" b="1">
                <a:solidFill>
                  <a:schemeClr val="accent4">
                    <a:lumMod val="75000"/>
                  </a:schemeClr>
                </a:solidFill>
              </a:rPr>
              <a:t>multi-turn</a:t>
            </a:r>
            <a:r>
              <a:rPr lang="vi-VN"/>
              <a:t> và 100 phiên với </a:t>
            </a:r>
            <a:r>
              <a:rPr lang="vi-VN" b="1">
                <a:solidFill>
                  <a:schemeClr val="accent2">
                    <a:lumMod val="75000"/>
                  </a:schemeClr>
                </a:solidFill>
              </a:rPr>
              <a:t>one-shot</a:t>
            </a:r>
            <a:r>
              <a:rPr lang="vi-VN"/>
              <a:t>.</a:t>
            </a:r>
          </a:p>
          <a:p>
            <a:r>
              <a:rPr lang="vi-VN" b="1"/>
              <a:t>Kịch bản </a:t>
            </a:r>
            <a:r>
              <a:rPr lang="vi-VN" b="1">
                <a:solidFill>
                  <a:schemeClr val="accent4">
                    <a:lumMod val="75000"/>
                  </a:schemeClr>
                </a:solidFill>
              </a:rPr>
              <a:t>multi-turn</a:t>
            </a:r>
            <a:r>
              <a:rPr lang="vi-VN"/>
              <a:t>: </a:t>
            </a:r>
          </a:p>
          <a:p>
            <a:pPr lvl="1"/>
            <a:r>
              <a:rPr lang="vi-VN"/>
              <a:t>Mỗi phiên gồm tối đa 15 lượt prompt</a:t>
            </a:r>
          </a:p>
          <a:p>
            <a:pPr lvl="1"/>
            <a:r>
              <a:rPr lang="vi-VN"/>
              <a:t>Đánh giá được ghi lại ở mốc 5, 10 và 15 lượt.</a:t>
            </a:r>
          </a:p>
          <a:p>
            <a:r>
              <a:rPr lang="vi-VN" b="1"/>
              <a:t>Kịch bản </a:t>
            </a:r>
            <a:r>
              <a:rPr lang="vi-VN" b="1">
                <a:solidFill>
                  <a:schemeClr val="accent2">
                    <a:lumMod val="75000"/>
                  </a:schemeClr>
                </a:solidFill>
              </a:rPr>
              <a:t>one-shot</a:t>
            </a:r>
            <a:r>
              <a:rPr lang="vi-VN"/>
              <a:t>:</a:t>
            </a:r>
          </a:p>
          <a:p>
            <a:pPr lvl="1"/>
            <a:r>
              <a:rPr lang="vi-VN"/>
              <a:t>Mỗi truy vấn độc lập được đưa vào chatbot một lần</a:t>
            </a:r>
          </a:p>
          <a:p>
            <a:pPr lvl="1"/>
            <a:r>
              <a:rPr lang="vi-VN"/>
              <a:t>Lặp lại 100 truy vấn để đánh giá tính ổn định và chính xác từ lượt đầu.</a:t>
            </a:r>
          </a:p>
          <a:p>
            <a:r>
              <a:rPr lang="vi-VN" b="1"/>
              <a:t>Người đánh giá</a:t>
            </a:r>
            <a:r>
              <a:rPr lang="vi-VN"/>
              <a:t>: các đánh giá viên là người thật (</a:t>
            </a:r>
            <a:r>
              <a:rPr lang="vi-VN" i="1"/>
              <a:t>nhóm kiểm thử nội bộ</a:t>
            </a:r>
            <a:r>
              <a:rPr lang="vi-VN"/>
              <a:t>), thực hiện hội thoại và chấm điểm theo cảm nhận cá nhân</a:t>
            </a:r>
          </a:p>
        </p:txBody>
      </p:sp>
    </p:spTree>
    <p:extLst>
      <p:ext uri="{BB962C8B-B14F-4D97-AF65-F5344CB8AC3E}">
        <p14:creationId xmlns:p14="http://schemas.microsoft.com/office/powerpoint/2010/main" val="383327847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fade">
                                      <p:cBhvr>
                                        <p:cTn id="19" dur="500"/>
                                        <p:tgtEl>
                                          <p:spTgt spid="3">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animEffect transition="in" filter="fade">
                                      <p:cBhvr>
                                        <p:cTn id="22" dur="500"/>
                                        <p:tgtEl>
                                          <p:spTgt spid="3">
                                            <p:txEl>
                                              <p:pRg st="5" end="5"/>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animEffect transition="in" filter="fade">
                                      <p:cBhvr>
                                        <p:cTn id="25" dur="500"/>
                                        <p:tgtEl>
                                          <p:spTgt spid="3">
                                            <p:txEl>
                                              <p:pRg st="6" end="6"/>
                                            </p:txEl>
                                          </p:spTgt>
                                        </p:tgtEl>
                                      </p:cBhvr>
                                    </p:animEffect>
                                  </p:childTnLst>
                                </p:cTn>
                              </p:par>
                              <p:par>
                                <p:cTn id="26" presetID="10" presetClass="entr" presetSubtype="0" fill="hold" nodeType="withEffect">
                                  <p:stCondLst>
                                    <p:cond delay="0"/>
                                  </p:stCondLst>
                                  <p:childTnLst>
                                    <p:set>
                                      <p:cBhvr>
                                        <p:cTn id="27" dur="1" fill="hold">
                                          <p:stCondLst>
                                            <p:cond delay="0"/>
                                          </p:stCondLst>
                                        </p:cTn>
                                        <p:tgtEl>
                                          <p:spTgt spid="3">
                                            <p:txEl>
                                              <p:pRg st="7" end="7"/>
                                            </p:txEl>
                                          </p:spTgt>
                                        </p:tgtEl>
                                        <p:attrNameLst>
                                          <p:attrName>style.visibility</p:attrName>
                                        </p:attrNameLst>
                                      </p:cBhvr>
                                      <p:to>
                                        <p:strVal val="visible"/>
                                      </p:to>
                                    </p:set>
                                    <p:animEffect transition="in" filter="fade">
                                      <p:cBhvr>
                                        <p:cTn id="28"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7753D0-1058-FAA4-ABEC-F700A5C7EE4B}"/>
              </a:ext>
            </a:extLst>
          </p:cNvPr>
          <p:cNvSpPr>
            <a:spLocks noGrp="1"/>
          </p:cNvSpPr>
          <p:nvPr>
            <p:ph type="title"/>
          </p:nvPr>
        </p:nvSpPr>
        <p:spPr/>
        <p:txBody>
          <a:bodyPr>
            <a:normAutofit/>
          </a:bodyPr>
          <a:lstStyle/>
          <a:p>
            <a:r>
              <a:rPr lang="vi-VN"/>
              <a:t>V. Kết quả và đánh giá</a:t>
            </a:r>
          </a:p>
        </p:txBody>
      </p:sp>
      <p:sp>
        <p:nvSpPr>
          <p:cNvPr id="3" name="Content Placeholder 2">
            <a:extLst>
              <a:ext uri="{FF2B5EF4-FFF2-40B4-BE49-F238E27FC236}">
                <a16:creationId xmlns:a16="http://schemas.microsoft.com/office/drawing/2014/main" id="{8A5B446C-3968-F3DF-FA5A-E62F23ED7B4E}"/>
              </a:ext>
            </a:extLst>
          </p:cNvPr>
          <p:cNvSpPr>
            <a:spLocks noGrp="1"/>
          </p:cNvSpPr>
          <p:nvPr>
            <p:ph idx="1"/>
          </p:nvPr>
        </p:nvSpPr>
        <p:spPr/>
        <p:txBody>
          <a:bodyPr/>
          <a:lstStyle/>
          <a:p>
            <a:r>
              <a:rPr lang="vi-VN"/>
              <a:t>Sử dụng 3 chỉ số để đánh giá:</a:t>
            </a:r>
          </a:p>
          <a:p>
            <a:pPr lvl="1"/>
            <a:r>
              <a:rPr lang="vi-VN"/>
              <a:t>Độ thiện cảm tích lũy (</a:t>
            </a:r>
            <a:r>
              <a:rPr lang="vi-VN" i="1"/>
              <a:t>Cumulative</a:t>
            </a:r>
            <a:r>
              <a:rPr lang="vi-VN"/>
              <a:t> </a:t>
            </a:r>
            <a:r>
              <a:rPr lang="vi-VN" i="1"/>
              <a:t>likability</a:t>
            </a:r>
            <a:r>
              <a:rPr lang="vi-VN"/>
              <a:t>)</a:t>
            </a:r>
          </a:p>
          <a:p>
            <a:pPr lvl="1"/>
            <a:r>
              <a:rPr lang="vi-VN"/>
              <a:t>Độ chính xác tích lũy (</a:t>
            </a:r>
            <a:r>
              <a:rPr lang="vi-VN" i="1"/>
              <a:t>Cumulative accuracy</a:t>
            </a:r>
            <a:r>
              <a:rPr lang="vi-VN"/>
              <a:t>)</a:t>
            </a:r>
          </a:p>
          <a:p>
            <a:pPr lvl="1"/>
            <a:r>
              <a:rPr lang="vi-VN"/>
              <a:t>Độ chính xác one-shot</a:t>
            </a:r>
          </a:p>
          <a:p>
            <a:r>
              <a:rPr lang="vi-VN"/>
              <a:t>Với mỗi chỉ số trên, tính trung bình và độ lệch chuẩn để đánh giá và thống kê.</a:t>
            </a:r>
          </a:p>
        </p:txBody>
      </p:sp>
    </p:spTree>
    <p:extLst>
      <p:ext uri="{BB962C8B-B14F-4D97-AF65-F5344CB8AC3E}">
        <p14:creationId xmlns:p14="http://schemas.microsoft.com/office/powerpoint/2010/main" val="66011847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childTnLst>
                          </p:cTn>
                        </p:par>
                        <p:par>
                          <p:cTn id="17" fill="hold">
                            <p:stCondLst>
                              <p:cond delay="500"/>
                            </p:stCondLst>
                            <p:childTnLst>
                              <p:par>
                                <p:cTn id="18" presetID="10" presetClass="entr" presetSubtype="0" fill="hold" nodeType="after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Effect transition="in" filter="fade">
                                      <p:cBhvr>
                                        <p:cTn id="20"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EA42B-E093-9B57-2B8F-E519C81D71BD}"/>
              </a:ext>
            </a:extLst>
          </p:cNvPr>
          <p:cNvSpPr>
            <a:spLocks noGrp="1"/>
          </p:cNvSpPr>
          <p:nvPr>
            <p:ph type="title"/>
          </p:nvPr>
        </p:nvSpPr>
        <p:spPr/>
        <p:txBody>
          <a:bodyPr>
            <a:normAutofit/>
          </a:bodyPr>
          <a:lstStyle/>
          <a:p>
            <a:r>
              <a:rPr lang="vi-VN"/>
              <a:t>V. Kết quả và đánh giá</a:t>
            </a:r>
          </a:p>
        </p:txBody>
      </p:sp>
      <mc:AlternateContent xmlns:mc="http://schemas.openxmlformats.org/markup-compatibility/2006">
        <mc:Choice xmlns:a14="http://schemas.microsoft.com/office/drawing/2010/main" Requires="a14">
          <p:sp>
            <p:nvSpPr>
              <p:cNvPr id="13" name="Content Placeholder 12">
                <a:extLst>
                  <a:ext uri="{FF2B5EF4-FFF2-40B4-BE49-F238E27FC236}">
                    <a16:creationId xmlns:a16="http://schemas.microsoft.com/office/drawing/2014/main" id="{9A45312C-14A3-5A47-C4F0-0775BB998831}"/>
                  </a:ext>
                </a:extLst>
              </p:cNvPr>
              <p:cNvSpPr>
                <a:spLocks noGrp="1"/>
              </p:cNvSpPr>
              <p:nvPr>
                <p:ph idx="1"/>
              </p:nvPr>
            </p:nvSpPr>
            <p:spPr/>
            <p:txBody>
              <a:bodyPr/>
              <a:lstStyle/>
              <a:p>
                <a:r>
                  <a:rPr lang="vi-VN" b="1"/>
                  <a:t>Độ thiện cảm tích lũy (</a:t>
                </a:r>
                <a:r>
                  <a:rPr lang="vi-VN" b="1" i="1"/>
                  <a:t>Cumulative</a:t>
                </a:r>
                <a:r>
                  <a:rPr lang="vi-VN" i="1"/>
                  <a:t> </a:t>
                </a:r>
                <a:r>
                  <a:rPr lang="vi-VN" b="1" i="1"/>
                  <a:t>likability</a:t>
                </a:r>
                <a:r>
                  <a:rPr lang="vi-VN" b="1"/>
                  <a:t>)</a:t>
                </a:r>
                <a:r>
                  <a:rPr lang="vi-VN"/>
                  <a:t>:</a:t>
                </a:r>
              </a:p>
              <a:p>
                <a:pPr lvl="1"/>
                <a:r>
                  <a:rPr lang="vi-VN" b="1"/>
                  <a:t>Thang điểm</a:t>
                </a:r>
                <a:r>
                  <a:rPr lang="vi-VN"/>
                  <a:t>: 1-10 (</a:t>
                </a:r>
                <a:r>
                  <a:rPr lang="vi-VN" i="1"/>
                  <a:t>rất khó chịu - rất thân thiện</a:t>
                </a:r>
                <a:r>
                  <a:rPr lang="vi-VN"/>
                  <a:t>)</a:t>
                </a:r>
              </a:p>
              <a:p>
                <a:pPr lvl="1"/>
                <a:r>
                  <a:rPr lang="vi-VN" b="1"/>
                  <a:t>Tiêu chí</a:t>
                </a:r>
                <a:r>
                  <a:rPr lang="vi-VN"/>
                  <a:t>: Dựa trên sự tự nhiên của văn phong, lịch sự và thân thiện, rõ ràng trong cách trình bày, tốc độ phản hồi cảm nhận.</a:t>
                </a:r>
              </a:p>
              <a:p>
                <a:pPr lvl="1"/>
                <a:r>
                  <a:rPr lang="vi-VN" b="1"/>
                  <a:t>Công thức</a:t>
                </a:r>
                <a:r>
                  <a:rPr lang="vi-VN"/>
                  <a:t>: </a:t>
                </a:r>
                <a14:m>
                  <m:oMath xmlns:m="http://schemas.openxmlformats.org/officeDocument/2006/math">
                    <m:f>
                      <m:fPr>
                        <m:ctrlPr>
                          <a:rPr lang="vi-VN" i="1" smtClean="0">
                            <a:latin typeface="Cambria Math" panose="02040503050406030204" pitchFamily="18" charset="0"/>
                          </a:rPr>
                        </m:ctrlPr>
                      </m:fPr>
                      <m:num>
                        <m:sSub>
                          <m:sSubPr>
                            <m:ctrlPr>
                              <a:rPr lang="vi-VN" i="1" smtClean="0">
                                <a:latin typeface="Cambria Math" panose="02040503050406030204" pitchFamily="18" charset="0"/>
                              </a:rPr>
                            </m:ctrlPr>
                          </m:sSubPr>
                          <m:e>
                            <m:r>
                              <m:rPr>
                                <m:sty m:val="p"/>
                              </m:rPr>
                              <a:rPr lang="vi-VN" i="1">
                                <a:latin typeface="Cambria Math" panose="02040503050406030204" pitchFamily="18" charset="0"/>
                              </a:rPr>
                              <m:t>L</m:t>
                            </m:r>
                          </m:e>
                          <m:sub>
                            <m:r>
                              <m:rPr>
                                <m:sty m:val="p"/>
                              </m:rPr>
                              <a:rPr lang="vi-VN" i="1">
                                <a:latin typeface="Cambria Math" panose="02040503050406030204" pitchFamily="18" charset="0"/>
                              </a:rPr>
                              <m:t>n</m:t>
                            </m:r>
                          </m:sub>
                        </m:sSub>
                      </m:num>
                      <m:den>
                        <m:r>
                          <m:rPr>
                            <m:sty m:val="p"/>
                          </m:rPr>
                          <a:rPr lang="vi-VN" i="1">
                            <a:latin typeface="Cambria Math" panose="02040503050406030204" pitchFamily="18" charset="0"/>
                          </a:rPr>
                          <m:t>S</m:t>
                        </m:r>
                      </m:den>
                    </m:f>
                  </m:oMath>
                </a14:m>
                <a:endParaRPr lang="vi-VN"/>
              </a:p>
              <a:p>
                <a:pPr lvl="2"/>
                <a14:m>
                  <m:oMath xmlns:m="http://schemas.openxmlformats.org/officeDocument/2006/math">
                    <m:sSub>
                      <m:sSubPr>
                        <m:ctrlPr>
                          <a:rPr lang="vi-VN" i="1" smtClean="0">
                            <a:latin typeface="Cambria Math" panose="02040503050406030204" pitchFamily="18" charset="0"/>
                          </a:rPr>
                        </m:ctrlPr>
                      </m:sSubPr>
                      <m:e>
                        <m:r>
                          <m:rPr>
                            <m:sty m:val="p"/>
                          </m:rPr>
                          <a:rPr lang="vi-VN" i="1">
                            <a:latin typeface="Cambria Math" panose="02040503050406030204" pitchFamily="18" charset="0"/>
                          </a:rPr>
                          <m:t>L</m:t>
                        </m:r>
                      </m:e>
                      <m:sub>
                        <m:r>
                          <m:rPr>
                            <m:sty m:val="p"/>
                          </m:rPr>
                          <a:rPr lang="vi-VN" i="1">
                            <a:latin typeface="Cambria Math" panose="02040503050406030204" pitchFamily="18" charset="0"/>
                          </a:rPr>
                          <m:t>n</m:t>
                        </m:r>
                      </m:sub>
                    </m:sSub>
                  </m:oMath>
                </a14:m>
                <a:r>
                  <a:rPr lang="vi-VN"/>
                  <a:t> là giá trị trung bình ở mốc </a:t>
                </a:r>
                <a14:m>
                  <m:oMath xmlns:m="http://schemas.openxmlformats.org/officeDocument/2006/math">
                    <m:r>
                      <m:rPr>
                        <m:sty m:val="p"/>
                      </m:rPr>
                      <a:rPr lang="vi-VN">
                        <a:latin typeface="Cambria Math" panose="02040503050406030204" pitchFamily="18" charset="0"/>
                      </a:rPr>
                      <m:t>n</m:t>
                    </m:r>
                  </m:oMath>
                </a14:m>
                <a:r>
                  <a:rPr lang="vi-VN"/>
                  <a:t> lượt (</a:t>
                </a:r>
                <a14:m>
                  <m:oMath xmlns:m="http://schemas.openxmlformats.org/officeDocument/2006/math">
                    <m:r>
                      <m:rPr>
                        <m:sty m:val="p"/>
                      </m:rPr>
                      <a:rPr lang="vi-VN" i="1">
                        <a:latin typeface="Cambria Math" panose="02040503050406030204" pitchFamily="18" charset="0"/>
                        <a:ea typeface="Cambria Math" panose="02040503050406030204" pitchFamily="18" charset="0"/>
                      </a:rPr>
                      <m:t>n</m:t>
                    </m:r>
                    <m:r>
                      <a:rPr lang="vi-VN" i="1" smtClean="0">
                        <a:latin typeface="Cambria Math" panose="02040503050406030204" pitchFamily="18" charset="0"/>
                        <a:ea typeface="Cambria Math" panose="02040503050406030204" pitchFamily="18" charset="0"/>
                      </a:rPr>
                      <m:t>𝜖</m:t>
                    </m:r>
                    <m:d>
                      <m:dPr>
                        <m:begChr m:val="{"/>
                        <m:endChr m:val="}"/>
                        <m:ctrlPr>
                          <a:rPr lang="vi-VN" i="1" smtClean="0">
                            <a:latin typeface="Cambria Math" panose="02040503050406030204" pitchFamily="18" charset="0"/>
                            <a:ea typeface="Cambria Math" panose="02040503050406030204" pitchFamily="18" charset="0"/>
                          </a:rPr>
                        </m:ctrlPr>
                      </m:dPr>
                      <m:e>
                        <m:r>
                          <a:rPr lang="vi-VN" i="1">
                            <a:latin typeface="Cambria Math" panose="02040503050406030204" pitchFamily="18" charset="0"/>
                            <a:ea typeface="Cambria Math" panose="02040503050406030204" pitchFamily="18" charset="0"/>
                          </a:rPr>
                          <m:t>5</m:t>
                        </m:r>
                        <m:r>
                          <a:rPr lang="vi-VN" b="0" i="1" smtClean="0">
                            <a:latin typeface="Cambria Math" panose="02040503050406030204" pitchFamily="18" charset="0"/>
                            <a:ea typeface="Cambria Math" panose="02040503050406030204" pitchFamily="18" charset="0"/>
                          </a:rPr>
                          <m:t>, </m:t>
                        </m:r>
                        <m:r>
                          <a:rPr lang="vi-VN" i="1">
                            <a:latin typeface="Cambria Math" panose="02040503050406030204" pitchFamily="18" charset="0"/>
                            <a:ea typeface="Cambria Math" panose="02040503050406030204" pitchFamily="18" charset="0"/>
                          </a:rPr>
                          <m:t>10</m:t>
                        </m:r>
                        <m:r>
                          <a:rPr lang="vi-VN" b="0" i="1" smtClean="0">
                            <a:latin typeface="Cambria Math" panose="02040503050406030204" pitchFamily="18" charset="0"/>
                            <a:ea typeface="Cambria Math" panose="02040503050406030204" pitchFamily="18" charset="0"/>
                          </a:rPr>
                          <m:t>, </m:t>
                        </m:r>
                        <m:r>
                          <a:rPr lang="vi-VN" i="1">
                            <a:latin typeface="Cambria Math" panose="02040503050406030204" pitchFamily="18" charset="0"/>
                            <a:ea typeface="Cambria Math" panose="02040503050406030204" pitchFamily="18" charset="0"/>
                          </a:rPr>
                          <m:t>15</m:t>
                        </m:r>
                      </m:e>
                    </m:d>
                  </m:oMath>
                </a14:m>
                <a:r>
                  <a:rPr lang="vi-VN"/>
                  <a:t>)</a:t>
                </a:r>
              </a:p>
              <a:p>
                <a:pPr lvl="2"/>
                <a14:m>
                  <m:oMath xmlns:m="http://schemas.openxmlformats.org/officeDocument/2006/math">
                    <m:r>
                      <m:rPr>
                        <m:sty m:val="p"/>
                      </m:rPr>
                      <a:rPr lang="vi-VN" i="1" smtClean="0">
                        <a:latin typeface="Cambria Math" panose="02040503050406030204" pitchFamily="18" charset="0"/>
                      </a:rPr>
                      <m:t>S</m:t>
                    </m:r>
                  </m:oMath>
                </a14:m>
                <a:r>
                  <a:rPr lang="vi-VN"/>
                  <a:t> là số phiên</a:t>
                </a:r>
              </a:p>
            </p:txBody>
          </p:sp>
        </mc:Choice>
        <mc:Fallback>
          <p:sp>
            <p:nvSpPr>
              <p:cNvPr id="13" name="Content Placeholder 12">
                <a:extLst>
                  <a:ext uri="{FF2B5EF4-FFF2-40B4-BE49-F238E27FC236}">
                    <a16:creationId xmlns:a16="http://schemas.microsoft.com/office/drawing/2014/main" id="{9A45312C-14A3-5A47-C4F0-0775BB998831}"/>
                  </a:ext>
                </a:extLst>
              </p:cNvPr>
              <p:cNvSpPr>
                <a:spLocks noGrp="1" noRot="1" noChangeAspect="1" noMove="1" noResize="1" noEditPoints="1" noAdjustHandles="1" noChangeArrowheads="1" noChangeShapeType="1" noTextEdit="1"/>
              </p:cNvSpPr>
              <p:nvPr>
                <p:ph idx="1"/>
              </p:nvPr>
            </p:nvSpPr>
            <p:spPr>
              <a:blipFill>
                <a:blip r:embed="rId2"/>
                <a:stretch>
                  <a:fillRect l="-1043" t="-2203"/>
                </a:stretch>
              </a:blipFill>
            </p:spPr>
            <p:txBody>
              <a:bodyPr/>
              <a:lstStyle/>
              <a:p>
                <a:r>
                  <a:rPr lang="vi-VN">
                    <a:noFill/>
                  </a:rPr>
                  <a:t> </a:t>
                </a:r>
              </a:p>
            </p:txBody>
          </p:sp>
        </mc:Fallback>
      </mc:AlternateContent>
    </p:spTree>
    <p:extLst>
      <p:ext uri="{BB962C8B-B14F-4D97-AF65-F5344CB8AC3E}">
        <p14:creationId xmlns:p14="http://schemas.microsoft.com/office/powerpoint/2010/main" val="304781230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animEffect transition="in" filter="fade">
                                      <p:cBhvr>
                                        <p:cTn id="7" dur="500"/>
                                        <p:tgtEl>
                                          <p:spTgt spid="1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3">
                                            <p:txEl>
                                              <p:pRg st="1" end="1"/>
                                            </p:txEl>
                                          </p:spTgt>
                                        </p:tgtEl>
                                        <p:attrNameLst>
                                          <p:attrName>style.visibility</p:attrName>
                                        </p:attrNameLst>
                                      </p:cBhvr>
                                      <p:to>
                                        <p:strVal val="visible"/>
                                      </p:to>
                                    </p:set>
                                    <p:animEffect transition="in" filter="fade">
                                      <p:cBhvr>
                                        <p:cTn id="10" dur="500"/>
                                        <p:tgtEl>
                                          <p:spTgt spid="1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13">
                                            <p:txEl>
                                              <p:pRg st="2" end="2"/>
                                            </p:txEl>
                                          </p:spTgt>
                                        </p:tgtEl>
                                        <p:attrNameLst>
                                          <p:attrName>style.visibility</p:attrName>
                                        </p:attrNameLst>
                                      </p:cBhvr>
                                      <p:to>
                                        <p:strVal val="visible"/>
                                      </p:to>
                                    </p:set>
                                    <p:animEffect transition="in" filter="fade">
                                      <p:cBhvr>
                                        <p:cTn id="13" dur="500"/>
                                        <p:tgtEl>
                                          <p:spTgt spid="1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13">
                                            <p:txEl>
                                              <p:pRg st="3" end="3"/>
                                            </p:txEl>
                                          </p:spTgt>
                                        </p:tgtEl>
                                        <p:attrNameLst>
                                          <p:attrName>style.visibility</p:attrName>
                                        </p:attrNameLst>
                                      </p:cBhvr>
                                      <p:to>
                                        <p:strVal val="visible"/>
                                      </p:to>
                                    </p:set>
                                    <p:animEffect transition="in" filter="fade">
                                      <p:cBhvr>
                                        <p:cTn id="16" dur="500"/>
                                        <p:tgtEl>
                                          <p:spTgt spid="13">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animEffect transition="in" filter="fade">
                                      <p:cBhvr>
                                        <p:cTn id="19" dur="500"/>
                                        <p:tgtEl>
                                          <p:spTgt spid="13">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13">
                                            <p:txEl>
                                              <p:pRg st="5" end="5"/>
                                            </p:txEl>
                                          </p:spTgt>
                                        </p:tgtEl>
                                        <p:attrNameLst>
                                          <p:attrName>style.visibility</p:attrName>
                                        </p:attrNameLst>
                                      </p:cBhvr>
                                      <p:to>
                                        <p:strVal val="visible"/>
                                      </p:to>
                                    </p:set>
                                    <p:animEffect transition="in" filter="fade">
                                      <p:cBhvr>
                                        <p:cTn id="22" dur="500"/>
                                        <p:tgtEl>
                                          <p:spTgt spid="1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C97345-2527-E8C0-FDC6-6E5459CFC1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8DD0CF-001F-DC6B-C02D-5E330139977D}"/>
              </a:ext>
            </a:extLst>
          </p:cNvPr>
          <p:cNvSpPr>
            <a:spLocks noGrp="1"/>
          </p:cNvSpPr>
          <p:nvPr>
            <p:ph type="title"/>
          </p:nvPr>
        </p:nvSpPr>
        <p:spPr/>
        <p:txBody>
          <a:bodyPr>
            <a:normAutofit/>
          </a:bodyPr>
          <a:lstStyle/>
          <a:p>
            <a:r>
              <a:rPr lang="vi-VN"/>
              <a:t>V. Kết quả và đánh giá</a:t>
            </a:r>
          </a:p>
        </p:txBody>
      </p:sp>
      <mc:AlternateContent xmlns:mc="http://schemas.openxmlformats.org/markup-compatibility/2006">
        <mc:Choice xmlns:a14="http://schemas.microsoft.com/office/drawing/2010/main" Requires="a14">
          <p:sp>
            <p:nvSpPr>
              <p:cNvPr id="13" name="Content Placeholder 12">
                <a:extLst>
                  <a:ext uri="{FF2B5EF4-FFF2-40B4-BE49-F238E27FC236}">
                    <a16:creationId xmlns:a16="http://schemas.microsoft.com/office/drawing/2014/main" id="{9F980B15-0E56-024C-6F81-FFC9D1E10702}"/>
                  </a:ext>
                </a:extLst>
              </p:cNvPr>
              <p:cNvSpPr>
                <a:spLocks noGrp="1"/>
              </p:cNvSpPr>
              <p:nvPr>
                <p:ph idx="1"/>
              </p:nvPr>
            </p:nvSpPr>
            <p:spPr/>
            <p:txBody>
              <a:bodyPr/>
              <a:lstStyle/>
              <a:p>
                <a:r>
                  <a:rPr lang="vi-VN" b="1"/>
                  <a:t>Độ thiện cảm tích lũy (</a:t>
                </a:r>
                <a:r>
                  <a:rPr lang="vi-VN" b="1" i="1"/>
                  <a:t>Cumulative</a:t>
                </a:r>
                <a:r>
                  <a:rPr lang="vi-VN" i="1"/>
                  <a:t> </a:t>
                </a:r>
                <a:r>
                  <a:rPr lang="vi-VN" b="1" i="1"/>
                  <a:t>likability</a:t>
                </a:r>
                <a:r>
                  <a:rPr lang="vi-VN" b="1"/>
                  <a:t>)</a:t>
                </a:r>
                <a:r>
                  <a:rPr lang="vi-VN"/>
                  <a:t>:</a:t>
                </a:r>
              </a:p>
              <a:p>
                <a:pPr lvl="1"/>
                <a:r>
                  <a:rPr lang="vi-VN"/>
                  <a:t>Trung bình:</a:t>
                </a:r>
              </a:p>
              <a:p>
                <a:pPr marL="914400" lvl="2" indent="0">
                  <a:buNone/>
                </a:pPr>
                <a14:m>
                  <m:oMathPara xmlns:m="http://schemas.openxmlformats.org/officeDocument/2006/math">
                    <m:oMathParaPr>
                      <m:jc m:val="centerGroup"/>
                    </m:oMathParaPr>
                    <m:oMath xmlns:m="http://schemas.openxmlformats.org/officeDocument/2006/math">
                      <m:sSub>
                        <m:sSubPr>
                          <m:ctrlPr>
                            <a:rPr lang="vi-VN" i="1" smtClean="0">
                              <a:latin typeface="Cambria Math" panose="02040503050406030204" pitchFamily="18" charset="0"/>
                            </a:rPr>
                          </m:ctrlPr>
                        </m:sSubPr>
                        <m:e>
                          <m:acc>
                            <m:accPr>
                              <m:chr m:val="̅"/>
                              <m:ctrlPr>
                                <a:rPr lang="vi-VN" i="1" smtClean="0">
                                  <a:latin typeface="Cambria Math" panose="02040503050406030204" pitchFamily="18" charset="0"/>
                                </a:rPr>
                              </m:ctrlPr>
                            </m:accPr>
                            <m:e>
                              <m:r>
                                <m:rPr>
                                  <m:sty m:val="p"/>
                                </m:rPr>
                                <a:rPr lang="vi-VN" i="1">
                                  <a:latin typeface="Cambria Math" panose="02040503050406030204" pitchFamily="18" charset="0"/>
                                </a:rPr>
                                <m:t>L</m:t>
                              </m:r>
                            </m:e>
                          </m:acc>
                        </m:e>
                        <m:sub>
                          <m:r>
                            <m:rPr>
                              <m:sty m:val="p"/>
                            </m:rPr>
                            <a:rPr lang="vi-VN" i="1">
                              <a:latin typeface="Cambria Math" panose="02040503050406030204" pitchFamily="18" charset="0"/>
                            </a:rPr>
                            <m:t>n</m:t>
                          </m:r>
                        </m:sub>
                      </m:sSub>
                      <m:r>
                        <a:rPr lang="vi-VN" b="0" i="1" smtClean="0">
                          <a:latin typeface="Cambria Math" panose="02040503050406030204" pitchFamily="18" charset="0"/>
                        </a:rPr>
                        <m:t>= </m:t>
                      </m:r>
                      <m:f>
                        <m:fPr>
                          <m:ctrlPr>
                            <a:rPr lang="vi-VN" b="0" i="1" smtClean="0">
                              <a:latin typeface="Cambria Math" panose="02040503050406030204" pitchFamily="18" charset="0"/>
                            </a:rPr>
                          </m:ctrlPr>
                        </m:fPr>
                        <m:num>
                          <m:r>
                            <a:rPr lang="vi-VN" i="1">
                              <a:latin typeface="Cambria Math" panose="02040503050406030204" pitchFamily="18" charset="0"/>
                            </a:rPr>
                            <m:t>1</m:t>
                          </m:r>
                        </m:num>
                        <m:den>
                          <m:r>
                            <m:rPr>
                              <m:sty m:val="p"/>
                            </m:rPr>
                            <a:rPr lang="vi-VN" i="1">
                              <a:latin typeface="Cambria Math" panose="02040503050406030204" pitchFamily="18" charset="0"/>
                            </a:rPr>
                            <m:t>n</m:t>
                          </m:r>
                        </m:den>
                      </m:f>
                      <m:nary>
                        <m:naryPr>
                          <m:chr m:val="∑"/>
                          <m:limLoc m:val="subSup"/>
                          <m:ctrlPr>
                            <a:rPr lang="vi-VN" b="0" i="1" smtClean="0">
                              <a:latin typeface="Cambria Math" panose="02040503050406030204" pitchFamily="18" charset="0"/>
                            </a:rPr>
                          </m:ctrlPr>
                        </m:naryPr>
                        <m:sub>
                          <m:r>
                            <m:rPr>
                              <m:sty m:val="p"/>
                              <m:brk m:alnAt="25"/>
                            </m:rPr>
                            <a:rPr lang="vi-VN" i="1">
                              <a:latin typeface="Cambria Math" panose="02040503050406030204" pitchFamily="18" charset="0"/>
                            </a:rPr>
                            <m:t>j</m:t>
                          </m:r>
                          <m:r>
                            <a:rPr lang="vi-VN" b="0" i="1" smtClean="0">
                              <a:latin typeface="Cambria Math" panose="02040503050406030204" pitchFamily="18" charset="0"/>
                            </a:rPr>
                            <m:t>=</m:t>
                          </m:r>
                          <m:r>
                            <m:rPr>
                              <m:brk m:alnAt="25"/>
                            </m:rPr>
                            <a:rPr lang="vi-VN" i="1">
                              <a:latin typeface="Cambria Math" panose="02040503050406030204" pitchFamily="18" charset="0"/>
                            </a:rPr>
                            <m:t>1</m:t>
                          </m:r>
                        </m:sub>
                        <m:sup>
                          <m:r>
                            <m:rPr>
                              <m:sty m:val="p"/>
                            </m:rPr>
                            <a:rPr lang="vi-VN" i="1">
                              <a:latin typeface="Cambria Math" panose="02040503050406030204" pitchFamily="18" charset="0"/>
                            </a:rPr>
                            <m:t>S</m:t>
                          </m:r>
                        </m:sup>
                        <m:e>
                          <m:sSub>
                            <m:sSubPr>
                              <m:ctrlPr>
                                <a:rPr lang="vi-VN" b="0" i="1" smtClean="0">
                                  <a:latin typeface="Cambria Math" panose="02040503050406030204" pitchFamily="18" charset="0"/>
                                </a:rPr>
                              </m:ctrlPr>
                            </m:sSubPr>
                            <m:e>
                              <m:r>
                                <m:rPr>
                                  <m:sty m:val="p"/>
                                </m:rPr>
                                <a:rPr lang="vi-VN" i="1">
                                  <a:latin typeface="Cambria Math" panose="02040503050406030204" pitchFamily="18" charset="0"/>
                                </a:rPr>
                                <m:t>L</m:t>
                              </m:r>
                            </m:e>
                            <m:sub>
                              <m:r>
                                <m:rPr>
                                  <m:sty m:val="p"/>
                                </m:rPr>
                                <a:rPr lang="vi-VN" i="1">
                                  <a:latin typeface="Cambria Math" panose="02040503050406030204" pitchFamily="18" charset="0"/>
                                </a:rPr>
                                <m:t>j</m:t>
                              </m:r>
                              <m:r>
                                <a:rPr lang="vi-VN" b="0" i="1" smtClean="0">
                                  <a:latin typeface="Cambria Math" panose="02040503050406030204" pitchFamily="18" charset="0"/>
                                </a:rPr>
                                <m:t>,</m:t>
                              </m:r>
                              <m:r>
                                <m:rPr>
                                  <m:sty m:val="p"/>
                                </m:rPr>
                                <a:rPr lang="vi-VN" i="1">
                                  <a:latin typeface="Cambria Math" panose="02040503050406030204" pitchFamily="18" charset="0"/>
                                </a:rPr>
                                <m:t>n</m:t>
                              </m:r>
                            </m:sub>
                          </m:sSub>
                        </m:e>
                      </m:nary>
                    </m:oMath>
                  </m:oMathPara>
                </a14:m>
                <a:endParaRPr lang="vi-VN"/>
              </a:p>
              <a:p>
                <a:pPr lvl="1"/>
                <a:r>
                  <a:rPr lang="vi-VN"/>
                  <a:t>Phương sai:</a:t>
                </a:r>
              </a:p>
              <a:p>
                <a:pPr marL="457200" lvl="1" indent="0">
                  <a:buNone/>
                </a:pPr>
                <a14:m>
                  <m:oMathPara xmlns:m="http://schemas.openxmlformats.org/officeDocument/2006/math">
                    <m:oMathParaPr>
                      <m:jc m:val="centerGroup"/>
                    </m:oMathParaPr>
                    <m:oMath xmlns:m="http://schemas.openxmlformats.org/officeDocument/2006/math">
                      <m:r>
                        <a:rPr lang="vi-VN" i="1" smtClean="0">
                          <a:latin typeface="Cambria Math" panose="02040503050406030204" pitchFamily="18" charset="0"/>
                          <a:ea typeface="Cambria Math" panose="02040503050406030204" pitchFamily="18" charset="0"/>
                        </a:rPr>
                        <m:t>𝜎</m:t>
                      </m:r>
                      <m:sSub>
                        <m:sSubPr>
                          <m:ctrlPr>
                            <a:rPr lang="vi-VN" i="1" smtClean="0">
                              <a:latin typeface="Cambria Math" panose="02040503050406030204" pitchFamily="18" charset="0"/>
                              <a:ea typeface="Cambria Math" panose="02040503050406030204" pitchFamily="18" charset="0"/>
                            </a:rPr>
                          </m:ctrlPr>
                        </m:sSubPr>
                        <m:e>
                          <m:r>
                            <m:rPr>
                              <m:sty m:val="p"/>
                            </m:rPr>
                            <a:rPr lang="vi-VN" i="1">
                              <a:latin typeface="Cambria Math" panose="02040503050406030204" pitchFamily="18" charset="0"/>
                              <a:ea typeface="Cambria Math" panose="02040503050406030204" pitchFamily="18" charset="0"/>
                            </a:rPr>
                            <m:t>L</m:t>
                          </m:r>
                        </m:e>
                        <m:sub>
                          <m:r>
                            <m:rPr>
                              <m:sty m:val="p"/>
                            </m:rPr>
                            <a:rPr lang="vi-VN" i="1">
                              <a:latin typeface="Cambria Math" panose="02040503050406030204" pitchFamily="18" charset="0"/>
                              <a:ea typeface="Cambria Math" panose="02040503050406030204" pitchFamily="18" charset="0"/>
                            </a:rPr>
                            <m:t>n</m:t>
                          </m:r>
                        </m:sub>
                      </m:sSub>
                      <m:r>
                        <a:rPr lang="vi-VN" b="0" i="1" smtClean="0">
                          <a:latin typeface="Cambria Math" panose="02040503050406030204" pitchFamily="18" charset="0"/>
                          <a:ea typeface="Cambria Math" panose="02040503050406030204" pitchFamily="18" charset="0"/>
                        </a:rPr>
                        <m:t>= </m:t>
                      </m:r>
                      <m:rad>
                        <m:radPr>
                          <m:degHide m:val="on"/>
                          <m:ctrlPr>
                            <a:rPr lang="vi-VN" b="0" i="1" smtClean="0">
                              <a:latin typeface="Cambria Math" panose="02040503050406030204" pitchFamily="18" charset="0"/>
                              <a:ea typeface="Cambria Math" panose="02040503050406030204" pitchFamily="18" charset="0"/>
                            </a:rPr>
                          </m:ctrlPr>
                        </m:radPr>
                        <m:deg/>
                        <m:e>
                          <m:f>
                            <m:fPr>
                              <m:ctrlPr>
                                <a:rPr lang="vi-VN" b="0" i="1" smtClean="0">
                                  <a:latin typeface="Cambria Math" panose="02040503050406030204" pitchFamily="18" charset="0"/>
                                  <a:ea typeface="Cambria Math" panose="02040503050406030204" pitchFamily="18" charset="0"/>
                                </a:rPr>
                              </m:ctrlPr>
                            </m:fPr>
                            <m:num>
                              <m:r>
                                <a:rPr lang="vi-VN" i="1">
                                  <a:latin typeface="Cambria Math" panose="02040503050406030204" pitchFamily="18" charset="0"/>
                                  <a:ea typeface="Cambria Math" panose="02040503050406030204" pitchFamily="18" charset="0"/>
                                </a:rPr>
                                <m:t>1</m:t>
                              </m:r>
                            </m:num>
                            <m:den>
                              <m:r>
                                <m:rPr>
                                  <m:sty m:val="p"/>
                                </m:rPr>
                                <a:rPr lang="vi-VN" i="1">
                                  <a:latin typeface="Cambria Math" panose="02040503050406030204" pitchFamily="18" charset="0"/>
                                  <a:ea typeface="Cambria Math" panose="02040503050406030204" pitchFamily="18" charset="0"/>
                                </a:rPr>
                                <m:t>S</m:t>
                              </m:r>
                              <m:r>
                                <a:rPr lang="vi-VN" b="0" i="1" smtClean="0">
                                  <a:latin typeface="Cambria Math" panose="02040503050406030204" pitchFamily="18" charset="0"/>
                                  <a:ea typeface="Cambria Math" panose="02040503050406030204" pitchFamily="18" charset="0"/>
                                </a:rPr>
                                <m:t>-</m:t>
                              </m:r>
                              <m:r>
                                <a:rPr lang="vi-VN" i="1">
                                  <a:latin typeface="Cambria Math" panose="02040503050406030204" pitchFamily="18" charset="0"/>
                                  <a:ea typeface="Cambria Math" panose="02040503050406030204" pitchFamily="18" charset="0"/>
                                </a:rPr>
                                <m:t>1</m:t>
                              </m:r>
                            </m:den>
                          </m:f>
                        </m:e>
                      </m:rad>
                      <m:nary>
                        <m:naryPr>
                          <m:chr m:val="∑"/>
                          <m:limLoc m:val="subSup"/>
                          <m:ctrlPr>
                            <a:rPr lang="vi-VN" b="0" i="1" smtClean="0">
                              <a:latin typeface="Cambria Math" panose="02040503050406030204" pitchFamily="18" charset="0"/>
                              <a:ea typeface="Cambria Math" panose="02040503050406030204" pitchFamily="18" charset="0"/>
                            </a:rPr>
                          </m:ctrlPr>
                        </m:naryPr>
                        <m:sub>
                          <m:r>
                            <m:rPr>
                              <m:sty m:val="p"/>
                              <m:brk m:alnAt="25"/>
                            </m:rPr>
                            <a:rPr lang="vi-VN" i="1">
                              <a:latin typeface="Cambria Math" panose="02040503050406030204" pitchFamily="18" charset="0"/>
                              <a:ea typeface="Cambria Math" panose="02040503050406030204" pitchFamily="18" charset="0"/>
                            </a:rPr>
                            <m:t>j</m:t>
                          </m:r>
                          <m:r>
                            <a:rPr lang="vi-VN" b="0" i="1" smtClean="0">
                              <a:latin typeface="Cambria Math" panose="02040503050406030204" pitchFamily="18" charset="0"/>
                              <a:ea typeface="Cambria Math" panose="02040503050406030204" pitchFamily="18" charset="0"/>
                            </a:rPr>
                            <m:t>=</m:t>
                          </m:r>
                          <m:r>
                            <m:rPr>
                              <m:brk m:alnAt="25"/>
                            </m:rPr>
                            <a:rPr lang="vi-VN" i="1">
                              <a:latin typeface="Cambria Math" panose="02040503050406030204" pitchFamily="18" charset="0"/>
                              <a:ea typeface="Cambria Math" panose="02040503050406030204" pitchFamily="18" charset="0"/>
                            </a:rPr>
                            <m:t>1</m:t>
                          </m:r>
                        </m:sub>
                        <m:sup>
                          <m:r>
                            <m:rPr>
                              <m:sty m:val="p"/>
                            </m:rPr>
                            <a:rPr lang="vi-VN" i="1">
                              <a:latin typeface="Cambria Math" panose="02040503050406030204" pitchFamily="18" charset="0"/>
                              <a:ea typeface="Cambria Math" panose="02040503050406030204" pitchFamily="18" charset="0"/>
                            </a:rPr>
                            <m:t>S</m:t>
                          </m:r>
                        </m:sup>
                        <m:e>
                          <m:sSup>
                            <m:sSupPr>
                              <m:ctrlPr>
                                <a:rPr lang="vi-VN" b="0" i="1" smtClean="0">
                                  <a:latin typeface="Cambria Math" panose="02040503050406030204" pitchFamily="18" charset="0"/>
                                  <a:ea typeface="Cambria Math" panose="02040503050406030204" pitchFamily="18" charset="0"/>
                                </a:rPr>
                              </m:ctrlPr>
                            </m:sSupPr>
                            <m:e>
                              <m:r>
                                <a:rPr lang="vi-VN" i="1">
                                  <a:latin typeface="Cambria Math" panose="02040503050406030204" pitchFamily="18" charset="0"/>
                                  <a:ea typeface="Cambria Math" panose="02040503050406030204" pitchFamily="18" charset="0"/>
                                </a:rPr>
                                <m:t>(</m:t>
                              </m:r>
                              <m:sSub>
                                <m:sSubPr>
                                  <m:ctrlPr>
                                    <a:rPr lang="vi-VN" i="1">
                                      <a:latin typeface="Cambria Math" panose="02040503050406030204" pitchFamily="18" charset="0"/>
                                      <a:ea typeface="Cambria Math" panose="02040503050406030204" pitchFamily="18" charset="0"/>
                                    </a:rPr>
                                  </m:ctrlPr>
                                </m:sSubPr>
                                <m:e>
                                  <m:r>
                                    <m:rPr>
                                      <m:sty m:val="p"/>
                                    </m:rPr>
                                    <a:rPr lang="vi-VN" i="1">
                                      <a:latin typeface="Cambria Math" panose="02040503050406030204" pitchFamily="18" charset="0"/>
                                      <a:ea typeface="Cambria Math" panose="02040503050406030204" pitchFamily="18" charset="0"/>
                                    </a:rPr>
                                    <m:t>L</m:t>
                                  </m:r>
                                </m:e>
                                <m:sub>
                                  <m:r>
                                    <m:rPr>
                                      <m:sty m:val="p"/>
                                    </m:rPr>
                                    <a:rPr lang="vi-VN" i="1">
                                      <a:latin typeface="Cambria Math" panose="02040503050406030204" pitchFamily="18" charset="0"/>
                                      <a:ea typeface="Cambria Math" panose="02040503050406030204" pitchFamily="18" charset="0"/>
                                    </a:rPr>
                                    <m:t>j</m:t>
                                  </m:r>
                                  <m:r>
                                    <a:rPr lang="vi-VN" i="1">
                                      <a:latin typeface="Cambria Math" panose="02040503050406030204" pitchFamily="18" charset="0"/>
                                      <a:ea typeface="Cambria Math" panose="02040503050406030204" pitchFamily="18" charset="0"/>
                                    </a:rPr>
                                    <m:t>,</m:t>
                                  </m:r>
                                  <m:r>
                                    <m:rPr>
                                      <m:sty m:val="p"/>
                                    </m:rPr>
                                    <a:rPr lang="vi-VN" i="1">
                                      <a:latin typeface="Cambria Math" panose="02040503050406030204" pitchFamily="18" charset="0"/>
                                      <a:ea typeface="Cambria Math" panose="02040503050406030204" pitchFamily="18" charset="0"/>
                                    </a:rPr>
                                    <m:t>n</m:t>
                                  </m:r>
                                </m:sub>
                              </m:sSub>
                              <m:r>
                                <a:rPr lang="vi-VN" i="1">
                                  <a:latin typeface="Cambria Math" panose="02040503050406030204" pitchFamily="18" charset="0"/>
                                  <a:ea typeface="Cambria Math" panose="02040503050406030204" pitchFamily="18" charset="0"/>
                                </a:rPr>
                                <m:t>−</m:t>
                              </m:r>
                              <m:sSub>
                                <m:sSubPr>
                                  <m:ctrlPr>
                                    <a:rPr lang="vi-VN" i="1">
                                      <a:latin typeface="Cambria Math" panose="02040503050406030204" pitchFamily="18" charset="0"/>
                                    </a:rPr>
                                  </m:ctrlPr>
                                </m:sSubPr>
                                <m:e>
                                  <m:acc>
                                    <m:accPr>
                                      <m:chr m:val="̅"/>
                                      <m:ctrlPr>
                                        <a:rPr lang="vi-VN" i="1">
                                          <a:latin typeface="Cambria Math" panose="02040503050406030204" pitchFamily="18" charset="0"/>
                                        </a:rPr>
                                      </m:ctrlPr>
                                    </m:accPr>
                                    <m:e>
                                      <m:r>
                                        <m:rPr>
                                          <m:sty m:val="p"/>
                                        </m:rPr>
                                        <a:rPr lang="vi-VN" i="1">
                                          <a:latin typeface="Cambria Math" panose="02040503050406030204" pitchFamily="18" charset="0"/>
                                        </a:rPr>
                                        <m:t>L</m:t>
                                      </m:r>
                                    </m:e>
                                  </m:acc>
                                </m:e>
                                <m:sub>
                                  <m:r>
                                    <m:rPr>
                                      <m:sty m:val="p"/>
                                    </m:rPr>
                                    <a:rPr lang="vi-VN" i="1">
                                      <a:latin typeface="Cambria Math" panose="02040503050406030204" pitchFamily="18" charset="0"/>
                                    </a:rPr>
                                    <m:t>n</m:t>
                                  </m:r>
                                </m:sub>
                              </m:sSub>
                              <m:r>
                                <a:rPr lang="vi-VN" b="0" i="1" smtClean="0">
                                  <a:latin typeface="Cambria Math" panose="02040503050406030204" pitchFamily="18" charset="0"/>
                                </a:rPr>
                                <m:t>)</m:t>
                              </m:r>
                            </m:e>
                            <m:sup>
                              <m:r>
                                <a:rPr lang="vi-VN" i="1">
                                  <a:latin typeface="Cambria Math" panose="02040503050406030204" pitchFamily="18" charset="0"/>
                                  <a:ea typeface="Cambria Math" panose="02040503050406030204" pitchFamily="18" charset="0"/>
                                </a:rPr>
                                <m:t>2</m:t>
                              </m:r>
                            </m:sup>
                          </m:sSup>
                        </m:e>
                      </m:nary>
                    </m:oMath>
                  </m:oMathPara>
                </a14:m>
                <a:endParaRPr lang="vi-VN"/>
              </a:p>
            </p:txBody>
          </p:sp>
        </mc:Choice>
        <mc:Fallback>
          <p:sp>
            <p:nvSpPr>
              <p:cNvPr id="13" name="Content Placeholder 12">
                <a:extLst>
                  <a:ext uri="{FF2B5EF4-FFF2-40B4-BE49-F238E27FC236}">
                    <a16:creationId xmlns:a16="http://schemas.microsoft.com/office/drawing/2014/main" id="{9F980B15-0E56-024C-6F81-FFC9D1E10702}"/>
                  </a:ext>
                </a:extLst>
              </p:cNvPr>
              <p:cNvSpPr>
                <a:spLocks noGrp="1" noRot="1" noChangeAspect="1" noMove="1" noResize="1" noEditPoints="1" noAdjustHandles="1" noChangeArrowheads="1" noChangeShapeType="1" noTextEdit="1"/>
              </p:cNvSpPr>
              <p:nvPr>
                <p:ph idx="1"/>
              </p:nvPr>
            </p:nvSpPr>
            <p:spPr>
              <a:blipFill>
                <a:blip r:embed="rId2"/>
                <a:stretch>
                  <a:fillRect l="-1043" t="-2203"/>
                </a:stretch>
              </a:blipFill>
            </p:spPr>
            <p:txBody>
              <a:bodyPr/>
              <a:lstStyle/>
              <a:p>
                <a:r>
                  <a:rPr lang="vi-VN">
                    <a:noFill/>
                  </a:rPr>
                  <a:t> </a:t>
                </a:r>
              </a:p>
            </p:txBody>
          </p:sp>
        </mc:Fallback>
      </mc:AlternateContent>
    </p:spTree>
    <p:extLst>
      <p:ext uri="{BB962C8B-B14F-4D97-AF65-F5344CB8AC3E}">
        <p14:creationId xmlns:p14="http://schemas.microsoft.com/office/powerpoint/2010/main" val="254890202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animEffect transition="in" filter="fade">
                                      <p:cBhvr>
                                        <p:cTn id="7" dur="500"/>
                                        <p:tgtEl>
                                          <p:spTgt spid="1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3">
                                            <p:txEl>
                                              <p:pRg st="1" end="1"/>
                                            </p:txEl>
                                          </p:spTgt>
                                        </p:tgtEl>
                                        <p:attrNameLst>
                                          <p:attrName>style.visibility</p:attrName>
                                        </p:attrNameLst>
                                      </p:cBhvr>
                                      <p:to>
                                        <p:strVal val="visible"/>
                                      </p:to>
                                    </p:set>
                                    <p:animEffect transition="in" filter="fade">
                                      <p:cBhvr>
                                        <p:cTn id="10" dur="500"/>
                                        <p:tgtEl>
                                          <p:spTgt spid="1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13">
                                            <p:txEl>
                                              <p:pRg st="2" end="2"/>
                                            </p:txEl>
                                          </p:spTgt>
                                        </p:tgtEl>
                                        <p:attrNameLst>
                                          <p:attrName>style.visibility</p:attrName>
                                        </p:attrNameLst>
                                      </p:cBhvr>
                                      <p:to>
                                        <p:strVal val="visible"/>
                                      </p:to>
                                    </p:set>
                                    <p:animEffect transition="in" filter="fade">
                                      <p:cBhvr>
                                        <p:cTn id="13" dur="500"/>
                                        <p:tgtEl>
                                          <p:spTgt spid="1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13">
                                            <p:txEl>
                                              <p:pRg st="3" end="3"/>
                                            </p:txEl>
                                          </p:spTgt>
                                        </p:tgtEl>
                                        <p:attrNameLst>
                                          <p:attrName>style.visibility</p:attrName>
                                        </p:attrNameLst>
                                      </p:cBhvr>
                                      <p:to>
                                        <p:strVal val="visible"/>
                                      </p:to>
                                    </p:set>
                                    <p:animEffect transition="in" filter="fade">
                                      <p:cBhvr>
                                        <p:cTn id="16" dur="500"/>
                                        <p:tgtEl>
                                          <p:spTgt spid="13">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animEffect transition="in" filter="fade">
                                      <p:cBhvr>
                                        <p:cTn id="19" dur="500"/>
                                        <p:tgtEl>
                                          <p:spTgt spid="1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187DA8-93C7-9D8B-3579-503258B66DBB}"/>
              </a:ext>
            </a:extLst>
          </p:cNvPr>
          <p:cNvSpPr>
            <a:spLocks noGrp="1"/>
          </p:cNvSpPr>
          <p:nvPr>
            <p:ph type="title"/>
          </p:nvPr>
        </p:nvSpPr>
        <p:spPr/>
        <p:txBody>
          <a:bodyPr>
            <a:normAutofit/>
          </a:bodyPr>
          <a:lstStyle/>
          <a:p>
            <a:r>
              <a:rPr lang="vi-VN"/>
              <a:t>V. Kết quả và đánh giá</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8B06D146-3B26-864E-5F61-7B1C072768A2}"/>
                  </a:ext>
                </a:extLst>
              </p:cNvPr>
              <p:cNvSpPr>
                <a:spLocks noGrp="1"/>
              </p:cNvSpPr>
              <p:nvPr>
                <p:ph idx="1"/>
              </p:nvPr>
            </p:nvSpPr>
            <p:spPr/>
            <p:txBody>
              <a:bodyPr/>
              <a:lstStyle/>
              <a:p>
                <a:r>
                  <a:rPr lang="vi-VN" b="1"/>
                  <a:t>Độ chính xác tích lũy (</a:t>
                </a:r>
                <a:r>
                  <a:rPr lang="vi-VN" b="1" i="1"/>
                  <a:t>Cumulative accuracy</a:t>
                </a:r>
                <a:r>
                  <a:rPr lang="vi-VN" b="1"/>
                  <a:t>)</a:t>
                </a:r>
                <a:r>
                  <a:rPr lang="vi-VN"/>
                  <a:t>:</a:t>
                </a:r>
              </a:p>
              <a:p>
                <a:pPr lvl="1"/>
                <a:r>
                  <a:rPr lang="vi-VN"/>
                  <a:t>Với mỗi phiên </a:t>
                </a:r>
                <a14:m>
                  <m:oMath xmlns:m="http://schemas.openxmlformats.org/officeDocument/2006/math">
                    <m:r>
                      <m:rPr>
                        <m:sty m:val="p"/>
                      </m:rPr>
                      <a:rPr lang="vi-VN">
                        <a:latin typeface="Cambria Math" panose="02040503050406030204" pitchFamily="18" charset="0"/>
                      </a:rPr>
                      <m:t>j</m:t>
                    </m:r>
                  </m:oMath>
                </a14:m>
                <a:r>
                  <a:rPr lang="vi-VN"/>
                  <a:t> tại mốc </a:t>
                </a:r>
                <a14:m>
                  <m:oMath xmlns:m="http://schemas.openxmlformats.org/officeDocument/2006/math">
                    <m:r>
                      <m:rPr>
                        <m:sty m:val="p"/>
                      </m:rPr>
                      <a:rPr lang="vi-VN">
                        <a:latin typeface="Cambria Math" panose="02040503050406030204" pitchFamily="18" charset="0"/>
                      </a:rPr>
                      <m:t>n</m:t>
                    </m:r>
                  </m:oMath>
                </a14:m>
                <a:r>
                  <a:rPr lang="vi-VN"/>
                  <a:t> lượt, định nghĩa:</a:t>
                </a:r>
              </a:p>
              <a:p>
                <a:pPr marL="457200" lvl="1" indent="0">
                  <a:buNone/>
                </a:pPr>
                <a14:m>
                  <m:oMathPara xmlns:m="http://schemas.openxmlformats.org/officeDocument/2006/math">
                    <m:oMathParaPr>
                      <m:jc m:val="centerGroup"/>
                    </m:oMathParaPr>
                    <m:oMath xmlns:m="http://schemas.openxmlformats.org/officeDocument/2006/math">
                      <m:r>
                        <m:rPr>
                          <m:sty m:val="p"/>
                        </m:rPr>
                        <a:rPr lang="vi-VN" i="1">
                          <a:latin typeface="Cambria Math" panose="02040503050406030204" pitchFamily="18" charset="0"/>
                        </a:rPr>
                        <m:t>ac</m:t>
                      </m:r>
                      <m:sSub>
                        <m:sSubPr>
                          <m:ctrlPr>
                            <a:rPr lang="vi-VN" i="1" smtClean="0">
                              <a:latin typeface="Cambria Math" panose="02040503050406030204" pitchFamily="18" charset="0"/>
                            </a:rPr>
                          </m:ctrlPr>
                        </m:sSubPr>
                        <m:e>
                          <m:r>
                            <m:rPr>
                              <m:sty m:val="p"/>
                            </m:rPr>
                            <a:rPr lang="vi-VN" i="1">
                              <a:latin typeface="Cambria Math" panose="02040503050406030204" pitchFamily="18" charset="0"/>
                            </a:rPr>
                            <m:t>c</m:t>
                          </m:r>
                        </m:e>
                        <m:sub>
                          <m:r>
                            <m:rPr>
                              <m:sty m:val="p"/>
                            </m:rPr>
                            <a:rPr lang="vi-VN" i="1">
                              <a:latin typeface="Cambria Math" panose="02040503050406030204" pitchFamily="18" charset="0"/>
                            </a:rPr>
                            <m:t>j</m:t>
                          </m:r>
                          <m:r>
                            <a:rPr lang="vi-VN" b="0" i="1" smtClean="0">
                              <a:latin typeface="Cambria Math" panose="02040503050406030204" pitchFamily="18" charset="0"/>
                            </a:rPr>
                            <m:t>,</m:t>
                          </m:r>
                          <m:r>
                            <m:rPr>
                              <m:sty m:val="p"/>
                            </m:rPr>
                            <a:rPr lang="vi-VN" i="1">
                              <a:latin typeface="Cambria Math" panose="02040503050406030204" pitchFamily="18" charset="0"/>
                            </a:rPr>
                            <m:t>n</m:t>
                          </m:r>
                        </m:sub>
                      </m:sSub>
                      <m:r>
                        <a:rPr lang="vi-VN" b="0" i="1" smtClean="0">
                          <a:latin typeface="Cambria Math" panose="02040503050406030204" pitchFamily="18" charset="0"/>
                        </a:rPr>
                        <m:t>=</m:t>
                      </m:r>
                      <m:f>
                        <m:fPr>
                          <m:ctrlPr>
                            <a:rPr lang="vi-VN" b="0" i="1" smtClean="0">
                              <a:latin typeface="Cambria Math" panose="02040503050406030204" pitchFamily="18" charset="0"/>
                            </a:rPr>
                          </m:ctrlPr>
                        </m:fPr>
                        <m:num>
                          <m:r>
                            <m:rPr>
                              <m:sty m:val="p"/>
                            </m:rPr>
                            <a:rPr lang="vi-VN" i="1">
                              <a:latin typeface="Cambria Math" panose="02040503050406030204" pitchFamily="18" charset="0"/>
                            </a:rPr>
                            <m:t>T</m:t>
                          </m:r>
                          <m:r>
                            <a:rPr lang="vi-VN" i="1">
                              <a:latin typeface="Cambria Math" panose="02040503050406030204" pitchFamily="18" charset="0"/>
                            </a:rPr>
                            <m:t>ổ</m:t>
                          </m:r>
                          <m:r>
                            <m:rPr>
                              <m:sty m:val="p"/>
                            </m:rPr>
                            <a:rPr lang="vi-VN" i="1">
                              <a:latin typeface="Cambria Math" panose="02040503050406030204" pitchFamily="18" charset="0"/>
                            </a:rPr>
                            <m:t>ng</m:t>
                          </m:r>
                          <m:r>
                            <a:rPr lang="vi-VN" b="0" i="1" smtClean="0">
                              <a:latin typeface="Cambria Math" panose="02040503050406030204" pitchFamily="18" charset="0"/>
                            </a:rPr>
                            <m:t> </m:t>
                          </m:r>
                          <m:r>
                            <m:rPr>
                              <m:sty m:val="p"/>
                            </m:rPr>
                            <a:rPr lang="vi-VN" i="1">
                              <a:latin typeface="Cambria Math" panose="02040503050406030204" pitchFamily="18" charset="0"/>
                            </a:rPr>
                            <m:t>s</m:t>
                          </m:r>
                          <m:r>
                            <a:rPr lang="vi-VN" i="1">
                              <a:latin typeface="Cambria Math" panose="02040503050406030204" pitchFamily="18" charset="0"/>
                            </a:rPr>
                            <m:t>ố </m:t>
                          </m:r>
                          <m:r>
                            <m:rPr>
                              <m:sty m:val="p"/>
                            </m:rPr>
                            <a:rPr lang="vi-VN" i="1">
                              <a:latin typeface="Cambria Math" panose="02040503050406030204" pitchFamily="18" charset="0"/>
                            </a:rPr>
                            <m:t>c</m:t>
                          </m:r>
                          <m:r>
                            <a:rPr lang="vi-VN" i="1">
                              <a:latin typeface="Cambria Math" panose="02040503050406030204" pitchFamily="18" charset="0"/>
                            </a:rPr>
                            <m:t>â</m:t>
                          </m:r>
                          <m:r>
                            <m:rPr>
                              <m:sty m:val="p"/>
                            </m:rPr>
                            <a:rPr lang="vi-VN" i="1">
                              <a:latin typeface="Cambria Math" panose="02040503050406030204" pitchFamily="18" charset="0"/>
                            </a:rPr>
                            <m:t>u</m:t>
                          </m:r>
                          <m:r>
                            <a:rPr lang="vi-VN" b="0" i="1" smtClean="0">
                              <a:latin typeface="Cambria Math" panose="02040503050406030204" pitchFamily="18" charset="0"/>
                            </a:rPr>
                            <m:t> </m:t>
                          </m:r>
                          <m:r>
                            <m:rPr>
                              <m:sty m:val="p"/>
                            </m:rPr>
                            <a:rPr lang="vi-VN" i="1">
                              <a:latin typeface="Cambria Math" panose="02040503050406030204" pitchFamily="18" charset="0"/>
                            </a:rPr>
                            <m:t>tr</m:t>
                          </m:r>
                          <m:r>
                            <a:rPr lang="vi-VN" i="1">
                              <a:latin typeface="Cambria Math" panose="02040503050406030204" pitchFamily="18" charset="0"/>
                            </a:rPr>
                            <m:t>ả </m:t>
                          </m:r>
                          <m:r>
                            <m:rPr>
                              <m:sty m:val="p"/>
                            </m:rPr>
                            <a:rPr lang="vi-VN" i="1">
                              <a:latin typeface="Cambria Math" panose="02040503050406030204" pitchFamily="18" charset="0"/>
                            </a:rPr>
                            <m:t>l</m:t>
                          </m:r>
                          <m:r>
                            <a:rPr lang="vi-VN" i="1">
                              <a:latin typeface="Cambria Math" panose="02040503050406030204" pitchFamily="18" charset="0"/>
                            </a:rPr>
                            <m:t>ờ</m:t>
                          </m:r>
                          <m:r>
                            <m:rPr>
                              <m:sty m:val="p"/>
                            </m:rPr>
                            <a:rPr lang="vi-VN" i="1">
                              <a:latin typeface="Cambria Math" panose="02040503050406030204" pitchFamily="18" charset="0"/>
                            </a:rPr>
                            <m:t>i</m:t>
                          </m:r>
                          <m:r>
                            <a:rPr lang="vi-VN" b="0" i="1" smtClean="0">
                              <a:latin typeface="Cambria Math" panose="02040503050406030204" pitchFamily="18" charset="0"/>
                            </a:rPr>
                            <m:t> </m:t>
                          </m:r>
                          <m:r>
                            <a:rPr lang="vi-VN" i="1">
                              <a:latin typeface="Cambria Math" panose="02040503050406030204" pitchFamily="18" charset="0"/>
                            </a:rPr>
                            <m:t>đú</m:t>
                          </m:r>
                          <m:r>
                            <m:rPr>
                              <m:sty m:val="p"/>
                            </m:rPr>
                            <a:rPr lang="vi-VN" i="1">
                              <a:latin typeface="Cambria Math" panose="02040503050406030204" pitchFamily="18" charset="0"/>
                            </a:rPr>
                            <m:t>ng</m:t>
                          </m:r>
                          <m:r>
                            <a:rPr lang="vi-VN" b="0" i="1" smtClean="0">
                              <a:latin typeface="Cambria Math" panose="02040503050406030204" pitchFamily="18" charset="0"/>
                            </a:rPr>
                            <m:t> </m:t>
                          </m:r>
                          <m:r>
                            <m:rPr>
                              <m:sty m:val="p"/>
                            </m:rPr>
                            <a:rPr lang="vi-VN" i="1">
                              <a:latin typeface="Cambria Math" panose="02040503050406030204" pitchFamily="18" charset="0"/>
                            </a:rPr>
                            <m:t>trong</m:t>
                          </m:r>
                          <m:r>
                            <a:rPr lang="vi-VN" b="0" i="1" smtClean="0">
                              <a:latin typeface="Cambria Math" panose="02040503050406030204" pitchFamily="18" charset="0"/>
                            </a:rPr>
                            <m:t> </m:t>
                          </m:r>
                          <m:r>
                            <m:rPr>
                              <m:sty m:val="p"/>
                            </m:rPr>
                            <a:rPr lang="vi-VN" i="1">
                              <a:latin typeface="Cambria Math" panose="02040503050406030204" pitchFamily="18" charset="0"/>
                            </a:rPr>
                            <m:t>c</m:t>
                          </m:r>
                          <m:r>
                            <a:rPr lang="vi-VN" i="1">
                              <a:latin typeface="Cambria Math" panose="02040503050406030204" pitchFamily="18" charset="0"/>
                            </a:rPr>
                            <m:t>á</m:t>
                          </m:r>
                          <m:r>
                            <m:rPr>
                              <m:sty m:val="p"/>
                            </m:rPr>
                            <a:rPr lang="vi-VN" i="1">
                              <a:latin typeface="Cambria Math" panose="02040503050406030204" pitchFamily="18" charset="0"/>
                            </a:rPr>
                            <m:t>c</m:t>
                          </m:r>
                          <m:r>
                            <a:rPr lang="vi-VN" b="0" i="1" smtClean="0">
                              <a:latin typeface="Cambria Math" panose="02040503050406030204" pitchFamily="18" charset="0"/>
                            </a:rPr>
                            <m:t> </m:t>
                          </m:r>
                          <m:r>
                            <m:rPr>
                              <m:sty m:val="p"/>
                            </m:rPr>
                            <a:rPr lang="vi-VN" i="1">
                              <a:latin typeface="Cambria Math" panose="02040503050406030204" pitchFamily="18" charset="0"/>
                            </a:rPr>
                            <m:t>l</m:t>
                          </m:r>
                          <m:r>
                            <a:rPr lang="vi-VN" i="1">
                              <a:latin typeface="Cambria Math" panose="02040503050406030204" pitchFamily="18" charset="0"/>
                            </a:rPr>
                            <m:t>ượ</m:t>
                          </m:r>
                          <m:r>
                            <m:rPr>
                              <m:sty m:val="p"/>
                            </m:rPr>
                            <a:rPr lang="vi-VN" i="1">
                              <a:latin typeface="Cambria Math" panose="02040503050406030204" pitchFamily="18" charset="0"/>
                            </a:rPr>
                            <m:t>t</m:t>
                          </m:r>
                          <m:r>
                            <a:rPr lang="vi-VN" b="0" i="1" smtClean="0">
                              <a:latin typeface="Cambria Math" panose="02040503050406030204" pitchFamily="18" charset="0"/>
                            </a:rPr>
                            <m:t> </m:t>
                          </m:r>
                          <m:r>
                            <a:rPr lang="vi-VN" i="1">
                              <a:latin typeface="Cambria Math" panose="02040503050406030204" pitchFamily="18" charset="0"/>
                            </a:rPr>
                            <m:t>1</m:t>
                          </m:r>
                          <m:r>
                            <a:rPr lang="vi-VN" b="0" i="1" smtClean="0">
                              <a:latin typeface="Cambria Math" panose="02040503050406030204" pitchFamily="18" charset="0"/>
                            </a:rPr>
                            <m:t>, </m:t>
                          </m:r>
                          <m:r>
                            <m:rPr>
                              <m:sty m:val="p"/>
                            </m:rPr>
                            <a:rPr lang="vi-VN" i="1">
                              <a:latin typeface="Cambria Math" panose="02040503050406030204" pitchFamily="18" charset="0"/>
                            </a:rPr>
                            <m:t>n</m:t>
                          </m:r>
                        </m:num>
                        <m:den>
                          <m:r>
                            <m:rPr>
                              <m:sty m:val="p"/>
                            </m:rPr>
                            <a:rPr lang="vi-VN" i="1">
                              <a:latin typeface="Cambria Math" panose="02040503050406030204" pitchFamily="18" charset="0"/>
                            </a:rPr>
                            <m:t>n</m:t>
                          </m:r>
                        </m:den>
                      </m:f>
                    </m:oMath>
                  </m:oMathPara>
                </a14:m>
                <a:endParaRPr lang="vi-VN"/>
              </a:p>
              <a:p>
                <a:pPr lvl="1"/>
                <a:r>
                  <a:rPr lang="vi-VN"/>
                  <a:t>Qua S phiên, độ chính xác tích lũy tại mốc n là:</a:t>
                </a:r>
              </a:p>
              <a:p>
                <a:pPr marL="457200" lvl="1" indent="0">
                  <a:buNone/>
                </a:pPr>
                <a14:m>
                  <m:oMathPara xmlns:m="http://schemas.openxmlformats.org/officeDocument/2006/math">
                    <m:oMathParaPr>
                      <m:jc m:val="centerGroup"/>
                    </m:oMathParaPr>
                    <m:oMath xmlns:m="http://schemas.openxmlformats.org/officeDocument/2006/math">
                      <m:r>
                        <m:rPr>
                          <m:sty m:val="p"/>
                        </m:rPr>
                        <a:rPr lang="vi-VN" i="1" smtClean="0">
                          <a:latin typeface="Cambria Math" panose="02040503050406030204" pitchFamily="18" charset="0"/>
                        </a:rPr>
                        <m:t>Ac</m:t>
                      </m:r>
                      <m:sSub>
                        <m:sSubPr>
                          <m:ctrlPr>
                            <a:rPr lang="vi-VN" i="1" smtClean="0">
                              <a:latin typeface="Cambria Math" panose="02040503050406030204" pitchFamily="18" charset="0"/>
                            </a:rPr>
                          </m:ctrlPr>
                        </m:sSubPr>
                        <m:e>
                          <m:r>
                            <m:rPr>
                              <m:sty m:val="p"/>
                            </m:rPr>
                            <a:rPr lang="vi-VN" i="1">
                              <a:latin typeface="Cambria Math" panose="02040503050406030204" pitchFamily="18" charset="0"/>
                            </a:rPr>
                            <m:t>c</m:t>
                          </m:r>
                        </m:e>
                        <m:sub>
                          <m:r>
                            <m:rPr>
                              <m:sty m:val="p"/>
                            </m:rPr>
                            <a:rPr lang="vi-VN" i="1">
                              <a:latin typeface="Cambria Math" panose="02040503050406030204" pitchFamily="18" charset="0"/>
                            </a:rPr>
                            <m:t>n</m:t>
                          </m:r>
                        </m:sub>
                      </m:sSub>
                      <m:r>
                        <a:rPr lang="vi-VN" b="0" i="1" smtClean="0">
                          <a:latin typeface="Cambria Math" panose="02040503050406030204" pitchFamily="18" charset="0"/>
                        </a:rPr>
                        <m:t>= </m:t>
                      </m:r>
                      <m:f>
                        <m:fPr>
                          <m:ctrlPr>
                            <a:rPr lang="vi-VN" b="0" i="1" smtClean="0">
                              <a:latin typeface="Cambria Math" panose="02040503050406030204" pitchFamily="18" charset="0"/>
                            </a:rPr>
                          </m:ctrlPr>
                        </m:fPr>
                        <m:num>
                          <m:r>
                            <a:rPr lang="vi-VN" i="1">
                              <a:latin typeface="Cambria Math" panose="02040503050406030204" pitchFamily="18" charset="0"/>
                            </a:rPr>
                            <m:t>1</m:t>
                          </m:r>
                        </m:num>
                        <m:den>
                          <m:r>
                            <m:rPr>
                              <m:sty m:val="p"/>
                            </m:rPr>
                            <a:rPr lang="vi-VN" i="1">
                              <a:latin typeface="Cambria Math" panose="02040503050406030204" pitchFamily="18" charset="0"/>
                            </a:rPr>
                            <m:t>S</m:t>
                          </m:r>
                        </m:den>
                      </m:f>
                      <m:nary>
                        <m:naryPr>
                          <m:chr m:val="∑"/>
                          <m:ctrlPr>
                            <a:rPr lang="vi-VN" b="0" i="1" smtClean="0">
                              <a:latin typeface="Cambria Math" panose="02040503050406030204" pitchFamily="18" charset="0"/>
                            </a:rPr>
                          </m:ctrlPr>
                        </m:naryPr>
                        <m:sub>
                          <m:r>
                            <m:rPr>
                              <m:sty m:val="p"/>
                              <m:brk m:alnAt="23"/>
                            </m:rPr>
                            <a:rPr lang="vi-VN" i="1">
                              <a:latin typeface="Cambria Math" panose="02040503050406030204" pitchFamily="18" charset="0"/>
                            </a:rPr>
                            <m:t>j</m:t>
                          </m:r>
                          <m:r>
                            <a:rPr lang="vi-VN" b="0" i="1" smtClean="0">
                              <a:latin typeface="Cambria Math" panose="02040503050406030204" pitchFamily="18" charset="0"/>
                            </a:rPr>
                            <m:t>=</m:t>
                          </m:r>
                          <m:r>
                            <a:rPr lang="vi-VN" i="1">
                              <a:latin typeface="Cambria Math" panose="02040503050406030204" pitchFamily="18" charset="0"/>
                            </a:rPr>
                            <m:t>1</m:t>
                          </m:r>
                        </m:sub>
                        <m:sup>
                          <m:r>
                            <m:rPr>
                              <m:sty m:val="p"/>
                            </m:rPr>
                            <a:rPr lang="vi-VN" i="1">
                              <a:latin typeface="Cambria Math" panose="02040503050406030204" pitchFamily="18" charset="0"/>
                            </a:rPr>
                            <m:t>S</m:t>
                          </m:r>
                        </m:sup>
                        <m:e>
                          <m:r>
                            <m:rPr>
                              <m:sty m:val="p"/>
                            </m:rPr>
                            <a:rPr lang="vi-VN" i="1" smtClean="0">
                              <a:latin typeface="Cambria Math" panose="02040503050406030204" pitchFamily="18" charset="0"/>
                            </a:rPr>
                            <m:t>ac</m:t>
                          </m:r>
                          <m:sSub>
                            <m:sSubPr>
                              <m:ctrlPr>
                                <a:rPr lang="vi-VN" i="1" smtClean="0">
                                  <a:latin typeface="Cambria Math" panose="02040503050406030204" pitchFamily="18" charset="0"/>
                                </a:rPr>
                              </m:ctrlPr>
                            </m:sSubPr>
                            <m:e>
                              <m:r>
                                <m:rPr>
                                  <m:sty m:val="p"/>
                                </m:rPr>
                                <a:rPr lang="vi-VN" i="1">
                                  <a:latin typeface="Cambria Math" panose="02040503050406030204" pitchFamily="18" charset="0"/>
                                </a:rPr>
                                <m:t>c</m:t>
                              </m:r>
                            </m:e>
                            <m:sub>
                              <m:r>
                                <m:rPr>
                                  <m:sty m:val="p"/>
                                </m:rPr>
                                <a:rPr lang="vi-VN" i="1">
                                  <a:latin typeface="Cambria Math" panose="02040503050406030204" pitchFamily="18" charset="0"/>
                                </a:rPr>
                                <m:t>j</m:t>
                              </m:r>
                              <m:r>
                                <a:rPr lang="vi-VN" b="0" i="1" smtClean="0">
                                  <a:latin typeface="Cambria Math" panose="02040503050406030204" pitchFamily="18" charset="0"/>
                                </a:rPr>
                                <m:t>,</m:t>
                              </m:r>
                              <m:r>
                                <m:rPr>
                                  <m:sty m:val="p"/>
                                </m:rPr>
                                <a:rPr lang="vi-VN" i="1">
                                  <a:latin typeface="Cambria Math" panose="02040503050406030204" pitchFamily="18" charset="0"/>
                                </a:rPr>
                                <m:t>n</m:t>
                              </m:r>
                            </m:sub>
                          </m:sSub>
                        </m:e>
                      </m:nary>
                    </m:oMath>
                  </m:oMathPara>
                </a14:m>
                <a:endParaRPr lang="vi-VN"/>
              </a:p>
              <a:p>
                <a:pPr lvl="1"/>
                <a:r>
                  <a:rPr lang="vi-VN" b="1"/>
                  <a:t>“Câu trả lời đúng” </a:t>
                </a:r>
                <a:r>
                  <a:rPr lang="vi-VN"/>
                  <a:t>được hiểu là: nội dung trả lời khớp (</a:t>
                </a:r>
                <a:r>
                  <a:rPr lang="vi-VN" i="1"/>
                  <a:t>hoặc bao gồm</a:t>
                </a:r>
                <a:r>
                  <a:rPr lang="vi-VN"/>
                  <a:t>) thông tin xác thực có trong cơ sở dữ liệu.</a:t>
                </a:r>
              </a:p>
              <a:p>
                <a:pPr lvl="1"/>
                <a:r>
                  <a:rPr lang="vi-VN" b="1"/>
                  <a:t>“Câu trả lời sai”</a:t>
                </a:r>
                <a:r>
                  <a:rPr lang="vi-VN"/>
                  <a:t> được hiểu là: nội dung trả lời không có trong cơ sở dữ liệu, sai trọng tâm yêu cầu hoặc bịa đặt thông tin</a:t>
                </a:r>
              </a:p>
            </p:txBody>
          </p:sp>
        </mc:Choice>
        <mc:Fallback>
          <p:sp>
            <p:nvSpPr>
              <p:cNvPr id="3" name="Content Placeholder 2">
                <a:extLst>
                  <a:ext uri="{FF2B5EF4-FFF2-40B4-BE49-F238E27FC236}">
                    <a16:creationId xmlns:a16="http://schemas.microsoft.com/office/drawing/2014/main" id="{8B06D146-3B26-864E-5F61-7B1C072768A2}"/>
                  </a:ext>
                </a:extLst>
              </p:cNvPr>
              <p:cNvSpPr>
                <a:spLocks noGrp="1" noRot="1" noChangeAspect="1" noMove="1" noResize="1" noEditPoints="1" noAdjustHandles="1" noChangeArrowheads="1" noChangeShapeType="1" noTextEdit="1"/>
              </p:cNvSpPr>
              <p:nvPr>
                <p:ph idx="1"/>
              </p:nvPr>
            </p:nvSpPr>
            <p:spPr>
              <a:blipFill>
                <a:blip r:embed="rId2"/>
                <a:stretch>
                  <a:fillRect l="-1043" t="-2203" r="-812"/>
                </a:stretch>
              </a:blipFill>
            </p:spPr>
            <p:txBody>
              <a:bodyPr/>
              <a:lstStyle/>
              <a:p>
                <a:r>
                  <a:rPr lang="vi-VN">
                    <a:noFill/>
                  </a:rPr>
                  <a:t> </a:t>
                </a:r>
              </a:p>
            </p:txBody>
          </p:sp>
        </mc:Fallback>
      </mc:AlternateContent>
    </p:spTree>
    <p:extLst>
      <p:ext uri="{BB962C8B-B14F-4D97-AF65-F5344CB8AC3E}">
        <p14:creationId xmlns:p14="http://schemas.microsoft.com/office/powerpoint/2010/main" val="139267901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fade">
                                      <p:cBhvr>
                                        <p:cTn id="19" dur="500"/>
                                        <p:tgtEl>
                                          <p:spTgt spid="3">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animEffect transition="in" filter="fade">
                                      <p:cBhvr>
                                        <p:cTn id="22" dur="500"/>
                                        <p:tgtEl>
                                          <p:spTgt spid="3">
                                            <p:txEl>
                                              <p:pRg st="5" end="5"/>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animEffect transition="in" filter="fade">
                                      <p:cBhvr>
                                        <p:cTn id="25"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3B83C-980B-51B9-916B-ED27038836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8DAD01-C53D-D7DC-6948-B31A7486EA1D}"/>
              </a:ext>
            </a:extLst>
          </p:cNvPr>
          <p:cNvSpPr>
            <a:spLocks noGrp="1"/>
          </p:cNvSpPr>
          <p:nvPr>
            <p:ph type="title"/>
          </p:nvPr>
        </p:nvSpPr>
        <p:spPr/>
        <p:txBody>
          <a:bodyPr>
            <a:normAutofit/>
          </a:bodyPr>
          <a:lstStyle/>
          <a:p>
            <a:r>
              <a:rPr lang="vi-VN"/>
              <a:t>V. Kết quả và đánh giá</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5B37C206-993D-DE64-1B2F-92E736214F62}"/>
                  </a:ext>
                </a:extLst>
              </p:cNvPr>
              <p:cNvSpPr>
                <a:spLocks noGrp="1"/>
              </p:cNvSpPr>
              <p:nvPr>
                <p:ph idx="1"/>
              </p:nvPr>
            </p:nvSpPr>
            <p:spPr/>
            <p:txBody>
              <a:bodyPr/>
              <a:lstStyle/>
              <a:p>
                <a:r>
                  <a:rPr lang="vi-VN" b="1"/>
                  <a:t>Độ chính xác tích lũy (</a:t>
                </a:r>
                <a:r>
                  <a:rPr lang="vi-VN" b="1" i="1"/>
                  <a:t>Cumulative accuracy</a:t>
                </a:r>
                <a:r>
                  <a:rPr lang="vi-VN" b="1"/>
                  <a:t>)</a:t>
                </a:r>
                <a:r>
                  <a:rPr lang="vi-VN"/>
                  <a:t>:</a:t>
                </a:r>
              </a:p>
              <a:p>
                <a:pPr lvl="1"/>
                <a:r>
                  <a:rPr lang="vi-VN"/>
                  <a:t>Phương sai:</a:t>
                </a:r>
              </a:p>
              <a:p>
                <a:pPr marL="457200" lvl="1" indent="0">
                  <a:buNone/>
                </a:pPr>
                <a14:m>
                  <m:oMathPara xmlns:m="http://schemas.openxmlformats.org/officeDocument/2006/math">
                    <m:oMathParaPr>
                      <m:jc m:val="centerGroup"/>
                    </m:oMathParaPr>
                    <m:oMath xmlns:m="http://schemas.openxmlformats.org/officeDocument/2006/math">
                      <m:r>
                        <a:rPr lang="vi-VN" i="1">
                          <a:latin typeface="Cambria Math" panose="02040503050406030204" pitchFamily="18" charset="0"/>
                          <a:ea typeface="Cambria Math" panose="02040503050406030204" pitchFamily="18" charset="0"/>
                        </a:rPr>
                        <m:t>𝜎</m:t>
                      </m:r>
                      <m:sSub>
                        <m:sSubPr>
                          <m:ctrlPr>
                            <a:rPr lang="vi-VN" i="1">
                              <a:latin typeface="Cambria Math" panose="02040503050406030204" pitchFamily="18" charset="0"/>
                              <a:ea typeface="Cambria Math" panose="02040503050406030204" pitchFamily="18" charset="0"/>
                            </a:rPr>
                          </m:ctrlPr>
                        </m:sSubPr>
                        <m:e>
                          <m:r>
                            <m:rPr>
                              <m:sty m:val="p"/>
                            </m:rPr>
                            <a:rPr lang="vi-VN" i="1" smtClean="0">
                              <a:latin typeface="Cambria Math" panose="02040503050406030204" pitchFamily="18" charset="0"/>
                              <a:ea typeface="Cambria Math" panose="02040503050406030204" pitchFamily="18" charset="0"/>
                            </a:rPr>
                            <m:t>Acc</m:t>
                          </m:r>
                        </m:e>
                        <m:sub>
                          <m:r>
                            <m:rPr>
                              <m:sty m:val="p"/>
                            </m:rPr>
                            <a:rPr lang="vi-VN" i="1">
                              <a:latin typeface="Cambria Math" panose="02040503050406030204" pitchFamily="18" charset="0"/>
                              <a:ea typeface="Cambria Math" panose="02040503050406030204" pitchFamily="18" charset="0"/>
                            </a:rPr>
                            <m:t>n</m:t>
                          </m:r>
                        </m:sub>
                      </m:sSub>
                      <m:r>
                        <a:rPr lang="vi-VN" i="1">
                          <a:latin typeface="Cambria Math" panose="02040503050406030204" pitchFamily="18" charset="0"/>
                          <a:ea typeface="Cambria Math" panose="02040503050406030204" pitchFamily="18" charset="0"/>
                        </a:rPr>
                        <m:t>= </m:t>
                      </m:r>
                      <m:rad>
                        <m:radPr>
                          <m:degHide m:val="on"/>
                          <m:ctrlPr>
                            <a:rPr lang="vi-VN" i="1">
                              <a:latin typeface="Cambria Math" panose="02040503050406030204" pitchFamily="18" charset="0"/>
                              <a:ea typeface="Cambria Math" panose="02040503050406030204" pitchFamily="18" charset="0"/>
                            </a:rPr>
                          </m:ctrlPr>
                        </m:radPr>
                        <m:deg/>
                        <m:e>
                          <m:f>
                            <m:fPr>
                              <m:ctrlPr>
                                <a:rPr lang="vi-VN" i="1">
                                  <a:latin typeface="Cambria Math" panose="02040503050406030204" pitchFamily="18" charset="0"/>
                                  <a:ea typeface="Cambria Math" panose="02040503050406030204" pitchFamily="18" charset="0"/>
                                </a:rPr>
                              </m:ctrlPr>
                            </m:fPr>
                            <m:num>
                              <m:r>
                                <a:rPr lang="vi-VN" i="1">
                                  <a:latin typeface="Cambria Math" panose="02040503050406030204" pitchFamily="18" charset="0"/>
                                  <a:ea typeface="Cambria Math" panose="02040503050406030204" pitchFamily="18" charset="0"/>
                                </a:rPr>
                                <m:t>1</m:t>
                              </m:r>
                            </m:num>
                            <m:den>
                              <m:r>
                                <m:rPr>
                                  <m:sty m:val="p"/>
                                </m:rPr>
                                <a:rPr lang="vi-VN" i="1">
                                  <a:latin typeface="Cambria Math" panose="02040503050406030204" pitchFamily="18" charset="0"/>
                                  <a:ea typeface="Cambria Math" panose="02040503050406030204" pitchFamily="18" charset="0"/>
                                </a:rPr>
                                <m:t>S</m:t>
                              </m:r>
                              <m:r>
                                <a:rPr lang="vi-VN" i="1">
                                  <a:latin typeface="Cambria Math" panose="02040503050406030204" pitchFamily="18" charset="0"/>
                                  <a:ea typeface="Cambria Math" panose="02040503050406030204" pitchFamily="18" charset="0"/>
                                </a:rPr>
                                <m:t>−</m:t>
                              </m:r>
                              <m:r>
                                <a:rPr lang="vi-VN" i="1">
                                  <a:latin typeface="Cambria Math" panose="02040503050406030204" pitchFamily="18" charset="0"/>
                                  <a:ea typeface="Cambria Math" panose="02040503050406030204" pitchFamily="18" charset="0"/>
                                </a:rPr>
                                <m:t>1</m:t>
                              </m:r>
                            </m:den>
                          </m:f>
                        </m:e>
                      </m:rad>
                      <m:nary>
                        <m:naryPr>
                          <m:chr m:val="∑"/>
                          <m:limLoc m:val="subSup"/>
                          <m:ctrlPr>
                            <a:rPr lang="vi-VN" i="1">
                              <a:latin typeface="Cambria Math" panose="02040503050406030204" pitchFamily="18" charset="0"/>
                              <a:ea typeface="Cambria Math" panose="02040503050406030204" pitchFamily="18" charset="0"/>
                            </a:rPr>
                          </m:ctrlPr>
                        </m:naryPr>
                        <m:sub>
                          <m:r>
                            <m:rPr>
                              <m:sty m:val="p"/>
                              <m:brk m:alnAt="25"/>
                            </m:rPr>
                            <a:rPr lang="vi-VN" i="1">
                              <a:latin typeface="Cambria Math" panose="02040503050406030204" pitchFamily="18" charset="0"/>
                              <a:ea typeface="Cambria Math" panose="02040503050406030204" pitchFamily="18" charset="0"/>
                            </a:rPr>
                            <m:t>j</m:t>
                          </m:r>
                          <m:r>
                            <a:rPr lang="vi-VN" i="1">
                              <a:latin typeface="Cambria Math" panose="02040503050406030204" pitchFamily="18" charset="0"/>
                              <a:ea typeface="Cambria Math" panose="02040503050406030204" pitchFamily="18" charset="0"/>
                            </a:rPr>
                            <m:t>=</m:t>
                          </m:r>
                          <m:r>
                            <a:rPr lang="vi-VN" i="1">
                              <a:latin typeface="Cambria Math" panose="02040503050406030204" pitchFamily="18" charset="0"/>
                              <a:ea typeface="Cambria Math" panose="02040503050406030204" pitchFamily="18" charset="0"/>
                            </a:rPr>
                            <m:t>1</m:t>
                          </m:r>
                        </m:sub>
                        <m:sup>
                          <m:r>
                            <m:rPr>
                              <m:sty m:val="p"/>
                            </m:rPr>
                            <a:rPr lang="vi-VN" i="1">
                              <a:latin typeface="Cambria Math" panose="02040503050406030204" pitchFamily="18" charset="0"/>
                              <a:ea typeface="Cambria Math" panose="02040503050406030204" pitchFamily="18" charset="0"/>
                            </a:rPr>
                            <m:t>S</m:t>
                          </m:r>
                        </m:sup>
                        <m:e>
                          <m:sSup>
                            <m:sSupPr>
                              <m:ctrlPr>
                                <a:rPr lang="vi-VN" i="1">
                                  <a:latin typeface="Cambria Math" panose="02040503050406030204" pitchFamily="18" charset="0"/>
                                  <a:ea typeface="Cambria Math" panose="02040503050406030204" pitchFamily="18" charset="0"/>
                                </a:rPr>
                              </m:ctrlPr>
                            </m:sSupPr>
                            <m:e>
                              <m:r>
                                <a:rPr lang="vi-VN" i="1">
                                  <a:latin typeface="Cambria Math" panose="02040503050406030204" pitchFamily="18" charset="0"/>
                                  <a:ea typeface="Cambria Math" panose="02040503050406030204" pitchFamily="18" charset="0"/>
                                </a:rPr>
                                <m:t>(</m:t>
                              </m:r>
                              <m:sSub>
                                <m:sSubPr>
                                  <m:ctrlPr>
                                    <a:rPr lang="vi-VN" i="1">
                                      <a:latin typeface="Cambria Math" panose="02040503050406030204" pitchFamily="18" charset="0"/>
                                      <a:ea typeface="Cambria Math" panose="02040503050406030204" pitchFamily="18" charset="0"/>
                                    </a:rPr>
                                  </m:ctrlPr>
                                </m:sSubPr>
                                <m:e>
                                  <m:r>
                                    <m:rPr>
                                      <m:sty m:val="p"/>
                                    </m:rPr>
                                    <a:rPr lang="vi-VN" i="1">
                                      <a:latin typeface="Cambria Math" panose="02040503050406030204" pitchFamily="18" charset="0"/>
                                      <a:ea typeface="Cambria Math" panose="02040503050406030204" pitchFamily="18" charset="0"/>
                                    </a:rPr>
                                    <m:t>acc</m:t>
                                  </m:r>
                                </m:e>
                                <m:sub>
                                  <m:r>
                                    <m:rPr>
                                      <m:sty m:val="p"/>
                                    </m:rPr>
                                    <a:rPr lang="vi-VN" i="1">
                                      <a:latin typeface="Cambria Math" panose="02040503050406030204" pitchFamily="18" charset="0"/>
                                      <a:ea typeface="Cambria Math" panose="02040503050406030204" pitchFamily="18" charset="0"/>
                                    </a:rPr>
                                    <m:t>j</m:t>
                                  </m:r>
                                  <m:r>
                                    <a:rPr lang="vi-VN" i="1">
                                      <a:latin typeface="Cambria Math" panose="02040503050406030204" pitchFamily="18" charset="0"/>
                                      <a:ea typeface="Cambria Math" panose="02040503050406030204" pitchFamily="18" charset="0"/>
                                    </a:rPr>
                                    <m:t>,</m:t>
                                  </m:r>
                                  <m:r>
                                    <m:rPr>
                                      <m:sty m:val="p"/>
                                    </m:rPr>
                                    <a:rPr lang="vi-VN" i="1">
                                      <a:latin typeface="Cambria Math" panose="02040503050406030204" pitchFamily="18" charset="0"/>
                                      <a:ea typeface="Cambria Math" panose="02040503050406030204" pitchFamily="18" charset="0"/>
                                    </a:rPr>
                                    <m:t>n</m:t>
                                  </m:r>
                                </m:sub>
                              </m:sSub>
                              <m:r>
                                <a:rPr lang="vi-VN" i="1">
                                  <a:latin typeface="Cambria Math" panose="02040503050406030204" pitchFamily="18" charset="0"/>
                                  <a:ea typeface="Cambria Math" panose="02040503050406030204" pitchFamily="18" charset="0"/>
                                </a:rPr>
                                <m:t>−</m:t>
                              </m:r>
                              <m:sSub>
                                <m:sSubPr>
                                  <m:ctrlPr>
                                    <a:rPr lang="vi-VN" i="1">
                                      <a:latin typeface="Cambria Math" panose="02040503050406030204" pitchFamily="18" charset="0"/>
                                    </a:rPr>
                                  </m:ctrlPr>
                                </m:sSubPr>
                                <m:e>
                                  <m:r>
                                    <m:rPr>
                                      <m:sty m:val="p"/>
                                    </m:rPr>
                                    <a:rPr lang="vi-VN" i="1">
                                      <a:latin typeface="Cambria Math" panose="02040503050406030204" pitchFamily="18" charset="0"/>
                                    </a:rPr>
                                    <m:t>Acc</m:t>
                                  </m:r>
                                </m:e>
                                <m:sub>
                                  <m:r>
                                    <m:rPr>
                                      <m:sty m:val="p"/>
                                    </m:rPr>
                                    <a:rPr lang="vi-VN" i="1">
                                      <a:latin typeface="Cambria Math" panose="02040503050406030204" pitchFamily="18" charset="0"/>
                                    </a:rPr>
                                    <m:t>n</m:t>
                                  </m:r>
                                </m:sub>
                              </m:sSub>
                              <m:r>
                                <a:rPr lang="vi-VN" i="1">
                                  <a:latin typeface="Cambria Math" panose="02040503050406030204" pitchFamily="18" charset="0"/>
                                </a:rPr>
                                <m:t>)</m:t>
                              </m:r>
                            </m:e>
                            <m:sup>
                              <m:r>
                                <a:rPr lang="vi-VN" i="1">
                                  <a:latin typeface="Cambria Math" panose="02040503050406030204" pitchFamily="18" charset="0"/>
                                  <a:ea typeface="Cambria Math" panose="02040503050406030204" pitchFamily="18" charset="0"/>
                                </a:rPr>
                                <m:t>2</m:t>
                              </m:r>
                            </m:sup>
                          </m:sSup>
                        </m:e>
                      </m:nary>
                    </m:oMath>
                  </m:oMathPara>
                </a14:m>
                <a:endParaRPr lang="vi-VN"/>
              </a:p>
              <a:p>
                <a:pPr lvl="1"/>
                <a:endParaRPr lang="vi-VN"/>
              </a:p>
              <a:p>
                <a:pPr lvl="1"/>
                <a:endParaRPr lang="vi-VN"/>
              </a:p>
            </p:txBody>
          </p:sp>
        </mc:Choice>
        <mc:Fallback>
          <p:sp>
            <p:nvSpPr>
              <p:cNvPr id="3" name="Content Placeholder 2">
                <a:extLst>
                  <a:ext uri="{FF2B5EF4-FFF2-40B4-BE49-F238E27FC236}">
                    <a16:creationId xmlns:a16="http://schemas.microsoft.com/office/drawing/2014/main" id="{5B37C206-993D-DE64-1B2F-92E736214F62}"/>
                  </a:ext>
                </a:extLst>
              </p:cNvPr>
              <p:cNvSpPr>
                <a:spLocks noGrp="1" noRot="1" noChangeAspect="1" noMove="1" noResize="1" noEditPoints="1" noAdjustHandles="1" noChangeArrowheads="1" noChangeShapeType="1" noTextEdit="1"/>
              </p:cNvSpPr>
              <p:nvPr>
                <p:ph idx="1"/>
              </p:nvPr>
            </p:nvSpPr>
            <p:spPr>
              <a:blipFill>
                <a:blip r:embed="rId2"/>
                <a:stretch>
                  <a:fillRect l="-1043" t="-2203"/>
                </a:stretch>
              </a:blipFill>
            </p:spPr>
            <p:txBody>
              <a:bodyPr/>
              <a:lstStyle/>
              <a:p>
                <a:r>
                  <a:rPr lang="vi-VN">
                    <a:noFill/>
                  </a:rPr>
                  <a:t> </a:t>
                </a:r>
              </a:p>
            </p:txBody>
          </p:sp>
        </mc:Fallback>
      </mc:AlternateContent>
    </p:spTree>
    <p:extLst>
      <p:ext uri="{BB962C8B-B14F-4D97-AF65-F5344CB8AC3E}">
        <p14:creationId xmlns:p14="http://schemas.microsoft.com/office/powerpoint/2010/main" val="33434882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D61DDE-A078-B73D-58B1-057711F5A225}"/>
              </a:ext>
            </a:extLst>
          </p:cNvPr>
          <p:cNvSpPr>
            <a:spLocks noGrp="1"/>
          </p:cNvSpPr>
          <p:nvPr>
            <p:ph type="title"/>
          </p:nvPr>
        </p:nvSpPr>
        <p:spPr/>
        <p:txBody>
          <a:bodyPr>
            <a:normAutofit/>
          </a:bodyPr>
          <a:lstStyle/>
          <a:p>
            <a:r>
              <a:rPr lang="vi-VN"/>
              <a:t>V. Kết quả và đánh giá</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78178D2-3397-D18A-88AA-C8BC21572C89}"/>
                  </a:ext>
                </a:extLst>
              </p:cNvPr>
              <p:cNvSpPr>
                <a:spLocks noGrp="1"/>
              </p:cNvSpPr>
              <p:nvPr>
                <p:ph idx="1"/>
              </p:nvPr>
            </p:nvSpPr>
            <p:spPr/>
            <p:txBody>
              <a:bodyPr/>
              <a:lstStyle/>
              <a:p>
                <a:r>
                  <a:rPr lang="vi-VN" b="1"/>
                  <a:t>Độ chính xác one-shot</a:t>
                </a:r>
                <a:r>
                  <a:rPr lang="vi-VN"/>
                  <a:t>:</a:t>
                </a:r>
              </a:p>
              <a:p>
                <a:pPr lvl="1"/>
                <a:r>
                  <a:rPr lang="vi-VN"/>
                  <a:t>Với </a:t>
                </a:r>
                <a14:m>
                  <m:oMath xmlns:m="http://schemas.openxmlformats.org/officeDocument/2006/math">
                    <m:r>
                      <m:rPr>
                        <m:sty m:val="p"/>
                      </m:rPr>
                      <a:rPr lang="vi-VN" i="1">
                        <a:latin typeface="Cambria Math" panose="02040503050406030204" pitchFamily="18" charset="0"/>
                      </a:rPr>
                      <m:t>M</m:t>
                    </m:r>
                    <m:r>
                      <a:rPr lang="vi-VN" b="0" i="1" smtClean="0">
                        <a:latin typeface="Cambria Math" panose="02040503050406030204" pitchFamily="18" charset="0"/>
                      </a:rPr>
                      <m:t>=</m:t>
                    </m:r>
                    <m:r>
                      <a:rPr lang="vi-VN" i="1">
                        <a:latin typeface="Cambria Math" panose="02040503050406030204" pitchFamily="18" charset="0"/>
                      </a:rPr>
                      <m:t>100</m:t>
                    </m:r>
                  </m:oMath>
                </a14:m>
                <a:r>
                  <a:rPr lang="vi-VN"/>
                  <a:t> truy vấn độc lập, mỗi truy vấn có </a:t>
                </a:r>
                <a14:m>
                  <m:oMath xmlns:m="http://schemas.openxmlformats.org/officeDocument/2006/math">
                    <m:r>
                      <m:rPr>
                        <m:sty m:val="p"/>
                      </m:rPr>
                      <a:rPr lang="vi-VN">
                        <a:latin typeface="Cambria Math" panose="02040503050406030204" pitchFamily="18" charset="0"/>
                      </a:rPr>
                      <m:t>i</m:t>
                    </m:r>
                  </m:oMath>
                </a14:m>
                <a:r>
                  <a:rPr lang="vi-VN"/>
                  <a:t> nhãn</a:t>
                </a:r>
                <a14:m>
                  <m:oMath xmlns:m="http://schemas.openxmlformats.org/officeDocument/2006/math">
                    <m:r>
                      <a:rPr lang="vi-VN" b="0" i="0" smtClean="0">
                        <a:latin typeface="Cambria Math" panose="02040503050406030204" pitchFamily="18" charset="0"/>
                      </a:rPr>
                      <m:t> </m:t>
                    </m:r>
                    <m:sSub>
                      <m:sSubPr>
                        <m:ctrlPr>
                          <a:rPr lang="vi-VN" i="1" smtClean="0">
                            <a:latin typeface="Cambria Math" panose="02040503050406030204" pitchFamily="18" charset="0"/>
                          </a:rPr>
                        </m:ctrlPr>
                      </m:sSubPr>
                      <m:e>
                        <m:r>
                          <m:rPr>
                            <m:sty m:val="p"/>
                          </m:rPr>
                          <a:rPr lang="vi-VN" i="1">
                            <a:latin typeface="Cambria Math" panose="02040503050406030204" pitchFamily="18" charset="0"/>
                          </a:rPr>
                          <m:t>c</m:t>
                        </m:r>
                      </m:e>
                      <m:sub>
                        <m:r>
                          <m:rPr>
                            <m:sty m:val="p"/>
                          </m:rPr>
                          <a:rPr lang="vi-VN" i="1">
                            <a:latin typeface="Cambria Math" panose="02040503050406030204" pitchFamily="18" charset="0"/>
                          </a:rPr>
                          <m:t>i</m:t>
                        </m:r>
                      </m:sub>
                    </m:sSub>
                    <m:r>
                      <a:rPr lang="vi-VN" i="1" smtClean="0">
                        <a:latin typeface="Cambria Math" panose="02040503050406030204" pitchFamily="18" charset="0"/>
                        <a:ea typeface="Cambria Math" panose="02040503050406030204" pitchFamily="18" charset="0"/>
                      </a:rPr>
                      <m:t>𝜖</m:t>
                    </m:r>
                    <m:d>
                      <m:dPr>
                        <m:begChr m:val="{"/>
                        <m:endChr m:val="}"/>
                        <m:ctrlPr>
                          <a:rPr lang="vi-VN" i="1" smtClean="0">
                            <a:latin typeface="Cambria Math" panose="02040503050406030204" pitchFamily="18" charset="0"/>
                            <a:ea typeface="Cambria Math" panose="02040503050406030204" pitchFamily="18" charset="0"/>
                          </a:rPr>
                        </m:ctrlPr>
                      </m:dPr>
                      <m:e>
                        <m:r>
                          <a:rPr lang="vi-VN" i="1">
                            <a:latin typeface="Cambria Math" panose="02040503050406030204" pitchFamily="18" charset="0"/>
                            <a:ea typeface="Cambria Math" panose="02040503050406030204" pitchFamily="18" charset="0"/>
                          </a:rPr>
                          <m:t>0</m:t>
                        </m:r>
                        <m:r>
                          <a:rPr lang="vi-VN" b="0" i="1" smtClean="0">
                            <a:latin typeface="Cambria Math" panose="02040503050406030204" pitchFamily="18" charset="0"/>
                            <a:ea typeface="Cambria Math" panose="02040503050406030204" pitchFamily="18" charset="0"/>
                          </a:rPr>
                          <m:t>, </m:t>
                        </m:r>
                        <m:r>
                          <a:rPr lang="vi-VN" i="1">
                            <a:latin typeface="Cambria Math" panose="02040503050406030204" pitchFamily="18" charset="0"/>
                            <a:ea typeface="Cambria Math" panose="02040503050406030204" pitchFamily="18" charset="0"/>
                          </a:rPr>
                          <m:t>1</m:t>
                        </m:r>
                      </m:e>
                    </m:d>
                    <m:d>
                      <m:dPr>
                        <m:ctrlPr>
                          <a:rPr lang="vi-VN" i="1" smtClean="0">
                            <a:latin typeface="Cambria Math" panose="02040503050406030204" pitchFamily="18" charset="0"/>
                            <a:ea typeface="Cambria Math" panose="02040503050406030204" pitchFamily="18" charset="0"/>
                          </a:rPr>
                        </m:ctrlPr>
                      </m:dPr>
                      <m:e>
                        <m:r>
                          <a:rPr lang="vi-VN" i="1">
                            <a:latin typeface="Cambria Math" panose="02040503050406030204" pitchFamily="18" charset="0"/>
                            <a:ea typeface="Cambria Math" panose="02040503050406030204" pitchFamily="18" charset="0"/>
                          </a:rPr>
                          <m:t>0</m:t>
                        </m:r>
                        <m:r>
                          <a:rPr lang="vi-VN" b="0" i="1" smtClean="0">
                            <a:latin typeface="Cambria Math" panose="02040503050406030204" pitchFamily="18" charset="0"/>
                            <a:ea typeface="Cambria Math" panose="02040503050406030204" pitchFamily="18" charset="0"/>
                          </a:rPr>
                          <m:t>=</m:t>
                        </m:r>
                        <m:r>
                          <m:rPr>
                            <m:sty m:val="p"/>
                          </m:rPr>
                          <a:rPr lang="vi-VN" i="1">
                            <a:latin typeface="Cambria Math" panose="02040503050406030204" pitchFamily="18" charset="0"/>
                            <a:ea typeface="Cambria Math" panose="02040503050406030204" pitchFamily="18" charset="0"/>
                          </a:rPr>
                          <m:t>sai</m:t>
                        </m:r>
                        <m:r>
                          <a:rPr lang="vi-VN" b="0" i="1" smtClean="0">
                            <a:latin typeface="Cambria Math" panose="02040503050406030204" pitchFamily="18" charset="0"/>
                            <a:ea typeface="Cambria Math" panose="02040503050406030204" pitchFamily="18" charset="0"/>
                          </a:rPr>
                          <m:t>, </m:t>
                        </m:r>
                        <m:r>
                          <a:rPr lang="vi-VN" i="1">
                            <a:latin typeface="Cambria Math" panose="02040503050406030204" pitchFamily="18" charset="0"/>
                            <a:ea typeface="Cambria Math" panose="02040503050406030204" pitchFamily="18" charset="0"/>
                          </a:rPr>
                          <m:t>1</m:t>
                        </m:r>
                        <m:r>
                          <a:rPr lang="vi-VN" b="0" i="1" smtClean="0">
                            <a:latin typeface="Cambria Math" panose="02040503050406030204" pitchFamily="18" charset="0"/>
                            <a:ea typeface="Cambria Math" panose="02040503050406030204" pitchFamily="18" charset="0"/>
                          </a:rPr>
                          <m:t>=</m:t>
                        </m:r>
                        <m:r>
                          <a:rPr lang="vi-VN" i="1">
                            <a:latin typeface="Cambria Math" panose="02040503050406030204" pitchFamily="18" charset="0"/>
                            <a:ea typeface="Cambria Math" panose="02040503050406030204" pitchFamily="18" charset="0"/>
                          </a:rPr>
                          <m:t>đú</m:t>
                        </m:r>
                        <m:r>
                          <m:rPr>
                            <m:sty m:val="p"/>
                          </m:rPr>
                          <a:rPr lang="vi-VN" i="1">
                            <a:latin typeface="Cambria Math" panose="02040503050406030204" pitchFamily="18" charset="0"/>
                            <a:ea typeface="Cambria Math" panose="02040503050406030204" pitchFamily="18" charset="0"/>
                          </a:rPr>
                          <m:t>ng</m:t>
                        </m:r>
                      </m:e>
                    </m:d>
                  </m:oMath>
                </a14:m>
                <a:endParaRPr lang="vi-VN"/>
              </a:p>
              <a:p>
                <a:pPr marL="457200" lvl="1" indent="0">
                  <a:buNone/>
                </a:pPr>
                <a:endParaRPr lang="vi-VN"/>
              </a:p>
              <a:p>
                <a:pPr marL="457200" lvl="1" indent="0">
                  <a:buNone/>
                </a:pPr>
                <a14:m>
                  <m:oMathPara xmlns:m="http://schemas.openxmlformats.org/officeDocument/2006/math">
                    <m:oMathParaPr>
                      <m:jc m:val="centerGroup"/>
                    </m:oMathParaPr>
                    <m:oMath xmlns:m="http://schemas.openxmlformats.org/officeDocument/2006/math">
                      <m:r>
                        <m:rPr>
                          <m:sty m:val="p"/>
                        </m:rPr>
                        <a:rPr lang="vi-VN" i="1" smtClean="0">
                          <a:latin typeface="Cambria Math" panose="02040503050406030204" pitchFamily="18" charset="0"/>
                        </a:rPr>
                        <m:t>OneShotAcc</m:t>
                      </m:r>
                      <m:r>
                        <a:rPr lang="vi-VN" b="0" i="1" smtClean="0">
                          <a:latin typeface="Cambria Math" panose="02040503050406030204" pitchFamily="18" charset="0"/>
                        </a:rPr>
                        <m:t>=</m:t>
                      </m:r>
                      <m:f>
                        <m:fPr>
                          <m:ctrlPr>
                            <a:rPr lang="vi-VN" b="0" i="1" smtClean="0">
                              <a:latin typeface="Cambria Math" panose="02040503050406030204" pitchFamily="18" charset="0"/>
                            </a:rPr>
                          </m:ctrlPr>
                        </m:fPr>
                        <m:num>
                          <m:r>
                            <a:rPr lang="vi-VN" i="1">
                              <a:latin typeface="Cambria Math" panose="02040503050406030204" pitchFamily="18" charset="0"/>
                            </a:rPr>
                            <m:t>1</m:t>
                          </m:r>
                        </m:num>
                        <m:den>
                          <m:r>
                            <m:rPr>
                              <m:sty m:val="p"/>
                            </m:rPr>
                            <a:rPr lang="vi-VN" i="1">
                              <a:latin typeface="Cambria Math" panose="02040503050406030204" pitchFamily="18" charset="0"/>
                            </a:rPr>
                            <m:t>M</m:t>
                          </m:r>
                        </m:den>
                      </m:f>
                      <m:nary>
                        <m:naryPr>
                          <m:chr m:val="∑"/>
                          <m:limLoc m:val="subSup"/>
                          <m:ctrlPr>
                            <a:rPr lang="vi-VN" b="0" i="1" smtClean="0">
                              <a:latin typeface="Cambria Math" panose="02040503050406030204" pitchFamily="18" charset="0"/>
                            </a:rPr>
                          </m:ctrlPr>
                        </m:naryPr>
                        <m:sub>
                          <m:r>
                            <m:rPr>
                              <m:sty m:val="p"/>
                              <m:brk m:alnAt="25"/>
                            </m:rPr>
                            <a:rPr lang="vi-VN" i="1">
                              <a:latin typeface="Cambria Math" panose="02040503050406030204" pitchFamily="18" charset="0"/>
                            </a:rPr>
                            <m:t>i</m:t>
                          </m:r>
                          <m:r>
                            <a:rPr lang="vi-VN" b="0" i="1" smtClean="0">
                              <a:latin typeface="Cambria Math" panose="02040503050406030204" pitchFamily="18" charset="0"/>
                            </a:rPr>
                            <m:t>=</m:t>
                          </m:r>
                          <m:r>
                            <a:rPr lang="vi-VN" i="1">
                              <a:latin typeface="Cambria Math" panose="02040503050406030204" pitchFamily="18" charset="0"/>
                            </a:rPr>
                            <m:t>1</m:t>
                          </m:r>
                        </m:sub>
                        <m:sup>
                          <m:r>
                            <m:rPr>
                              <m:sty m:val="p"/>
                            </m:rPr>
                            <a:rPr lang="vi-VN" i="1">
                              <a:latin typeface="Cambria Math" panose="02040503050406030204" pitchFamily="18" charset="0"/>
                            </a:rPr>
                            <m:t>M</m:t>
                          </m:r>
                        </m:sup>
                        <m:e>
                          <m:sSub>
                            <m:sSubPr>
                              <m:ctrlPr>
                                <a:rPr lang="vi-VN" b="0" i="1" smtClean="0">
                                  <a:latin typeface="Cambria Math" panose="02040503050406030204" pitchFamily="18" charset="0"/>
                                </a:rPr>
                              </m:ctrlPr>
                            </m:sSubPr>
                            <m:e>
                              <m:r>
                                <m:rPr>
                                  <m:sty m:val="p"/>
                                </m:rPr>
                                <a:rPr lang="vi-VN" i="1">
                                  <a:latin typeface="Cambria Math" panose="02040503050406030204" pitchFamily="18" charset="0"/>
                                </a:rPr>
                                <m:t>c</m:t>
                              </m:r>
                            </m:e>
                            <m:sub>
                              <m:r>
                                <m:rPr>
                                  <m:sty m:val="p"/>
                                </m:rPr>
                                <a:rPr lang="vi-VN" i="1">
                                  <a:latin typeface="Cambria Math" panose="02040503050406030204" pitchFamily="18" charset="0"/>
                                </a:rPr>
                                <m:t>i</m:t>
                              </m:r>
                            </m:sub>
                          </m:sSub>
                        </m:e>
                      </m:nary>
                    </m:oMath>
                  </m:oMathPara>
                </a14:m>
                <a:endParaRPr lang="vi-VN"/>
              </a:p>
            </p:txBody>
          </p:sp>
        </mc:Choice>
        <mc:Fallback xmlns="">
          <p:sp>
            <p:nvSpPr>
              <p:cNvPr id="3" name="Content Placeholder 2">
                <a:extLst>
                  <a:ext uri="{FF2B5EF4-FFF2-40B4-BE49-F238E27FC236}">
                    <a16:creationId xmlns:a16="http://schemas.microsoft.com/office/drawing/2014/main" id="{378178D2-3397-D18A-88AA-C8BC21572C89}"/>
                  </a:ext>
                </a:extLst>
              </p:cNvPr>
              <p:cNvSpPr>
                <a:spLocks noGrp="1" noRot="1" noChangeAspect="1" noMove="1" noResize="1" noEditPoints="1" noAdjustHandles="1" noChangeArrowheads="1" noChangeShapeType="1" noTextEdit="1"/>
              </p:cNvSpPr>
              <p:nvPr>
                <p:ph idx="1"/>
              </p:nvPr>
            </p:nvSpPr>
            <p:spPr>
              <a:blipFill>
                <a:blip r:embed="rId2"/>
                <a:stretch>
                  <a:fillRect l="-1043" t="-3672"/>
                </a:stretch>
              </a:blipFill>
            </p:spPr>
            <p:txBody>
              <a:bodyPr/>
              <a:lstStyle/>
              <a:p>
                <a:r>
                  <a:rPr lang="vi-VN">
                    <a:noFill/>
                  </a:rPr>
                  <a:t> </a:t>
                </a:r>
              </a:p>
            </p:txBody>
          </p:sp>
        </mc:Fallback>
      </mc:AlternateContent>
    </p:spTree>
    <p:extLst>
      <p:ext uri="{BB962C8B-B14F-4D97-AF65-F5344CB8AC3E}">
        <p14:creationId xmlns:p14="http://schemas.microsoft.com/office/powerpoint/2010/main" val="415978029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animEffect transition="in" filter="fade">
                                      <p:cBhvr>
                                        <p:cTn id="13"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4AD92-8483-7AB3-D77D-A3A1D8169A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EB8469-89C8-F3E8-2209-3EAF0DBE2CCD}"/>
              </a:ext>
            </a:extLst>
          </p:cNvPr>
          <p:cNvSpPr>
            <a:spLocks noGrp="1"/>
          </p:cNvSpPr>
          <p:nvPr>
            <p:ph type="title"/>
          </p:nvPr>
        </p:nvSpPr>
        <p:spPr/>
        <p:txBody>
          <a:bodyPr>
            <a:normAutofit/>
          </a:bodyPr>
          <a:lstStyle/>
          <a:p>
            <a:r>
              <a:rPr lang="vi-VN"/>
              <a:t>V. Kết quả và đánh giá</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BD8D9E34-403F-69B7-6996-449C905422AF}"/>
                  </a:ext>
                </a:extLst>
              </p:cNvPr>
              <p:cNvSpPr>
                <a:spLocks noGrp="1"/>
              </p:cNvSpPr>
              <p:nvPr>
                <p:ph idx="1"/>
              </p:nvPr>
            </p:nvSpPr>
            <p:spPr/>
            <p:txBody>
              <a:bodyPr/>
              <a:lstStyle/>
              <a:p>
                <a:r>
                  <a:rPr lang="vi-VN"/>
                  <a:t>Độ chính xác one-shot:</a:t>
                </a:r>
              </a:p>
              <a:p>
                <a:pPr lvl="1"/>
                <a:r>
                  <a:rPr lang="vi-VN"/>
                  <a:t>Độ lệch chuẩn:</a:t>
                </a:r>
              </a:p>
              <a:p>
                <a:pPr lvl="1"/>
                <a14:m>
                  <m:oMath xmlns:m="http://schemas.openxmlformats.org/officeDocument/2006/math">
                    <m:r>
                      <a:rPr lang="vi-VN">
                        <a:latin typeface="Cambria Math" panose="02040503050406030204" pitchFamily="18" charset="0"/>
                      </a:rPr>
                      <m:t>𝜎</m:t>
                    </m:r>
                    <m:r>
                      <m:rPr>
                        <m:sty m:val="p"/>
                      </m:rPr>
                      <a:rPr lang="vi-VN" smtClean="0">
                        <a:latin typeface="Cambria Math" panose="02040503050406030204" pitchFamily="18" charset="0"/>
                      </a:rPr>
                      <m:t>OneShotAcc</m:t>
                    </m:r>
                    <m:r>
                      <a:rPr lang="vi-VN">
                        <a:latin typeface="Cambria Math" panose="02040503050406030204" pitchFamily="18" charset="0"/>
                      </a:rPr>
                      <m:t>= </m:t>
                    </m:r>
                    <m:rad>
                      <m:radPr>
                        <m:degHide m:val="on"/>
                        <m:ctrlPr>
                          <a:rPr lang="vi-VN" i="1">
                            <a:latin typeface="Cambria Math" panose="02040503050406030204" pitchFamily="18" charset="0"/>
                          </a:rPr>
                        </m:ctrlPr>
                      </m:radPr>
                      <m:deg/>
                      <m:e>
                        <m:f>
                          <m:fPr>
                            <m:ctrlPr>
                              <a:rPr lang="vi-VN" i="1">
                                <a:latin typeface="Cambria Math" panose="02040503050406030204" pitchFamily="18" charset="0"/>
                              </a:rPr>
                            </m:ctrlPr>
                          </m:fPr>
                          <m:num>
                            <m:r>
                              <a:rPr lang="vi-VN">
                                <a:latin typeface="Cambria Math" panose="02040503050406030204" pitchFamily="18" charset="0"/>
                              </a:rPr>
                              <m:t>1</m:t>
                            </m:r>
                          </m:num>
                          <m:den>
                            <m:r>
                              <m:rPr>
                                <m:sty m:val="p"/>
                              </m:rPr>
                              <a:rPr lang="vi-VN">
                                <a:latin typeface="Cambria Math" panose="02040503050406030204" pitchFamily="18" charset="0"/>
                              </a:rPr>
                              <m:t>M</m:t>
                            </m:r>
                            <m:r>
                              <a:rPr lang="vi-VN">
                                <a:latin typeface="Cambria Math" panose="02040503050406030204" pitchFamily="18" charset="0"/>
                              </a:rPr>
                              <m:t>−1</m:t>
                            </m:r>
                          </m:den>
                        </m:f>
                      </m:e>
                    </m:rad>
                    <m:nary>
                      <m:naryPr>
                        <m:chr m:val="∑"/>
                        <m:limLoc m:val="subSup"/>
                        <m:ctrlPr>
                          <a:rPr lang="vi-VN" i="1">
                            <a:latin typeface="Cambria Math" panose="02040503050406030204" pitchFamily="18" charset="0"/>
                          </a:rPr>
                        </m:ctrlPr>
                      </m:naryPr>
                      <m:sub>
                        <m:r>
                          <m:rPr>
                            <m:sty m:val="p"/>
                            <m:brk m:alnAt="1"/>
                          </m:rPr>
                          <a:rPr lang="vi-VN">
                            <a:latin typeface="Cambria Math" panose="02040503050406030204" pitchFamily="18" charset="0"/>
                          </a:rPr>
                          <m:t>i</m:t>
                        </m:r>
                        <m:r>
                          <a:rPr lang="vi-VN">
                            <a:latin typeface="Cambria Math" panose="02040503050406030204" pitchFamily="18" charset="0"/>
                          </a:rPr>
                          <m:t>=1</m:t>
                        </m:r>
                      </m:sub>
                      <m:sup>
                        <m:r>
                          <m:rPr>
                            <m:sty m:val="p"/>
                          </m:rPr>
                          <a:rPr lang="vi-VN">
                            <a:latin typeface="Cambria Math" panose="02040503050406030204" pitchFamily="18" charset="0"/>
                          </a:rPr>
                          <m:t>S</m:t>
                        </m:r>
                      </m:sup>
                      <m:e>
                        <m:sSup>
                          <m:sSupPr>
                            <m:ctrlPr>
                              <a:rPr lang="vi-VN" i="1">
                                <a:latin typeface="Cambria Math" panose="02040503050406030204" pitchFamily="18" charset="0"/>
                              </a:rPr>
                            </m:ctrlPr>
                          </m:sSupPr>
                          <m:e>
                            <m:r>
                              <a:rPr lang="vi-VN">
                                <a:latin typeface="Cambria Math" panose="02040503050406030204" pitchFamily="18" charset="0"/>
                              </a:rPr>
                              <m:t>(</m:t>
                            </m:r>
                            <m:sSub>
                              <m:sSubPr>
                                <m:ctrlPr>
                                  <a:rPr lang="vi-VN" i="1" smtClean="0">
                                    <a:latin typeface="Cambria Math" panose="02040503050406030204" pitchFamily="18" charset="0"/>
                                  </a:rPr>
                                </m:ctrlPr>
                              </m:sSubPr>
                              <m:e>
                                <m:r>
                                  <m:rPr>
                                    <m:sty m:val="p"/>
                                  </m:rPr>
                                  <a:rPr lang="vi-VN">
                                    <a:latin typeface="Cambria Math" panose="02040503050406030204" pitchFamily="18" charset="0"/>
                                  </a:rPr>
                                  <m:t>c</m:t>
                                </m:r>
                              </m:e>
                              <m:sub>
                                <m:r>
                                  <m:rPr>
                                    <m:sty m:val="p"/>
                                  </m:rPr>
                                  <a:rPr lang="vi-VN">
                                    <a:latin typeface="Cambria Math" panose="02040503050406030204" pitchFamily="18" charset="0"/>
                                  </a:rPr>
                                  <m:t>i</m:t>
                                </m:r>
                              </m:sub>
                            </m:sSub>
                            <m:r>
                              <a:rPr lang="vi-VN">
                                <a:latin typeface="Cambria Math" panose="02040503050406030204" pitchFamily="18" charset="0"/>
                              </a:rPr>
                              <m:t>−</m:t>
                            </m:r>
                            <m:r>
                              <m:rPr>
                                <m:sty m:val="p"/>
                              </m:rPr>
                              <a:rPr lang="vi-VN">
                                <a:latin typeface="Cambria Math" panose="02040503050406030204" pitchFamily="18" charset="0"/>
                              </a:rPr>
                              <m:t>OneShotAcc</m:t>
                            </m:r>
                            <m:r>
                              <a:rPr lang="vi-VN">
                                <a:latin typeface="Cambria Math" panose="02040503050406030204" pitchFamily="18" charset="0"/>
                              </a:rPr>
                              <m:t>)</m:t>
                            </m:r>
                          </m:e>
                          <m:sup>
                            <m:r>
                              <a:rPr lang="vi-VN">
                                <a:latin typeface="Cambria Math" panose="02040503050406030204" pitchFamily="18" charset="0"/>
                              </a:rPr>
                              <m:t>2</m:t>
                            </m:r>
                          </m:sup>
                        </m:sSup>
                      </m:e>
                    </m:nary>
                  </m:oMath>
                </a14:m>
                <a:endParaRPr lang="vi-VN"/>
              </a:p>
              <a:p>
                <a:pPr lvl="1"/>
                <a:endParaRPr lang="vi-VN"/>
              </a:p>
            </p:txBody>
          </p:sp>
        </mc:Choice>
        <mc:Fallback>
          <p:sp>
            <p:nvSpPr>
              <p:cNvPr id="3" name="Content Placeholder 2">
                <a:extLst>
                  <a:ext uri="{FF2B5EF4-FFF2-40B4-BE49-F238E27FC236}">
                    <a16:creationId xmlns:a16="http://schemas.microsoft.com/office/drawing/2014/main" id="{BD8D9E34-403F-69B7-6996-449C905422AF}"/>
                  </a:ext>
                </a:extLst>
              </p:cNvPr>
              <p:cNvSpPr>
                <a:spLocks noGrp="1" noRot="1" noChangeAspect="1" noMove="1" noResize="1" noEditPoints="1" noAdjustHandles="1" noChangeArrowheads="1" noChangeShapeType="1" noTextEdit="1"/>
              </p:cNvSpPr>
              <p:nvPr>
                <p:ph idx="1"/>
              </p:nvPr>
            </p:nvSpPr>
            <p:spPr>
              <a:blipFill>
                <a:blip r:embed="rId2"/>
                <a:stretch>
                  <a:fillRect l="-1043" t="-2203"/>
                </a:stretch>
              </a:blipFill>
            </p:spPr>
            <p:txBody>
              <a:bodyPr/>
              <a:lstStyle/>
              <a:p>
                <a:r>
                  <a:rPr lang="vi-VN">
                    <a:noFill/>
                  </a:rPr>
                  <a:t> </a:t>
                </a:r>
              </a:p>
            </p:txBody>
          </p:sp>
        </mc:Fallback>
      </mc:AlternateContent>
    </p:spTree>
    <p:extLst>
      <p:ext uri="{BB962C8B-B14F-4D97-AF65-F5344CB8AC3E}">
        <p14:creationId xmlns:p14="http://schemas.microsoft.com/office/powerpoint/2010/main" val="370427601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61B6C4-EC21-47D8-0AC2-1BA89E76B5B2}"/>
              </a:ext>
            </a:extLst>
          </p:cNvPr>
          <p:cNvSpPr>
            <a:spLocks noGrp="1"/>
          </p:cNvSpPr>
          <p:nvPr>
            <p:ph type="title"/>
          </p:nvPr>
        </p:nvSpPr>
        <p:spPr/>
        <p:txBody>
          <a:bodyPr>
            <a:normAutofit/>
          </a:bodyPr>
          <a:lstStyle/>
          <a:p>
            <a:r>
              <a:rPr lang="vi-VN"/>
              <a:t>V. Kết quả và đánh giá</a:t>
            </a:r>
          </a:p>
        </p:txBody>
      </p:sp>
      <p:sp>
        <p:nvSpPr>
          <p:cNvPr id="3" name="Content Placeholder 2">
            <a:extLst>
              <a:ext uri="{FF2B5EF4-FFF2-40B4-BE49-F238E27FC236}">
                <a16:creationId xmlns:a16="http://schemas.microsoft.com/office/drawing/2014/main" id="{5FCE16F7-07DC-B605-2392-0A7914E83DAC}"/>
              </a:ext>
            </a:extLst>
          </p:cNvPr>
          <p:cNvSpPr>
            <a:spLocks noGrp="1"/>
          </p:cNvSpPr>
          <p:nvPr>
            <p:ph idx="1"/>
          </p:nvPr>
        </p:nvSpPr>
        <p:spPr/>
        <p:txBody>
          <a:bodyPr/>
          <a:lstStyle/>
          <a:p>
            <a:r>
              <a:rPr lang="vi-VN"/>
              <a:t>KẾT QUẢ</a:t>
            </a:r>
          </a:p>
          <a:p>
            <a:r>
              <a:rPr lang="vi-VN"/>
              <a:t>Kết luận</a:t>
            </a:r>
          </a:p>
        </p:txBody>
      </p:sp>
    </p:spTree>
    <p:extLst>
      <p:ext uri="{BB962C8B-B14F-4D97-AF65-F5344CB8AC3E}">
        <p14:creationId xmlns:p14="http://schemas.microsoft.com/office/powerpoint/2010/main" val="330794228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8167CA2-6B0E-7A01-7577-870A1B4D99D6}"/>
              </a:ext>
            </a:extLst>
          </p:cNvPr>
          <p:cNvSpPr>
            <a:spLocks noGrp="1"/>
          </p:cNvSpPr>
          <p:nvPr>
            <p:ph type="title"/>
          </p:nvPr>
        </p:nvSpPr>
        <p:spPr/>
        <p:txBody>
          <a:bodyPr/>
          <a:lstStyle/>
          <a:p>
            <a:r>
              <a:rPr lang="vi-VN"/>
              <a:t>VI. Demo chatbot</a:t>
            </a:r>
          </a:p>
        </p:txBody>
      </p:sp>
      <p:sp>
        <p:nvSpPr>
          <p:cNvPr id="5" name="Text Placeholder 4">
            <a:extLst>
              <a:ext uri="{FF2B5EF4-FFF2-40B4-BE49-F238E27FC236}">
                <a16:creationId xmlns:a16="http://schemas.microsoft.com/office/drawing/2014/main" id="{E2F98F31-5A2A-8B53-0320-8EAC9013D1E9}"/>
              </a:ext>
            </a:extLst>
          </p:cNvPr>
          <p:cNvSpPr>
            <a:spLocks noGrp="1"/>
          </p:cNvSpPr>
          <p:nvPr>
            <p:ph type="body" idx="1"/>
          </p:nvPr>
        </p:nvSpPr>
        <p:spPr/>
        <p:txBody>
          <a:bodyPr/>
          <a:lstStyle/>
          <a:p>
            <a:endParaRPr lang="vi-VN"/>
          </a:p>
        </p:txBody>
      </p:sp>
    </p:spTree>
    <p:extLst>
      <p:ext uri="{BB962C8B-B14F-4D97-AF65-F5344CB8AC3E}">
        <p14:creationId xmlns:p14="http://schemas.microsoft.com/office/powerpoint/2010/main" val="144631385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36A7A1-7C3B-D39D-C828-2D7A23BCDDDA}"/>
              </a:ext>
            </a:extLst>
          </p:cNvPr>
          <p:cNvSpPr>
            <a:spLocks noGrp="1"/>
          </p:cNvSpPr>
          <p:nvPr>
            <p:ph type="title"/>
          </p:nvPr>
        </p:nvSpPr>
        <p:spPr/>
        <p:txBody>
          <a:bodyPr>
            <a:normAutofit/>
          </a:bodyPr>
          <a:lstStyle/>
          <a:p>
            <a:r>
              <a:rPr lang="vi-VN"/>
              <a:t>VI. Demo chatbot</a:t>
            </a:r>
          </a:p>
        </p:txBody>
      </p:sp>
      <p:pic>
        <p:nvPicPr>
          <p:cNvPr id="5" name="Content Placeholder 4">
            <a:extLst>
              <a:ext uri="{FF2B5EF4-FFF2-40B4-BE49-F238E27FC236}">
                <a16:creationId xmlns:a16="http://schemas.microsoft.com/office/drawing/2014/main" id="{949B039D-8AC5-257F-A8A0-44CE57F08947}"/>
              </a:ext>
            </a:extLst>
          </p:cNvPr>
          <p:cNvPicPr>
            <a:picLocks noGrp="1" noChangeAspect="1"/>
          </p:cNvPicPr>
          <p:nvPr>
            <p:ph idx="1"/>
          </p:nvPr>
        </p:nvPicPr>
        <p:blipFill>
          <a:blip r:embed="rId2"/>
          <a:stretch>
            <a:fillRect/>
          </a:stretch>
        </p:blipFill>
        <p:spPr>
          <a:xfrm>
            <a:off x="3216717" y="1193800"/>
            <a:ext cx="5758566" cy="4983163"/>
          </a:xfrm>
          <a:prstGeom prst="rect">
            <a:avLst/>
          </a:prstGeom>
        </p:spPr>
      </p:pic>
    </p:spTree>
    <p:extLst>
      <p:ext uri="{BB962C8B-B14F-4D97-AF65-F5344CB8AC3E}">
        <p14:creationId xmlns:p14="http://schemas.microsoft.com/office/powerpoint/2010/main" val="296224528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844</TotalTime>
  <Words>1504</Words>
  <Application>Microsoft Office PowerPoint</Application>
  <PresentationFormat>Widescreen</PresentationFormat>
  <Paragraphs>188</Paragraphs>
  <Slides>35</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35</vt:i4>
      </vt:variant>
    </vt:vector>
  </HeadingPairs>
  <TitlesOfParts>
    <vt:vector size="40" baseType="lpstr">
      <vt:lpstr>Aptos</vt:lpstr>
      <vt:lpstr>Arial</vt:lpstr>
      <vt:lpstr>Cambria Math</vt:lpstr>
      <vt:lpstr>Times New Roman</vt:lpstr>
      <vt:lpstr>Office Theme</vt:lpstr>
      <vt:lpstr>Chatbot Ẩm Thực</vt:lpstr>
      <vt:lpstr>Thông tin</vt:lpstr>
      <vt:lpstr>Thành viên nhóm</vt:lpstr>
      <vt:lpstr>Nội dung</vt:lpstr>
      <vt:lpstr>I. Giới thiệu bài toán</vt:lpstr>
      <vt:lpstr>I. Giới thiệu bài toán</vt:lpstr>
      <vt:lpstr>I. Giới thiệu bài toán</vt:lpstr>
      <vt:lpstr>II. Tổng quan dự án</vt:lpstr>
      <vt:lpstr>II. Tổng quan dự án</vt:lpstr>
      <vt:lpstr>II. Tổng quan </vt:lpstr>
      <vt:lpstr>III. Xử lý dữ liệu</vt:lpstr>
      <vt:lpstr>III. Xử lý dữ liệu</vt:lpstr>
      <vt:lpstr>III. Xử lý dữ liệu</vt:lpstr>
      <vt:lpstr>III. Xử lý dữ liệu</vt:lpstr>
      <vt:lpstr>III. Xử lý dữ liệu</vt:lpstr>
      <vt:lpstr>III. Xử lý dữ liệu</vt:lpstr>
      <vt:lpstr>IV. Hệ thống chatbot</vt:lpstr>
      <vt:lpstr>IV. Hệ thống chatbot</vt:lpstr>
      <vt:lpstr>IV. Hệ thống chatbot</vt:lpstr>
      <vt:lpstr>IV. Hệ thống chatbot</vt:lpstr>
      <vt:lpstr>IV. Hệ thống chatbot</vt:lpstr>
      <vt:lpstr>IV. Hệ thống chatbot</vt:lpstr>
      <vt:lpstr>IV. Hệ thống chatbot</vt:lpstr>
      <vt:lpstr>V. Kết quả và đánh giá</vt:lpstr>
      <vt:lpstr>V. Kết quả và đánh giá</vt:lpstr>
      <vt:lpstr>V. Kết quả và đánh giá</vt:lpstr>
      <vt:lpstr>V. Kết quả và đánh giá</vt:lpstr>
      <vt:lpstr>V. Kết quả và đánh giá</vt:lpstr>
      <vt:lpstr>V. Kết quả và đánh giá</vt:lpstr>
      <vt:lpstr>V. Kết quả và đánh giá</vt:lpstr>
      <vt:lpstr>V. Kết quả và đánh giá</vt:lpstr>
      <vt:lpstr>V. Kết quả và đánh giá</vt:lpstr>
      <vt:lpstr>V. Kết quả và đánh giá</vt:lpstr>
      <vt:lpstr>VI. Demo chatbot</vt:lpstr>
      <vt:lpstr>VI. Demo chatbot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Dang Hung</dc:creator>
  <cp:lastModifiedBy>Dang Hung</cp:lastModifiedBy>
  <cp:revision>2</cp:revision>
  <dcterms:created xsi:type="dcterms:W3CDTF">2025-11-29T10:14:34Z</dcterms:created>
  <dcterms:modified xsi:type="dcterms:W3CDTF">2025-11-30T13:26:05Z</dcterms:modified>
</cp:coreProperties>
</file>