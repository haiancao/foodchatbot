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74" r:id="rId3"/>
    <p:sldId id="275" r:id="rId4"/>
    <p:sldId id="257" r:id="rId5"/>
    <p:sldId id="258" r:id="rId6"/>
    <p:sldId id="259" r:id="rId7"/>
    <p:sldId id="260" r:id="rId8"/>
    <p:sldId id="261" r:id="rId9"/>
    <p:sldId id="262" r:id="rId10"/>
    <p:sldId id="265" r:id="rId11"/>
    <p:sldId id="264" r:id="rId12"/>
    <p:sldId id="263" r:id="rId13"/>
    <p:sldId id="267" r:id="rId14"/>
    <p:sldId id="268" r:id="rId15"/>
    <p:sldId id="269" r:id="rId16"/>
    <p:sldId id="270" r:id="rId17"/>
    <p:sldId id="271" r:id="rId18"/>
    <p:sldId id="272" r:id="rId19"/>
    <p:sldId id="276" r:id="rId20"/>
    <p:sldId id="277" r:id="rId21"/>
    <p:sldId id="278" r:id="rId22"/>
    <p:sldId id="279" r:id="rId23"/>
    <p:sldId id="280" r:id="rId24"/>
    <p:sldId id="289" r:id="rId25"/>
    <p:sldId id="281" r:id="rId26"/>
    <p:sldId id="288" r:id="rId27"/>
    <p:sldId id="282" r:id="rId28"/>
    <p:sldId id="290" r:id="rId29"/>
    <p:sldId id="285" r:id="rId30"/>
    <p:sldId id="291" r:id="rId31"/>
    <p:sldId id="286" r:id="rId32"/>
    <p:sldId id="292" r:id="rId33"/>
    <p:sldId id="283" r:id="rId34"/>
    <p:sldId id="293" r:id="rId35"/>
    <p:sldId id="284" r:id="rId36"/>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996600"/>
    <a:srgbClr val="99CC00"/>
    <a:srgbClr val="006699"/>
    <a:srgbClr val="00FFFF"/>
    <a:srgbClr val="FF292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1" autoAdjust="0"/>
    <p:restoredTop sz="94660"/>
  </p:normalViewPr>
  <p:slideViewPr>
    <p:cSldViewPr snapToGrid="0">
      <p:cViewPr varScale="1">
        <p:scale>
          <a:sx n="101" d="100"/>
          <a:sy n="101" d="100"/>
        </p:scale>
        <p:origin x="150"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A04C40-BD28-4243-928B-B59B34B35460}" type="datetimeFigureOut">
              <a:rPr lang="vi-VN" smtClean="0"/>
              <a:t>30/11/2025</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779D7B-E594-4D86-A5E4-613FD71702B3}" type="slidenum">
              <a:rPr lang="vi-VN" smtClean="0"/>
              <a:t>‹#›</a:t>
            </a:fld>
            <a:endParaRPr lang="vi-VN"/>
          </a:p>
        </p:txBody>
      </p:sp>
    </p:spTree>
    <p:extLst>
      <p:ext uri="{BB962C8B-B14F-4D97-AF65-F5344CB8AC3E}">
        <p14:creationId xmlns:p14="http://schemas.microsoft.com/office/powerpoint/2010/main" val="730133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DF779D7B-E594-4D86-A5E4-613FD71702B3}" type="slidenum">
              <a:rPr lang="vi-VN" smtClean="0"/>
              <a:t>19</a:t>
            </a:fld>
            <a:endParaRPr lang="vi-VN"/>
          </a:p>
        </p:txBody>
      </p:sp>
    </p:spTree>
    <p:extLst>
      <p:ext uri="{BB962C8B-B14F-4D97-AF65-F5344CB8AC3E}">
        <p14:creationId xmlns:p14="http://schemas.microsoft.com/office/powerpoint/2010/main" val="1256236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DF779D7B-E594-4D86-A5E4-613FD71702B3}" type="slidenum">
              <a:rPr lang="vi-VN" smtClean="0"/>
              <a:t>33</a:t>
            </a:fld>
            <a:endParaRPr lang="vi-VN"/>
          </a:p>
        </p:txBody>
      </p:sp>
    </p:spTree>
    <p:extLst>
      <p:ext uri="{BB962C8B-B14F-4D97-AF65-F5344CB8AC3E}">
        <p14:creationId xmlns:p14="http://schemas.microsoft.com/office/powerpoint/2010/main" val="927257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5C9EB-CD2F-20A4-3706-E8AD697E0358}"/>
              </a:ext>
            </a:extLst>
          </p:cNvPr>
          <p:cNvSpPr>
            <a:spLocks noGrp="1"/>
          </p:cNvSpPr>
          <p:nvPr>
            <p:ph type="ctrTitle"/>
          </p:nvPr>
        </p:nvSpPr>
        <p:spPr>
          <a:xfrm>
            <a:off x="1524000" y="1122363"/>
            <a:ext cx="9144000" cy="2387600"/>
          </a:xfrm>
        </p:spPr>
        <p:txBody>
          <a:bodyPr anchor="b"/>
          <a:lstStyle>
            <a:lvl1pPr algn="ctr">
              <a:defRPr sz="6000" b="1"/>
            </a:lvl1pPr>
          </a:lstStyle>
          <a:p>
            <a:r>
              <a:rPr lang="en-US"/>
              <a:t>Click to edit Master title style</a:t>
            </a:r>
            <a:endParaRPr lang="vi-VN"/>
          </a:p>
        </p:txBody>
      </p:sp>
      <p:sp>
        <p:nvSpPr>
          <p:cNvPr id="3" name="Subtitle 2">
            <a:extLst>
              <a:ext uri="{FF2B5EF4-FFF2-40B4-BE49-F238E27FC236}">
                <a16:creationId xmlns:a16="http://schemas.microsoft.com/office/drawing/2014/main" id="{7D863A89-3CBA-1E6C-2273-9592212E9F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08B125E3-4733-F139-5B68-A5BD0E944F17}"/>
              </a:ext>
            </a:extLst>
          </p:cNvPr>
          <p:cNvSpPr>
            <a:spLocks noGrp="1"/>
          </p:cNvSpPr>
          <p:nvPr>
            <p:ph type="dt" sz="half" idx="10"/>
          </p:nvPr>
        </p:nvSpPr>
        <p:spPr/>
        <p:txBody>
          <a:bodyPr/>
          <a:lstStyle/>
          <a:p>
            <a:fld id="{D1BF5DF2-1316-4EFE-B506-44D0E7826730}" type="datetime1">
              <a:rPr lang="vi-VN" smtClean="0"/>
              <a:t>30/11/2025</a:t>
            </a:fld>
            <a:endParaRPr lang="vi-VN"/>
          </a:p>
        </p:txBody>
      </p:sp>
      <p:sp>
        <p:nvSpPr>
          <p:cNvPr id="5" name="Footer Placeholder 4">
            <a:extLst>
              <a:ext uri="{FF2B5EF4-FFF2-40B4-BE49-F238E27FC236}">
                <a16:creationId xmlns:a16="http://schemas.microsoft.com/office/drawing/2014/main" id="{D082A6F1-38AD-AB39-7B7A-C3BCEE63A9BE}"/>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D682D98D-C16C-2111-F73A-03B0DA604932}"/>
              </a:ext>
            </a:extLst>
          </p:cNvPr>
          <p:cNvSpPr>
            <a:spLocks noGrp="1"/>
          </p:cNvSpPr>
          <p:nvPr>
            <p:ph type="sldNum" sz="quarter" idx="12"/>
          </p:nvPr>
        </p:nvSpPr>
        <p:spPr/>
        <p:txBody>
          <a:bodyPr/>
          <a:lstStyle/>
          <a:p>
            <a:fld id="{4ED22EA6-6E07-498D-89D0-2FA887FD1E5C}" type="slidenum">
              <a:rPr lang="vi-VN" smtClean="0"/>
              <a:t>‹#›</a:t>
            </a:fld>
            <a:endParaRPr lang="vi-VN"/>
          </a:p>
        </p:txBody>
      </p:sp>
    </p:spTree>
    <p:extLst>
      <p:ext uri="{BB962C8B-B14F-4D97-AF65-F5344CB8AC3E}">
        <p14:creationId xmlns:p14="http://schemas.microsoft.com/office/powerpoint/2010/main" val="4259174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E4BB7-A2E2-B128-D624-47416DEAC492}"/>
              </a:ext>
            </a:extLst>
          </p:cNvPr>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37821069-E065-3079-BDF8-4048687032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93A35624-8C06-385E-7B84-DC5DB9D4B51B}"/>
              </a:ext>
            </a:extLst>
          </p:cNvPr>
          <p:cNvSpPr>
            <a:spLocks noGrp="1"/>
          </p:cNvSpPr>
          <p:nvPr>
            <p:ph type="dt" sz="half" idx="10"/>
          </p:nvPr>
        </p:nvSpPr>
        <p:spPr/>
        <p:txBody>
          <a:bodyPr/>
          <a:lstStyle/>
          <a:p>
            <a:fld id="{92F96A3F-CAA8-44F9-930A-A5C3BB12A00B}" type="datetime1">
              <a:rPr lang="vi-VN" smtClean="0"/>
              <a:t>30/11/2025</a:t>
            </a:fld>
            <a:endParaRPr lang="vi-VN"/>
          </a:p>
        </p:txBody>
      </p:sp>
      <p:sp>
        <p:nvSpPr>
          <p:cNvPr id="5" name="Footer Placeholder 4">
            <a:extLst>
              <a:ext uri="{FF2B5EF4-FFF2-40B4-BE49-F238E27FC236}">
                <a16:creationId xmlns:a16="http://schemas.microsoft.com/office/drawing/2014/main" id="{675524C3-759E-17F6-2E3E-D7CE6FCE1570}"/>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D77E189F-466F-7938-65D0-3813C1ED6165}"/>
              </a:ext>
            </a:extLst>
          </p:cNvPr>
          <p:cNvSpPr>
            <a:spLocks noGrp="1"/>
          </p:cNvSpPr>
          <p:nvPr>
            <p:ph type="sldNum" sz="quarter" idx="12"/>
          </p:nvPr>
        </p:nvSpPr>
        <p:spPr/>
        <p:txBody>
          <a:bodyPr/>
          <a:lstStyle/>
          <a:p>
            <a:fld id="{4ED22EA6-6E07-498D-89D0-2FA887FD1E5C}" type="slidenum">
              <a:rPr lang="vi-VN" smtClean="0"/>
              <a:t>‹#›</a:t>
            </a:fld>
            <a:endParaRPr lang="vi-VN"/>
          </a:p>
        </p:txBody>
      </p:sp>
    </p:spTree>
    <p:extLst>
      <p:ext uri="{BB962C8B-B14F-4D97-AF65-F5344CB8AC3E}">
        <p14:creationId xmlns:p14="http://schemas.microsoft.com/office/powerpoint/2010/main" val="3975324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77D56-F60C-F2C7-BAF9-0BDF7D62FA34}"/>
              </a:ext>
            </a:extLst>
          </p:cNvPr>
          <p:cNvSpPr>
            <a:spLocks noGrp="1"/>
          </p:cNvSpPr>
          <p:nvPr>
            <p:ph type="title"/>
          </p:nvPr>
        </p:nvSpPr>
        <p:spPr>
          <a:xfrm>
            <a:off x="831850" y="1709738"/>
            <a:ext cx="10515600" cy="2852737"/>
          </a:xfrm>
        </p:spPr>
        <p:txBody>
          <a:bodyPr anchor="b"/>
          <a:lstStyle>
            <a:lvl1pPr>
              <a:defRPr sz="6000" b="1"/>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5299144E-64F1-7AB0-2D3A-980B67E3CD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0350A1-799D-2454-577D-FAFE8446CBD8}"/>
              </a:ext>
            </a:extLst>
          </p:cNvPr>
          <p:cNvSpPr>
            <a:spLocks noGrp="1"/>
          </p:cNvSpPr>
          <p:nvPr>
            <p:ph type="dt" sz="half" idx="10"/>
          </p:nvPr>
        </p:nvSpPr>
        <p:spPr/>
        <p:txBody>
          <a:bodyPr/>
          <a:lstStyle/>
          <a:p>
            <a:fld id="{C00CA32E-BDE3-42B6-9E80-60BBD6582E19}" type="datetime1">
              <a:rPr lang="vi-VN" smtClean="0"/>
              <a:t>30/11/2025</a:t>
            </a:fld>
            <a:endParaRPr lang="vi-VN"/>
          </a:p>
        </p:txBody>
      </p:sp>
      <p:sp>
        <p:nvSpPr>
          <p:cNvPr id="5" name="Footer Placeholder 4">
            <a:extLst>
              <a:ext uri="{FF2B5EF4-FFF2-40B4-BE49-F238E27FC236}">
                <a16:creationId xmlns:a16="http://schemas.microsoft.com/office/drawing/2014/main" id="{0F7E41D2-7B36-8286-59BC-4591BE24F38A}"/>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E48568B2-1CDB-6ABC-ED85-6E3AAF4DCE7A}"/>
              </a:ext>
            </a:extLst>
          </p:cNvPr>
          <p:cNvSpPr>
            <a:spLocks noGrp="1"/>
          </p:cNvSpPr>
          <p:nvPr>
            <p:ph type="sldNum" sz="quarter" idx="12"/>
          </p:nvPr>
        </p:nvSpPr>
        <p:spPr/>
        <p:txBody>
          <a:bodyPr/>
          <a:lstStyle/>
          <a:p>
            <a:fld id="{4ED22EA6-6E07-498D-89D0-2FA887FD1E5C}" type="slidenum">
              <a:rPr lang="vi-VN" smtClean="0"/>
              <a:t>‹#›</a:t>
            </a:fld>
            <a:endParaRPr lang="vi-VN"/>
          </a:p>
        </p:txBody>
      </p:sp>
    </p:spTree>
    <p:extLst>
      <p:ext uri="{BB962C8B-B14F-4D97-AF65-F5344CB8AC3E}">
        <p14:creationId xmlns:p14="http://schemas.microsoft.com/office/powerpoint/2010/main" val="1120416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C2F69-8E25-456E-B604-D1D531AE2182}"/>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D3F9DC7C-5383-2976-CEB1-55C5F490ABB3}"/>
              </a:ext>
            </a:extLst>
          </p:cNvPr>
          <p:cNvSpPr>
            <a:spLocks noGrp="1"/>
          </p:cNvSpPr>
          <p:nvPr>
            <p:ph sz="half" idx="1"/>
          </p:nvPr>
        </p:nvSpPr>
        <p:spPr>
          <a:xfrm>
            <a:off x="838200" y="1193800"/>
            <a:ext cx="5181600" cy="4983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BC51B79C-62FB-5724-7F98-50E6048DFD3F}"/>
              </a:ext>
            </a:extLst>
          </p:cNvPr>
          <p:cNvSpPr>
            <a:spLocks noGrp="1"/>
          </p:cNvSpPr>
          <p:nvPr>
            <p:ph sz="half" idx="2"/>
          </p:nvPr>
        </p:nvSpPr>
        <p:spPr>
          <a:xfrm>
            <a:off x="6172200" y="1193800"/>
            <a:ext cx="5181600" cy="4983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BDB42C93-64E1-35D3-F23C-9D6C4840565C}"/>
              </a:ext>
            </a:extLst>
          </p:cNvPr>
          <p:cNvSpPr>
            <a:spLocks noGrp="1"/>
          </p:cNvSpPr>
          <p:nvPr>
            <p:ph type="dt" sz="half" idx="10"/>
          </p:nvPr>
        </p:nvSpPr>
        <p:spPr/>
        <p:txBody>
          <a:bodyPr/>
          <a:lstStyle/>
          <a:p>
            <a:fld id="{0259A9EF-F408-4EF9-9765-2A696B4DB90F}" type="datetime1">
              <a:rPr lang="vi-VN" smtClean="0"/>
              <a:t>30/11/2025</a:t>
            </a:fld>
            <a:endParaRPr lang="vi-VN"/>
          </a:p>
        </p:txBody>
      </p:sp>
      <p:sp>
        <p:nvSpPr>
          <p:cNvPr id="6" name="Footer Placeholder 5">
            <a:extLst>
              <a:ext uri="{FF2B5EF4-FFF2-40B4-BE49-F238E27FC236}">
                <a16:creationId xmlns:a16="http://schemas.microsoft.com/office/drawing/2014/main" id="{7F98F3B0-22E8-B542-6ECD-3299E1098974}"/>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7922FB48-67EA-0E06-F743-F608576EB2C3}"/>
              </a:ext>
            </a:extLst>
          </p:cNvPr>
          <p:cNvSpPr>
            <a:spLocks noGrp="1"/>
          </p:cNvSpPr>
          <p:nvPr>
            <p:ph type="sldNum" sz="quarter" idx="12"/>
          </p:nvPr>
        </p:nvSpPr>
        <p:spPr/>
        <p:txBody>
          <a:bodyPr/>
          <a:lstStyle/>
          <a:p>
            <a:fld id="{4ED22EA6-6E07-498D-89D0-2FA887FD1E5C}" type="slidenum">
              <a:rPr lang="vi-VN" smtClean="0"/>
              <a:t>‹#›</a:t>
            </a:fld>
            <a:endParaRPr lang="vi-VN"/>
          </a:p>
        </p:txBody>
      </p:sp>
    </p:spTree>
    <p:extLst>
      <p:ext uri="{BB962C8B-B14F-4D97-AF65-F5344CB8AC3E}">
        <p14:creationId xmlns:p14="http://schemas.microsoft.com/office/powerpoint/2010/main" val="10911559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2340B8-F7E1-D0F3-E63E-DF77BCAE1492}"/>
              </a:ext>
            </a:extLst>
          </p:cNvPr>
          <p:cNvSpPr>
            <a:spLocks noGrp="1"/>
          </p:cNvSpPr>
          <p:nvPr>
            <p:ph type="title"/>
          </p:nvPr>
        </p:nvSpPr>
        <p:spPr>
          <a:xfrm>
            <a:off x="838200" y="365126"/>
            <a:ext cx="10515600" cy="828674"/>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5F289FB4-45F4-8BB9-DF15-A551783996DD}"/>
              </a:ext>
            </a:extLst>
          </p:cNvPr>
          <p:cNvSpPr>
            <a:spLocks noGrp="1"/>
          </p:cNvSpPr>
          <p:nvPr>
            <p:ph type="body" idx="1"/>
          </p:nvPr>
        </p:nvSpPr>
        <p:spPr>
          <a:xfrm>
            <a:off x="838200" y="1193800"/>
            <a:ext cx="10515600" cy="4983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582A62EA-FF14-0EB0-11C5-0AF603999E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8E9F20-23F7-44A2-8900-FFBAC831C044}" type="datetime1">
              <a:rPr lang="vi-VN" smtClean="0"/>
              <a:t>30/11/2025</a:t>
            </a:fld>
            <a:endParaRPr lang="vi-VN"/>
          </a:p>
        </p:txBody>
      </p:sp>
      <p:sp>
        <p:nvSpPr>
          <p:cNvPr id="5" name="Footer Placeholder 4">
            <a:extLst>
              <a:ext uri="{FF2B5EF4-FFF2-40B4-BE49-F238E27FC236}">
                <a16:creationId xmlns:a16="http://schemas.microsoft.com/office/drawing/2014/main" id="{8816B055-5FB7-AEB5-084B-2BC346E62A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Slide Number Placeholder 5">
            <a:extLst>
              <a:ext uri="{FF2B5EF4-FFF2-40B4-BE49-F238E27FC236}">
                <a16:creationId xmlns:a16="http://schemas.microsoft.com/office/drawing/2014/main" id="{743485B8-00D1-BFE2-1171-2D6EE42002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D22EA6-6E07-498D-89D0-2FA887FD1E5C}" type="slidenum">
              <a:rPr lang="vi-VN" smtClean="0"/>
              <a:t>‹#›</a:t>
            </a:fld>
            <a:endParaRPr lang="vi-VN"/>
          </a:p>
        </p:txBody>
      </p:sp>
      <p:sp>
        <p:nvSpPr>
          <p:cNvPr id="7" name="Rectangle 6">
            <a:extLst>
              <a:ext uri="{FF2B5EF4-FFF2-40B4-BE49-F238E27FC236}">
                <a16:creationId xmlns:a16="http://schemas.microsoft.com/office/drawing/2014/main" id="{ACC93C87-C713-0053-A38E-A9C88CAA3E42}"/>
              </a:ext>
            </a:extLst>
          </p:cNvPr>
          <p:cNvSpPr/>
          <p:nvPr userDrawn="1"/>
        </p:nvSpPr>
        <p:spPr>
          <a:xfrm>
            <a:off x="0" y="6176963"/>
            <a:ext cx="12192000" cy="681037"/>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16962669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lnSpc>
          <a:spcPct val="90000"/>
        </a:lnSpc>
        <a:spcBef>
          <a:spcPct val="0"/>
        </a:spcBef>
        <a:buNone/>
        <a:defRPr sz="4400" b="1"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3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HaianCao/FoodChatbot/blob/main/slide.pptx" TargetMode="External"/><Relationship Id="rId2" Type="http://schemas.openxmlformats.org/officeDocument/2006/relationships/hyperlink" Target="https://github.com/HaianCao/FoodChatbot/blob/main/LaTeX%20Template/main-vi.pdf" TargetMode="External"/><Relationship Id="rId1" Type="http://schemas.openxmlformats.org/officeDocument/2006/relationships/slideLayout" Target="../slideLayouts/slideLayout2.xml"/><Relationship Id="rId4" Type="http://schemas.openxmlformats.org/officeDocument/2006/relationships/hyperlink" Target="https://github.com/HaianCao/FoodChatbo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hyperlink" Target="https://therecipecritic.com/"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D86FE-1FD5-AB72-F677-C1745DFCE1A9}"/>
              </a:ext>
            </a:extLst>
          </p:cNvPr>
          <p:cNvSpPr>
            <a:spLocks noGrp="1"/>
          </p:cNvSpPr>
          <p:nvPr>
            <p:ph type="ctrTitle"/>
          </p:nvPr>
        </p:nvSpPr>
        <p:spPr/>
        <p:txBody>
          <a:bodyPr/>
          <a:lstStyle/>
          <a:p>
            <a:r>
              <a:rPr lang="vi-VN" b="1"/>
              <a:t>Chatbot Ẩm Thực</a:t>
            </a:r>
          </a:p>
        </p:txBody>
      </p:sp>
      <p:sp>
        <p:nvSpPr>
          <p:cNvPr id="3" name="Subtitle 2">
            <a:extLst>
              <a:ext uri="{FF2B5EF4-FFF2-40B4-BE49-F238E27FC236}">
                <a16:creationId xmlns:a16="http://schemas.microsoft.com/office/drawing/2014/main" id="{7DF5C7E1-F6C6-3641-3172-1443CFD9CD21}"/>
              </a:ext>
            </a:extLst>
          </p:cNvPr>
          <p:cNvSpPr>
            <a:spLocks noGrp="1"/>
          </p:cNvSpPr>
          <p:nvPr>
            <p:ph type="subTitle" idx="1"/>
          </p:nvPr>
        </p:nvSpPr>
        <p:spPr/>
        <p:txBody>
          <a:bodyPr/>
          <a:lstStyle/>
          <a:p>
            <a:endParaRPr lang="vi-VN"/>
          </a:p>
        </p:txBody>
      </p:sp>
      <p:sp>
        <p:nvSpPr>
          <p:cNvPr id="4" name="Slide Number Placeholder 3">
            <a:extLst>
              <a:ext uri="{FF2B5EF4-FFF2-40B4-BE49-F238E27FC236}">
                <a16:creationId xmlns:a16="http://schemas.microsoft.com/office/drawing/2014/main" id="{80B07CCA-539D-E6E8-9B2D-8FCC4F4DF534}"/>
              </a:ext>
            </a:extLst>
          </p:cNvPr>
          <p:cNvSpPr>
            <a:spLocks noGrp="1"/>
          </p:cNvSpPr>
          <p:nvPr>
            <p:ph type="sldNum" sz="quarter" idx="12"/>
          </p:nvPr>
        </p:nvSpPr>
        <p:spPr/>
        <p:txBody>
          <a:bodyPr/>
          <a:lstStyle/>
          <a:p>
            <a:fld id="{4ED22EA6-6E07-498D-89D0-2FA887FD1E5C}" type="slidenum">
              <a:rPr lang="vi-VN" smtClean="0"/>
              <a:t>1</a:t>
            </a:fld>
            <a:endParaRPr lang="vi-VN"/>
          </a:p>
        </p:txBody>
      </p:sp>
    </p:spTree>
    <p:extLst>
      <p:ext uri="{BB962C8B-B14F-4D97-AF65-F5344CB8AC3E}">
        <p14:creationId xmlns:p14="http://schemas.microsoft.com/office/powerpoint/2010/main" val="111438252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C90A6-AE36-81A0-0419-ACE019268365}"/>
              </a:ext>
            </a:extLst>
          </p:cNvPr>
          <p:cNvSpPr>
            <a:spLocks noGrp="1"/>
          </p:cNvSpPr>
          <p:nvPr>
            <p:ph type="title"/>
          </p:nvPr>
        </p:nvSpPr>
        <p:spPr/>
        <p:txBody>
          <a:bodyPr>
            <a:normAutofit/>
          </a:bodyPr>
          <a:lstStyle/>
          <a:p>
            <a:r>
              <a:rPr lang="vi-VN"/>
              <a:t>Thông tin</a:t>
            </a:r>
          </a:p>
        </p:txBody>
      </p:sp>
      <p:sp>
        <p:nvSpPr>
          <p:cNvPr id="3" name="Content Placeholder 2">
            <a:extLst>
              <a:ext uri="{FF2B5EF4-FFF2-40B4-BE49-F238E27FC236}">
                <a16:creationId xmlns:a16="http://schemas.microsoft.com/office/drawing/2014/main" id="{235DA66D-15F4-5460-04D4-E67BFA92021E}"/>
              </a:ext>
            </a:extLst>
          </p:cNvPr>
          <p:cNvSpPr>
            <a:spLocks noGrp="1"/>
          </p:cNvSpPr>
          <p:nvPr>
            <p:ph idx="1"/>
          </p:nvPr>
        </p:nvSpPr>
        <p:spPr/>
        <p:txBody>
          <a:bodyPr>
            <a:normAutofit fontScale="77500" lnSpcReduction="20000"/>
          </a:bodyPr>
          <a:lstStyle/>
          <a:p>
            <a:r>
              <a:rPr lang="vi-VN" b="1" dirty="0"/>
              <a:t>Môn học:</a:t>
            </a:r>
            <a:r>
              <a:rPr lang="vi-VN" dirty="0"/>
              <a:t> MAT1207E - Nhập môn Trí tuệ Nhân tạo</a:t>
            </a:r>
          </a:p>
          <a:p>
            <a:r>
              <a:rPr lang="vi-VN" b="1" dirty="0"/>
              <a:t>Học kỳ:</a:t>
            </a:r>
            <a:r>
              <a:rPr lang="vi-VN" dirty="0"/>
              <a:t> Học kỳ 1 - 2025-2026</a:t>
            </a:r>
          </a:p>
          <a:p>
            <a:r>
              <a:rPr lang="vi-VN" b="1" dirty="0"/>
              <a:t>Trường:</a:t>
            </a:r>
            <a:r>
              <a:rPr lang="vi-VN" dirty="0"/>
              <a:t> VNU-HUS (Đại học Quốc gia Hà Nội - Trường Đại học Khoa học Tự nhiên)</a:t>
            </a:r>
          </a:p>
          <a:p>
            <a:r>
              <a:rPr lang="vi-VN" b="1" dirty="0"/>
              <a:t>Tiêu đề:</a:t>
            </a:r>
            <a:r>
              <a:rPr lang="vi-VN" dirty="0"/>
              <a:t> </a:t>
            </a:r>
            <a:r>
              <a:rPr lang="vi-VN" dirty="0" err="1"/>
              <a:t>Chatbot</a:t>
            </a:r>
            <a:r>
              <a:rPr lang="vi-VN" dirty="0"/>
              <a:t> ẩm thực</a:t>
            </a:r>
          </a:p>
          <a:p>
            <a:r>
              <a:rPr lang="vi-VN" b="1" dirty="0"/>
              <a:t>Ngày nộp:</a:t>
            </a:r>
            <a:r>
              <a:rPr lang="en-US" b="1" dirty="0"/>
              <a:t> 30/11/2025</a:t>
            </a:r>
            <a:endParaRPr lang="vi-VN" dirty="0"/>
          </a:p>
          <a:p>
            <a:r>
              <a:rPr lang="vi-VN" b="1" dirty="0"/>
              <a:t>Báo cáo PDF:</a:t>
            </a:r>
            <a:r>
              <a:rPr lang="vi-VN" dirty="0"/>
              <a:t> </a:t>
            </a:r>
            <a:r>
              <a:rPr lang="vi-VN" dirty="0" err="1">
                <a:hlinkClick r:id="rId2"/>
              </a:rPr>
              <a:t>Github</a:t>
            </a:r>
            <a:endParaRPr lang="vi-VN" dirty="0"/>
          </a:p>
          <a:p>
            <a:r>
              <a:rPr lang="vi-VN" b="1" dirty="0" err="1"/>
              <a:t>Slide</a:t>
            </a:r>
            <a:r>
              <a:rPr lang="vi-VN" b="1" dirty="0"/>
              <a:t> thuyết trình:</a:t>
            </a:r>
            <a:r>
              <a:rPr lang="vi-VN" dirty="0"/>
              <a:t> </a:t>
            </a:r>
            <a:r>
              <a:rPr lang="vi-VN" dirty="0" err="1">
                <a:hlinkClick r:id="rId3"/>
              </a:rPr>
              <a:t>Github</a:t>
            </a:r>
            <a:endParaRPr lang="en-US" dirty="0"/>
          </a:p>
          <a:p>
            <a:r>
              <a:rPr lang="vi-VN" b="1" dirty="0"/>
              <a:t>Kho lưu trữ:</a:t>
            </a:r>
            <a:r>
              <a:rPr lang="vi-VN" dirty="0"/>
              <a:t> </a:t>
            </a:r>
            <a:r>
              <a:rPr lang="vi-VN" dirty="0" err="1">
                <a:hlinkClick r:id="rId4"/>
              </a:rPr>
              <a:t>Github</a:t>
            </a:r>
            <a:endParaRPr lang="vi-VN" dirty="0"/>
          </a:p>
          <a:p>
            <a:endParaRPr lang="vi-VN" dirty="0"/>
          </a:p>
        </p:txBody>
      </p:sp>
      <p:sp>
        <p:nvSpPr>
          <p:cNvPr id="4" name="Slide Number Placeholder 3">
            <a:extLst>
              <a:ext uri="{FF2B5EF4-FFF2-40B4-BE49-F238E27FC236}">
                <a16:creationId xmlns:a16="http://schemas.microsoft.com/office/drawing/2014/main" id="{70340DDF-0571-5F91-C526-5784A2B98EF5}"/>
              </a:ext>
            </a:extLst>
          </p:cNvPr>
          <p:cNvSpPr>
            <a:spLocks noGrp="1"/>
          </p:cNvSpPr>
          <p:nvPr>
            <p:ph type="sldNum" sz="quarter" idx="12"/>
          </p:nvPr>
        </p:nvSpPr>
        <p:spPr/>
        <p:txBody>
          <a:bodyPr/>
          <a:lstStyle/>
          <a:p>
            <a:fld id="{4ED22EA6-6E07-498D-89D0-2FA887FD1E5C}" type="slidenum">
              <a:rPr lang="vi-VN" smtClean="0"/>
              <a:t>2</a:t>
            </a:fld>
            <a:endParaRPr lang="vi-VN"/>
          </a:p>
        </p:txBody>
      </p:sp>
    </p:spTree>
    <p:extLst>
      <p:ext uri="{BB962C8B-B14F-4D97-AF65-F5344CB8AC3E}">
        <p14:creationId xmlns:p14="http://schemas.microsoft.com/office/powerpoint/2010/main" val="226423492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A3490-3E4D-864F-7C99-0A2852DDA261}"/>
              </a:ext>
            </a:extLst>
          </p:cNvPr>
          <p:cNvSpPr>
            <a:spLocks noGrp="1"/>
          </p:cNvSpPr>
          <p:nvPr>
            <p:ph type="title"/>
          </p:nvPr>
        </p:nvSpPr>
        <p:spPr/>
        <p:txBody>
          <a:bodyPr>
            <a:normAutofit/>
          </a:bodyPr>
          <a:lstStyle/>
          <a:p>
            <a:r>
              <a:rPr lang="vi-VN"/>
              <a:t>Thành viên nhóm</a:t>
            </a:r>
          </a:p>
        </p:txBody>
      </p:sp>
      <p:graphicFrame>
        <p:nvGraphicFramePr>
          <p:cNvPr id="4" name="Content Placeholder 3">
            <a:extLst>
              <a:ext uri="{FF2B5EF4-FFF2-40B4-BE49-F238E27FC236}">
                <a16:creationId xmlns:a16="http://schemas.microsoft.com/office/drawing/2014/main" id="{05DB8F99-E416-EDB8-CD8B-BE2A9EF61B8C}"/>
              </a:ext>
            </a:extLst>
          </p:cNvPr>
          <p:cNvGraphicFramePr>
            <a:graphicFrameLocks noGrp="1"/>
          </p:cNvGraphicFramePr>
          <p:nvPr>
            <p:ph idx="1"/>
            <p:extLst>
              <p:ext uri="{D42A27DB-BD31-4B8C-83A1-F6EECF244321}">
                <p14:modId xmlns:p14="http://schemas.microsoft.com/office/powerpoint/2010/main" val="789938180"/>
              </p:ext>
            </p:extLst>
          </p:nvPr>
        </p:nvGraphicFramePr>
        <p:xfrm>
          <a:off x="838200" y="1193800"/>
          <a:ext cx="10515600" cy="3749040"/>
        </p:xfrm>
        <a:graphic>
          <a:graphicData uri="http://schemas.openxmlformats.org/drawingml/2006/table">
            <a:tbl>
              <a:tblPr>
                <a:tableStyleId>{793D81CF-94F2-401A-BA57-92F5A7B2D0C5}</a:tableStyleId>
              </a:tblPr>
              <a:tblGrid>
                <a:gridCol w="2628900">
                  <a:extLst>
                    <a:ext uri="{9D8B030D-6E8A-4147-A177-3AD203B41FA5}">
                      <a16:colId xmlns:a16="http://schemas.microsoft.com/office/drawing/2014/main" val="923927413"/>
                    </a:ext>
                  </a:extLst>
                </a:gridCol>
                <a:gridCol w="2628900">
                  <a:extLst>
                    <a:ext uri="{9D8B030D-6E8A-4147-A177-3AD203B41FA5}">
                      <a16:colId xmlns:a16="http://schemas.microsoft.com/office/drawing/2014/main" val="2236061479"/>
                    </a:ext>
                  </a:extLst>
                </a:gridCol>
                <a:gridCol w="2628900">
                  <a:extLst>
                    <a:ext uri="{9D8B030D-6E8A-4147-A177-3AD203B41FA5}">
                      <a16:colId xmlns:a16="http://schemas.microsoft.com/office/drawing/2014/main" val="4241240352"/>
                    </a:ext>
                  </a:extLst>
                </a:gridCol>
                <a:gridCol w="2628900">
                  <a:extLst>
                    <a:ext uri="{9D8B030D-6E8A-4147-A177-3AD203B41FA5}">
                      <a16:colId xmlns:a16="http://schemas.microsoft.com/office/drawing/2014/main" val="298532619"/>
                    </a:ext>
                  </a:extLst>
                </a:gridCol>
              </a:tblGrid>
              <a:tr h="624840">
                <a:tc>
                  <a:txBody>
                    <a:bodyPr/>
                    <a:lstStyle/>
                    <a:p>
                      <a:pPr algn="ctr">
                        <a:buNone/>
                      </a:pPr>
                      <a:r>
                        <a:rPr lang="vi-VN" b="1">
                          <a:effectLst/>
                        </a:rPr>
                        <a:t>Họ và tên</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vi-VN" b="1">
                          <a:effectLst/>
                        </a:rPr>
                        <a:t>Mã sinh viên</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vi-VN" b="1">
                          <a:effectLst/>
                        </a:rPr>
                        <a:t>Tên GitHub</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vi-VN" b="1">
                          <a:effectLst/>
                        </a:rPr>
                        <a:t>Đóng góp</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9558300"/>
                  </a:ext>
                </a:extLst>
              </a:tr>
              <a:tr h="624840">
                <a:tc>
                  <a:txBody>
                    <a:bodyPr/>
                    <a:lstStyle/>
                    <a:p>
                      <a:pPr algn="ctr">
                        <a:buNone/>
                      </a:pPr>
                      <a:r>
                        <a:rPr lang="vi-VN">
                          <a:effectLst/>
                        </a:rPr>
                        <a:t>Cao Hải An</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vi-VN">
                          <a:effectLst/>
                        </a:rPr>
                        <a:t>23001818</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vi-VN">
                          <a:effectLst/>
                        </a:rPr>
                        <a:t>HaianCao</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vi-VN">
                          <a:effectLst/>
                        </a:rPr>
                        <a:t>Xây dựng pipeline chatbot</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4841569"/>
                  </a:ext>
                </a:extLst>
              </a:tr>
              <a:tr h="624840">
                <a:tc>
                  <a:txBody>
                    <a:bodyPr/>
                    <a:lstStyle/>
                    <a:p>
                      <a:pPr algn="ctr">
                        <a:buNone/>
                      </a:pPr>
                      <a:r>
                        <a:rPr lang="vi-VN">
                          <a:effectLst/>
                        </a:rPr>
                        <a:t>Đặng Thế Anh</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vi-VN">
                          <a:effectLst/>
                        </a:rPr>
                        <a:t>23001821</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vi-VN">
                          <a:effectLst/>
                        </a:rPr>
                        <a:t>DangTAnh</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vi-VN">
                          <a:effectLst/>
                        </a:rPr>
                        <a:t>Thu thập dữ liệu</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5957940"/>
                  </a:ext>
                </a:extLst>
              </a:tr>
              <a:tr h="624840">
                <a:tc>
                  <a:txBody>
                    <a:bodyPr/>
                    <a:lstStyle/>
                    <a:p>
                      <a:pPr algn="ctr">
                        <a:buNone/>
                      </a:pPr>
                      <a:r>
                        <a:rPr lang="vi-VN">
                          <a:effectLst/>
                        </a:rPr>
                        <a:t>Phạm Minh Cương</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vi-VN">
                          <a:effectLst/>
                        </a:rPr>
                        <a:t>23001840</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vi-VN">
                          <a:effectLst/>
                        </a:rPr>
                        <a:t>mcnb2005</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vi-VN">
                          <a:effectLst/>
                        </a:rPr>
                        <a:t>Phát triển giao diện web</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0875906"/>
                  </a:ext>
                </a:extLst>
              </a:tr>
              <a:tr h="624840">
                <a:tc>
                  <a:txBody>
                    <a:bodyPr/>
                    <a:lstStyle/>
                    <a:p>
                      <a:pPr algn="ctr">
                        <a:buNone/>
                      </a:pPr>
                      <a:r>
                        <a:rPr lang="vi-VN">
                          <a:effectLst/>
                        </a:rPr>
                        <a:t>Đỗ Minh Đức</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vi-VN">
                          <a:effectLst/>
                        </a:rPr>
                        <a:t>23001864</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vi-VN">
                          <a:effectLst/>
                        </a:rPr>
                        <a:t>minhhhduc</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vi-VN">
                          <a:effectLst/>
                        </a:rPr>
                        <a:t>Xây dựng module truy xuất dữ liệu</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8984594"/>
                  </a:ext>
                </a:extLst>
              </a:tr>
              <a:tr h="624840">
                <a:tc>
                  <a:txBody>
                    <a:bodyPr/>
                    <a:lstStyle/>
                    <a:p>
                      <a:pPr algn="ctr">
                        <a:buNone/>
                      </a:pPr>
                      <a:r>
                        <a:rPr lang="vi-VN">
                          <a:effectLst/>
                        </a:rPr>
                        <a:t>Phạm Nhật Quang</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vi-VN">
                          <a:effectLst/>
                        </a:rPr>
                        <a:t>23001920</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vi-VN">
                          <a:effectLst/>
                        </a:rPr>
                        <a:t>NhatquangPham</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vi-VN">
                          <a:effectLst/>
                        </a:rPr>
                        <a:t>Tiền xử lý dữ liệu</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4997368"/>
                  </a:ext>
                </a:extLst>
              </a:tr>
            </a:tbl>
          </a:graphicData>
        </a:graphic>
      </p:graphicFrame>
      <p:sp>
        <p:nvSpPr>
          <p:cNvPr id="3" name="Slide Number Placeholder 2">
            <a:extLst>
              <a:ext uri="{FF2B5EF4-FFF2-40B4-BE49-F238E27FC236}">
                <a16:creationId xmlns:a16="http://schemas.microsoft.com/office/drawing/2014/main" id="{AF213459-969B-99A3-6186-9362D15A6A3B}"/>
              </a:ext>
            </a:extLst>
          </p:cNvPr>
          <p:cNvSpPr>
            <a:spLocks noGrp="1"/>
          </p:cNvSpPr>
          <p:nvPr>
            <p:ph type="sldNum" sz="quarter" idx="12"/>
          </p:nvPr>
        </p:nvSpPr>
        <p:spPr/>
        <p:txBody>
          <a:bodyPr/>
          <a:lstStyle/>
          <a:p>
            <a:fld id="{4ED22EA6-6E07-498D-89D0-2FA887FD1E5C}" type="slidenum">
              <a:rPr lang="vi-VN" smtClean="0"/>
              <a:t>3</a:t>
            </a:fld>
            <a:endParaRPr lang="vi-VN"/>
          </a:p>
        </p:txBody>
      </p:sp>
    </p:spTree>
    <p:extLst>
      <p:ext uri="{BB962C8B-B14F-4D97-AF65-F5344CB8AC3E}">
        <p14:creationId xmlns:p14="http://schemas.microsoft.com/office/powerpoint/2010/main" val="158828092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78E567-B70B-0E11-1C02-89E4AB15CA90}"/>
              </a:ext>
            </a:extLst>
          </p:cNvPr>
          <p:cNvSpPr>
            <a:spLocks noGrp="1"/>
          </p:cNvSpPr>
          <p:nvPr>
            <p:ph type="title"/>
          </p:nvPr>
        </p:nvSpPr>
        <p:spPr/>
        <p:txBody>
          <a:bodyPr>
            <a:normAutofit/>
          </a:bodyPr>
          <a:lstStyle/>
          <a:p>
            <a:r>
              <a:rPr lang="vi-VN"/>
              <a:t>Nội dung</a:t>
            </a:r>
          </a:p>
        </p:txBody>
      </p:sp>
      <p:sp>
        <p:nvSpPr>
          <p:cNvPr id="5" name="Content Placeholder 4">
            <a:extLst>
              <a:ext uri="{FF2B5EF4-FFF2-40B4-BE49-F238E27FC236}">
                <a16:creationId xmlns:a16="http://schemas.microsoft.com/office/drawing/2014/main" id="{C8082702-813A-0A26-4DDD-C4AF5AFBB6A0}"/>
              </a:ext>
            </a:extLst>
          </p:cNvPr>
          <p:cNvSpPr>
            <a:spLocks noGrp="1"/>
          </p:cNvSpPr>
          <p:nvPr>
            <p:ph idx="1"/>
          </p:nvPr>
        </p:nvSpPr>
        <p:spPr/>
        <p:txBody>
          <a:bodyPr/>
          <a:lstStyle/>
          <a:p>
            <a:pPr marL="571500" indent="-571500">
              <a:buFont typeface="+mj-lt"/>
              <a:buAutoNum type="romanUcPeriod"/>
            </a:pPr>
            <a:r>
              <a:rPr lang="vi-VN"/>
              <a:t>Giới thiệu bài toán</a:t>
            </a:r>
          </a:p>
          <a:p>
            <a:pPr marL="571500" indent="-571500">
              <a:buFont typeface="+mj-lt"/>
              <a:buAutoNum type="romanUcPeriod"/>
            </a:pPr>
            <a:r>
              <a:rPr lang="vi-VN"/>
              <a:t>Tổng quan dự án</a:t>
            </a:r>
          </a:p>
          <a:p>
            <a:pPr marL="571500" indent="-571500">
              <a:buFont typeface="+mj-lt"/>
              <a:buAutoNum type="romanUcPeriod"/>
            </a:pPr>
            <a:r>
              <a:rPr lang="vi-VN"/>
              <a:t>Xử lý dữ liệu</a:t>
            </a:r>
          </a:p>
          <a:p>
            <a:pPr marL="571500" indent="-571500">
              <a:buFont typeface="+mj-lt"/>
              <a:buAutoNum type="romanUcPeriod"/>
            </a:pPr>
            <a:r>
              <a:rPr lang="vi-VN"/>
              <a:t>Hệ thống chatbot</a:t>
            </a:r>
          </a:p>
          <a:p>
            <a:pPr marL="571500" indent="-571500">
              <a:buFont typeface="+mj-lt"/>
              <a:buAutoNum type="romanUcPeriod"/>
            </a:pPr>
            <a:r>
              <a:rPr lang="vi-VN"/>
              <a:t>Kết quả và đánh giá</a:t>
            </a:r>
          </a:p>
          <a:p>
            <a:pPr marL="571500" indent="-571500">
              <a:buFont typeface="+mj-lt"/>
              <a:buAutoNum type="romanUcPeriod"/>
            </a:pPr>
            <a:r>
              <a:rPr lang="vi-VN"/>
              <a:t>Demo chatbot</a:t>
            </a:r>
          </a:p>
        </p:txBody>
      </p:sp>
      <p:sp>
        <p:nvSpPr>
          <p:cNvPr id="2" name="Slide Number Placeholder 1">
            <a:extLst>
              <a:ext uri="{FF2B5EF4-FFF2-40B4-BE49-F238E27FC236}">
                <a16:creationId xmlns:a16="http://schemas.microsoft.com/office/drawing/2014/main" id="{78754410-70EE-5842-2061-7BB65E0275C2}"/>
              </a:ext>
            </a:extLst>
          </p:cNvPr>
          <p:cNvSpPr>
            <a:spLocks noGrp="1"/>
          </p:cNvSpPr>
          <p:nvPr>
            <p:ph type="sldNum" sz="quarter" idx="12"/>
          </p:nvPr>
        </p:nvSpPr>
        <p:spPr/>
        <p:txBody>
          <a:bodyPr/>
          <a:lstStyle/>
          <a:p>
            <a:fld id="{4ED22EA6-6E07-498D-89D0-2FA887FD1E5C}" type="slidenum">
              <a:rPr lang="vi-VN" smtClean="0"/>
              <a:t>4</a:t>
            </a:fld>
            <a:endParaRPr lang="vi-VN"/>
          </a:p>
        </p:txBody>
      </p:sp>
    </p:spTree>
    <p:extLst>
      <p:ext uri="{BB962C8B-B14F-4D97-AF65-F5344CB8AC3E}">
        <p14:creationId xmlns:p14="http://schemas.microsoft.com/office/powerpoint/2010/main" val="276134950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500"/>
                                        <p:tgtEl>
                                          <p:spTgt spid="5">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76AF57-F788-56C9-0B67-723CFEE864DF}"/>
              </a:ext>
            </a:extLst>
          </p:cNvPr>
          <p:cNvSpPr>
            <a:spLocks noGrp="1"/>
          </p:cNvSpPr>
          <p:nvPr>
            <p:ph type="title"/>
          </p:nvPr>
        </p:nvSpPr>
        <p:spPr/>
        <p:txBody>
          <a:bodyPr/>
          <a:lstStyle/>
          <a:p>
            <a:r>
              <a:rPr lang="vi-VN"/>
              <a:t>I. Giới thiệu bài toán</a:t>
            </a:r>
          </a:p>
        </p:txBody>
      </p:sp>
      <p:sp>
        <p:nvSpPr>
          <p:cNvPr id="5" name="Text Placeholder 4">
            <a:extLst>
              <a:ext uri="{FF2B5EF4-FFF2-40B4-BE49-F238E27FC236}">
                <a16:creationId xmlns:a16="http://schemas.microsoft.com/office/drawing/2014/main" id="{BC145286-C8F2-6C67-B93A-8FA1D37DCBD1}"/>
              </a:ext>
            </a:extLst>
          </p:cNvPr>
          <p:cNvSpPr>
            <a:spLocks noGrp="1"/>
          </p:cNvSpPr>
          <p:nvPr>
            <p:ph type="body" idx="1"/>
          </p:nvPr>
        </p:nvSpPr>
        <p:spPr/>
        <p:txBody>
          <a:bodyPr/>
          <a:lstStyle/>
          <a:p>
            <a:endParaRPr lang="vi-VN"/>
          </a:p>
        </p:txBody>
      </p:sp>
      <p:sp>
        <p:nvSpPr>
          <p:cNvPr id="2" name="Slide Number Placeholder 1">
            <a:extLst>
              <a:ext uri="{FF2B5EF4-FFF2-40B4-BE49-F238E27FC236}">
                <a16:creationId xmlns:a16="http://schemas.microsoft.com/office/drawing/2014/main" id="{C4DB4B84-A1BC-C65E-FBB2-20F2AD02EA06}"/>
              </a:ext>
            </a:extLst>
          </p:cNvPr>
          <p:cNvSpPr>
            <a:spLocks noGrp="1"/>
          </p:cNvSpPr>
          <p:nvPr>
            <p:ph type="sldNum" sz="quarter" idx="12"/>
          </p:nvPr>
        </p:nvSpPr>
        <p:spPr/>
        <p:txBody>
          <a:bodyPr/>
          <a:lstStyle/>
          <a:p>
            <a:fld id="{4ED22EA6-6E07-498D-89D0-2FA887FD1E5C}" type="slidenum">
              <a:rPr lang="vi-VN" smtClean="0"/>
              <a:t>5</a:t>
            </a:fld>
            <a:endParaRPr lang="vi-VN"/>
          </a:p>
        </p:txBody>
      </p:sp>
    </p:spTree>
    <p:extLst>
      <p:ext uri="{BB962C8B-B14F-4D97-AF65-F5344CB8AC3E}">
        <p14:creationId xmlns:p14="http://schemas.microsoft.com/office/powerpoint/2010/main" val="222097017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3AB754-2DB6-DA97-3832-C8A2D61F8EFC}"/>
              </a:ext>
            </a:extLst>
          </p:cNvPr>
          <p:cNvSpPr>
            <a:spLocks noGrp="1"/>
          </p:cNvSpPr>
          <p:nvPr>
            <p:ph type="title"/>
          </p:nvPr>
        </p:nvSpPr>
        <p:spPr/>
        <p:txBody>
          <a:bodyPr>
            <a:normAutofit/>
          </a:bodyPr>
          <a:lstStyle/>
          <a:p>
            <a:r>
              <a:rPr lang="vi-VN"/>
              <a:t>I. Giới thiệu bài toán</a:t>
            </a:r>
          </a:p>
        </p:txBody>
      </p:sp>
      <p:sp>
        <p:nvSpPr>
          <p:cNvPr id="5" name="Content Placeholder 4">
            <a:extLst>
              <a:ext uri="{FF2B5EF4-FFF2-40B4-BE49-F238E27FC236}">
                <a16:creationId xmlns:a16="http://schemas.microsoft.com/office/drawing/2014/main" id="{9314A38F-11BF-DFC1-6B22-808F8FF347B9}"/>
              </a:ext>
            </a:extLst>
          </p:cNvPr>
          <p:cNvSpPr>
            <a:spLocks noGrp="1"/>
          </p:cNvSpPr>
          <p:nvPr>
            <p:ph idx="1"/>
          </p:nvPr>
        </p:nvSpPr>
        <p:spPr/>
        <p:txBody>
          <a:bodyPr/>
          <a:lstStyle/>
          <a:p>
            <a:r>
              <a:rPr lang="vi-VN" b="1"/>
              <a:t>Bối cảnh</a:t>
            </a:r>
            <a:r>
              <a:rPr lang="vi-VN"/>
              <a:t>: Ngày nay, người dùng ngày càng có xu hướng tìm kiếm giải pháp nhanh, chính xác và mang tính cá nhân hóa. Trong đó việc lựa chọn món ăn và tìm kiếm công thức nấu nướng là những nhu cầu phổ biến.</a:t>
            </a:r>
          </a:p>
          <a:p>
            <a:r>
              <a:rPr lang="vi-VN" b="1"/>
              <a:t>Thách thức</a:t>
            </a:r>
            <a:r>
              <a:rPr lang="vi-VN"/>
              <a:t>:</a:t>
            </a:r>
          </a:p>
          <a:p>
            <a:pPr lvl="1"/>
            <a:r>
              <a:rPr lang="vi-VN"/>
              <a:t>Dữ liệu bị phân tán</a:t>
            </a:r>
          </a:p>
          <a:p>
            <a:pPr lvl="1"/>
            <a:r>
              <a:rPr lang="vi-VN"/>
              <a:t>Chất lượng không đồng đều</a:t>
            </a:r>
          </a:p>
          <a:p>
            <a:pPr lvl="1"/>
            <a:r>
              <a:rPr lang="vi-VN"/>
              <a:t>Khó phù hợp với điều kiện thực tế</a:t>
            </a:r>
          </a:p>
        </p:txBody>
      </p:sp>
      <p:sp>
        <p:nvSpPr>
          <p:cNvPr id="2" name="Slide Number Placeholder 1">
            <a:extLst>
              <a:ext uri="{FF2B5EF4-FFF2-40B4-BE49-F238E27FC236}">
                <a16:creationId xmlns:a16="http://schemas.microsoft.com/office/drawing/2014/main" id="{1D63465E-DDC1-1BCF-9EB6-42F89053D50F}"/>
              </a:ext>
            </a:extLst>
          </p:cNvPr>
          <p:cNvSpPr>
            <a:spLocks noGrp="1"/>
          </p:cNvSpPr>
          <p:nvPr>
            <p:ph type="sldNum" sz="quarter" idx="12"/>
          </p:nvPr>
        </p:nvSpPr>
        <p:spPr/>
        <p:txBody>
          <a:bodyPr/>
          <a:lstStyle/>
          <a:p>
            <a:fld id="{4ED22EA6-6E07-498D-89D0-2FA887FD1E5C}" type="slidenum">
              <a:rPr lang="vi-VN" smtClean="0"/>
              <a:t>6</a:t>
            </a:fld>
            <a:endParaRPr lang="vi-VN"/>
          </a:p>
        </p:txBody>
      </p:sp>
    </p:spTree>
    <p:extLst>
      <p:ext uri="{BB962C8B-B14F-4D97-AF65-F5344CB8AC3E}">
        <p14:creationId xmlns:p14="http://schemas.microsoft.com/office/powerpoint/2010/main" val="215385424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fade">
                                      <p:cBhvr>
                                        <p:cTn id="11" dur="500"/>
                                        <p:tgtEl>
                                          <p:spTgt spid="5">
                                            <p:txEl>
                                              <p:pRg st="1" end="1"/>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5">
                                            <p:txEl>
                                              <p:pRg st="2" end="2"/>
                                            </p:txEl>
                                          </p:spTgt>
                                        </p:tgtEl>
                                        <p:attrNameLst>
                                          <p:attrName>style.visibility</p:attrName>
                                        </p:attrNameLst>
                                      </p:cBhvr>
                                      <p:to>
                                        <p:strVal val="visible"/>
                                      </p:to>
                                    </p:set>
                                    <p:animEffect transition="in" filter="fade">
                                      <p:cBhvr>
                                        <p:cTn id="14" dur="500"/>
                                        <p:tgtEl>
                                          <p:spTgt spid="5">
                                            <p:txEl>
                                              <p:pRg st="2" end="2"/>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5">
                                            <p:txEl>
                                              <p:pRg st="4" end="4"/>
                                            </p:txEl>
                                          </p:spTgt>
                                        </p:tgtEl>
                                        <p:attrNameLst>
                                          <p:attrName>style.visibility</p:attrName>
                                        </p:attrNameLst>
                                      </p:cBhvr>
                                      <p:to>
                                        <p:strVal val="visible"/>
                                      </p:to>
                                    </p:set>
                                    <p:animEffect transition="in" filter="fade">
                                      <p:cBhvr>
                                        <p:cTn id="20"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7F606-93C7-EC7A-7AA5-2BC08CF014EB}"/>
              </a:ext>
            </a:extLst>
          </p:cNvPr>
          <p:cNvSpPr>
            <a:spLocks noGrp="1"/>
          </p:cNvSpPr>
          <p:nvPr>
            <p:ph type="title"/>
          </p:nvPr>
        </p:nvSpPr>
        <p:spPr/>
        <p:txBody>
          <a:bodyPr>
            <a:normAutofit/>
          </a:bodyPr>
          <a:lstStyle/>
          <a:p>
            <a:r>
              <a:rPr lang="vi-VN"/>
              <a:t>I. Giới thiệu bài toán</a:t>
            </a:r>
          </a:p>
        </p:txBody>
      </p:sp>
      <p:sp>
        <p:nvSpPr>
          <p:cNvPr id="3" name="Content Placeholder 2">
            <a:extLst>
              <a:ext uri="{FF2B5EF4-FFF2-40B4-BE49-F238E27FC236}">
                <a16:creationId xmlns:a16="http://schemas.microsoft.com/office/drawing/2014/main" id="{4D9D3425-9FDF-26CA-098D-DB7B87F192A5}"/>
              </a:ext>
            </a:extLst>
          </p:cNvPr>
          <p:cNvSpPr>
            <a:spLocks noGrp="1"/>
          </p:cNvSpPr>
          <p:nvPr>
            <p:ph idx="1"/>
          </p:nvPr>
        </p:nvSpPr>
        <p:spPr/>
        <p:txBody>
          <a:bodyPr/>
          <a:lstStyle/>
          <a:p>
            <a:r>
              <a:rPr lang="vi-VN" b="1"/>
              <a:t>Mục tiêu</a:t>
            </a:r>
            <a:r>
              <a:rPr lang="vi-VN"/>
              <a:t>: Xây dựng một hệ thống chatbot ẩm thực thông minh có khả năng cung cấp thông tin toàn diện.</a:t>
            </a:r>
          </a:p>
          <a:p>
            <a:r>
              <a:rPr lang="vi-VN" b="1"/>
              <a:t>Yêu cầu</a:t>
            </a:r>
            <a:r>
              <a:rPr lang="vi-VN"/>
              <a:t>: </a:t>
            </a:r>
          </a:p>
          <a:p>
            <a:pPr lvl="1"/>
            <a:r>
              <a:rPr lang="vi-VN"/>
              <a:t>Chính xác và nhanh chóng</a:t>
            </a:r>
          </a:p>
          <a:p>
            <a:pPr lvl="1"/>
            <a:r>
              <a:rPr lang="vi-VN"/>
              <a:t>Trả lời tự nhiên, mạch lạc và đáng tin cậy</a:t>
            </a:r>
          </a:p>
          <a:p>
            <a:pPr lvl="1"/>
            <a:r>
              <a:rPr lang="vi-VN"/>
              <a:t>Cá nhân hóa</a:t>
            </a:r>
          </a:p>
        </p:txBody>
      </p:sp>
      <p:sp>
        <p:nvSpPr>
          <p:cNvPr id="4" name="Slide Number Placeholder 3">
            <a:extLst>
              <a:ext uri="{FF2B5EF4-FFF2-40B4-BE49-F238E27FC236}">
                <a16:creationId xmlns:a16="http://schemas.microsoft.com/office/drawing/2014/main" id="{56A646C7-C7AF-B9E5-9FBD-C914E8F27869}"/>
              </a:ext>
            </a:extLst>
          </p:cNvPr>
          <p:cNvSpPr>
            <a:spLocks noGrp="1"/>
          </p:cNvSpPr>
          <p:nvPr>
            <p:ph type="sldNum" sz="quarter" idx="12"/>
          </p:nvPr>
        </p:nvSpPr>
        <p:spPr/>
        <p:txBody>
          <a:bodyPr/>
          <a:lstStyle/>
          <a:p>
            <a:fld id="{4ED22EA6-6E07-498D-89D0-2FA887FD1E5C}" type="slidenum">
              <a:rPr lang="vi-VN" smtClean="0"/>
              <a:t>7</a:t>
            </a:fld>
            <a:endParaRPr lang="vi-VN"/>
          </a:p>
        </p:txBody>
      </p:sp>
    </p:spTree>
    <p:extLst>
      <p:ext uri="{BB962C8B-B14F-4D97-AF65-F5344CB8AC3E}">
        <p14:creationId xmlns:p14="http://schemas.microsoft.com/office/powerpoint/2010/main" val="370085097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500"/>
                                        <p:tgtEl>
                                          <p:spTgt spid="3">
                                            <p:txEl>
                                              <p:pRg st="2" end="2"/>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50A3C9-3BFD-D010-6477-9115EA1F0CA1}"/>
              </a:ext>
            </a:extLst>
          </p:cNvPr>
          <p:cNvSpPr>
            <a:spLocks noGrp="1"/>
          </p:cNvSpPr>
          <p:nvPr>
            <p:ph type="title"/>
          </p:nvPr>
        </p:nvSpPr>
        <p:spPr/>
        <p:txBody>
          <a:bodyPr/>
          <a:lstStyle/>
          <a:p>
            <a:r>
              <a:rPr lang="vi-VN"/>
              <a:t>II. Tổng quan dự án</a:t>
            </a:r>
          </a:p>
        </p:txBody>
      </p:sp>
      <p:sp>
        <p:nvSpPr>
          <p:cNvPr id="5" name="Text Placeholder 4">
            <a:extLst>
              <a:ext uri="{FF2B5EF4-FFF2-40B4-BE49-F238E27FC236}">
                <a16:creationId xmlns:a16="http://schemas.microsoft.com/office/drawing/2014/main" id="{7B9C6940-7F49-2812-E283-0108708D771D}"/>
              </a:ext>
            </a:extLst>
          </p:cNvPr>
          <p:cNvSpPr>
            <a:spLocks noGrp="1"/>
          </p:cNvSpPr>
          <p:nvPr>
            <p:ph type="body" idx="1"/>
          </p:nvPr>
        </p:nvSpPr>
        <p:spPr/>
        <p:txBody>
          <a:bodyPr/>
          <a:lstStyle/>
          <a:p>
            <a:endParaRPr lang="vi-VN"/>
          </a:p>
        </p:txBody>
      </p:sp>
      <p:sp>
        <p:nvSpPr>
          <p:cNvPr id="2" name="Slide Number Placeholder 1">
            <a:extLst>
              <a:ext uri="{FF2B5EF4-FFF2-40B4-BE49-F238E27FC236}">
                <a16:creationId xmlns:a16="http://schemas.microsoft.com/office/drawing/2014/main" id="{80110AFD-5477-3C32-5F5C-283026D6E3B2}"/>
              </a:ext>
            </a:extLst>
          </p:cNvPr>
          <p:cNvSpPr>
            <a:spLocks noGrp="1"/>
          </p:cNvSpPr>
          <p:nvPr>
            <p:ph type="sldNum" sz="quarter" idx="12"/>
          </p:nvPr>
        </p:nvSpPr>
        <p:spPr/>
        <p:txBody>
          <a:bodyPr/>
          <a:lstStyle/>
          <a:p>
            <a:fld id="{4ED22EA6-6E07-498D-89D0-2FA887FD1E5C}" type="slidenum">
              <a:rPr lang="vi-VN" smtClean="0"/>
              <a:t>8</a:t>
            </a:fld>
            <a:endParaRPr lang="vi-VN"/>
          </a:p>
        </p:txBody>
      </p:sp>
    </p:spTree>
    <p:extLst>
      <p:ext uri="{BB962C8B-B14F-4D97-AF65-F5344CB8AC3E}">
        <p14:creationId xmlns:p14="http://schemas.microsoft.com/office/powerpoint/2010/main" val="163885248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A8FE9C-CAE1-B1A6-B45B-629AC957AE74}"/>
              </a:ext>
            </a:extLst>
          </p:cNvPr>
          <p:cNvSpPr>
            <a:spLocks noGrp="1"/>
          </p:cNvSpPr>
          <p:nvPr>
            <p:ph type="title"/>
          </p:nvPr>
        </p:nvSpPr>
        <p:spPr/>
        <p:txBody>
          <a:bodyPr>
            <a:normAutofit/>
          </a:bodyPr>
          <a:lstStyle/>
          <a:p>
            <a:r>
              <a:rPr lang="vi-VN"/>
              <a:t>II. Tổng quan dự án</a:t>
            </a:r>
          </a:p>
        </p:txBody>
      </p:sp>
      <p:sp>
        <p:nvSpPr>
          <p:cNvPr id="5" name="Content Placeholder 4">
            <a:extLst>
              <a:ext uri="{FF2B5EF4-FFF2-40B4-BE49-F238E27FC236}">
                <a16:creationId xmlns:a16="http://schemas.microsoft.com/office/drawing/2014/main" id="{9D951E52-0288-4859-0260-9D52DE4BEBE9}"/>
              </a:ext>
            </a:extLst>
          </p:cNvPr>
          <p:cNvSpPr>
            <a:spLocks noGrp="1"/>
          </p:cNvSpPr>
          <p:nvPr>
            <p:ph idx="1"/>
          </p:nvPr>
        </p:nvSpPr>
        <p:spPr/>
        <p:txBody>
          <a:bodyPr/>
          <a:lstStyle/>
          <a:p>
            <a:r>
              <a:rPr lang="vi-VN"/>
              <a:t>Dự án chatbot ẩm thực được xây dựng dựa trên sự kết hợp giữa:</a:t>
            </a:r>
          </a:p>
          <a:p>
            <a:pPr lvl="1"/>
            <a:r>
              <a:rPr lang="vi-VN"/>
              <a:t>­</a:t>
            </a:r>
            <a:r>
              <a:rPr lang="vi-VN">
                <a:solidFill>
                  <a:schemeClr val="accent2">
                    <a:lumMod val="75000"/>
                  </a:schemeClr>
                </a:solidFill>
              </a:rPr>
              <a:t>Mô hình ngôn ngữ lớn </a:t>
            </a:r>
            <a:r>
              <a:rPr lang="vi-VN"/>
              <a:t>(</a:t>
            </a:r>
            <a:r>
              <a:rPr lang="vi-VN" i="1">
                <a:solidFill>
                  <a:schemeClr val="accent2">
                    <a:lumMod val="75000"/>
                  </a:schemeClr>
                </a:solidFill>
              </a:rPr>
              <a:t>Large Language Model – LLM</a:t>
            </a:r>
            <a:r>
              <a:rPr lang="vi-VN"/>
              <a:t>)</a:t>
            </a:r>
          </a:p>
          <a:p>
            <a:pPr lvl="1"/>
            <a:r>
              <a:rPr lang="vi-VN"/>
              <a:t>Kiến trúc </a:t>
            </a:r>
            <a:r>
              <a:rPr lang="vi-VN">
                <a:solidFill>
                  <a:schemeClr val="tx2">
                    <a:lumMod val="75000"/>
                    <a:lumOff val="25000"/>
                  </a:schemeClr>
                </a:solidFill>
              </a:rPr>
              <a:t>Retrieval-Augmented Generation </a:t>
            </a:r>
            <a:r>
              <a:rPr lang="vi-VN"/>
              <a:t>(</a:t>
            </a:r>
            <a:r>
              <a:rPr lang="vi-VN" i="1">
                <a:solidFill>
                  <a:schemeClr val="tx2">
                    <a:lumMod val="75000"/>
                    <a:lumOff val="25000"/>
                  </a:schemeClr>
                </a:solidFill>
              </a:rPr>
              <a:t>RAG</a:t>
            </a:r>
            <a:r>
              <a:rPr lang="vi-VN"/>
              <a:t>)</a:t>
            </a:r>
          </a:p>
          <a:p>
            <a:pPr lvl="1"/>
            <a:r>
              <a:rPr lang="vi-VN"/>
              <a:t>­</a:t>
            </a:r>
            <a:r>
              <a:rPr lang="vi-VN">
                <a:solidFill>
                  <a:schemeClr val="accent6">
                    <a:lumMod val="75000"/>
                  </a:schemeClr>
                </a:solidFill>
              </a:rPr>
              <a:t>Cơ sở dữ liệu vector</a:t>
            </a:r>
          </a:p>
          <a:p>
            <a:pPr>
              <a:buFont typeface="Arial" panose="020B0604020202020204" pitchFamily="34" charset="0"/>
              <a:buChar char="→"/>
            </a:pPr>
            <a:r>
              <a:rPr lang="vi-VN"/>
              <a:t>Khắc phục hạn chế về tính cập nhật của mô hình ngôn ngữ đơn thuần, đồng thời duy trì chất lượng ngôn ngữ tự nhiên và khả năng gợi ý chính xác theo bối cảnh.</a:t>
            </a:r>
          </a:p>
        </p:txBody>
      </p:sp>
      <p:sp>
        <p:nvSpPr>
          <p:cNvPr id="2" name="Slide Number Placeholder 1">
            <a:extLst>
              <a:ext uri="{FF2B5EF4-FFF2-40B4-BE49-F238E27FC236}">
                <a16:creationId xmlns:a16="http://schemas.microsoft.com/office/drawing/2014/main" id="{052B9AE1-6DA4-401A-A6E9-3EDA0330A6E4}"/>
              </a:ext>
            </a:extLst>
          </p:cNvPr>
          <p:cNvSpPr>
            <a:spLocks noGrp="1"/>
          </p:cNvSpPr>
          <p:nvPr>
            <p:ph type="sldNum" sz="quarter" idx="12"/>
          </p:nvPr>
        </p:nvSpPr>
        <p:spPr/>
        <p:txBody>
          <a:bodyPr/>
          <a:lstStyle/>
          <a:p>
            <a:fld id="{4ED22EA6-6E07-498D-89D0-2FA887FD1E5C}" type="slidenum">
              <a:rPr lang="vi-VN" smtClean="0"/>
              <a:t>9</a:t>
            </a:fld>
            <a:endParaRPr lang="vi-VN"/>
          </a:p>
        </p:txBody>
      </p:sp>
    </p:spTree>
    <p:extLst>
      <p:ext uri="{BB962C8B-B14F-4D97-AF65-F5344CB8AC3E}">
        <p14:creationId xmlns:p14="http://schemas.microsoft.com/office/powerpoint/2010/main" val="158185972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5">
                                            <p:txEl>
                                              <p:pRg st="4" end="4"/>
                                            </p:txEl>
                                          </p:spTgt>
                                        </p:tgtEl>
                                        <p:attrNameLst>
                                          <p:attrName>style.visibility</p:attrName>
                                        </p:attrNameLst>
                                      </p:cBhvr>
                                      <p:to>
                                        <p:strVal val="visible"/>
                                      </p:to>
                                    </p:set>
                                    <p:animEffect transition="in" filter="fade">
                                      <p:cBhvr>
                                        <p:cTn id="20"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E4C86-62CB-39B4-A02E-BB60E120F45E}"/>
              </a:ext>
            </a:extLst>
          </p:cNvPr>
          <p:cNvSpPr>
            <a:spLocks noGrp="1"/>
          </p:cNvSpPr>
          <p:nvPr>
            <p:ph type="title"/>
          </p:nvPr>
        </p:nvSpPr>
        <p:spPr/>
        <p:txBody>
          <a:bodyPr>
            <a:normAutofit/>
          </a:bodyPr>
          <a:lstStyle/>
          <a:p>
            <a:r>
              <a:rPr lang="vi-VN"/>
              <a:t>II. Tổng quan </a:t>
            </a:r>
          </a:p>
        </p:txBody>
      </p:sp>
      <p:sp>
        <p:nvSpPr>
          <p:cNvPr id="3" name="Content Placeholder 2">
            <a:extLst>
              <a:ext uri="{FF2B5EF4-FFF2-40B4-BE49-F238E27FC236}">
                <a16:creationId xmlns:a16="http://schemas.microsoft.com/office/drawing/2014/main" id="{79FB7FE2-068B-73CF-B35A-C475FF79C662}"/>
              </a:ext>
            </a:extLst>
          </p:cNvPr>
          <p:cNvSpPr>
            <a:spLocks noGrp="1"/>
          </p:cNvSpPr>
          <p:nvPr>
            <p:ph idx="1"/>
          </p:nvPr>
        </p:nvSpPr>
        <p:spPr/>
        <p:txBody>
          <a:bodyPr/>
          <a:lstStyle/>
          <a:p>
            <a:r>
              <a:rPr lang="vi-VN" b="1"/>
              <a:t>Quy trình xử lý dữ liệu</a:t>
            </a:r>
            <a:r>
              <a:rPr lang="vi-VN"/>
              <a:t>:</a:t>
            </a:r>
          </a:p>
          <a:p>
            <a:pPr marL="914400" lvl="1" indent="-457200">
              <a:buFont typeface="+mj-lt"/>
              <a:buAutoNum type="arabicPeriod"/>
            </a:pPr>
            <a:r>
              <a:rPr lang="vi-VN"/>
              <a:t>Thu thập (sử dụng crawler)</a:t>
            </a:r>
          </a:p>
          <a:p>
            <a:pPr marL="914400" lvl="1" indent="-457200">
              <a:buFont typeface="+mj-lt"/>
              <a:buAutoNum type="arabicPeriod"/>
            </a:pPr>
            <a:r>
              <a:rPr lang="vi-VN"/>
              <a:t>Tiền xử lý</a:t>
            </a:r>
          </a:p>
          <a:p>
            <a:pPr marL="914400" lvl="1" indent="-457200">
              <a:buFont typeface="+mj-lt"/>
              <a:buAutoNum type="arabicPeriod"/>
            </a:pPr>
            <a:r>
              <a:rPr lang="vi-VN"/>
              <a:t>Nhúng và thêm vào cơ sở dữ liệu </a:t>
            </a:r>
            <a:r>
              <a:rPr lang="vi-VN" b="1">
                <a:solidFill>
                  <a:schemeClr val="accent6">
                    <a:lumMod val="75000"/>
                  </a:schemeClr>
                </a:solidFill>
              </a:rPr>
              <a:t>ChromaDB</a:t>
            </a:r>
          </a:p>
          <a:p>
            <a:r>
              <a:rPr lang="vi-VN" b="1"/>
              <a:t>Luồng phục vụ</a:t>
            </a:r>
            <a:r>
              <a:rPr lang="vi-VN"/>
              <a:t>: </a:t>
            </a:r>
          </a:p>
          <a:p>
            <a:pPr marL="457200" lvl="1" indent="0">
              <a:buNone/>
            </a:pPr>
            <a:r>
              <a:rPr lang="vi-VN"/>
              <a:t>Người dùng</a:t>
            </a:r>
          </a:p>
          <a:p>
            <a:pPr lvl="1">
              <a:buFont typeface="Arial" panose="020B0604020202020204" pitchFamily="34" charset="0"/>
              <a:buChar char="→"/>
            </a:pPr>
            <a:r>
              <a:rPr lang="vi-VN"/>
              <a:t>Web UI / API</a:t>
            </a:r>
          </a:p>
          <a:p>
            <a:pPr lvl="1">
              <a:buFont typeface="Arial" panose="020B0604020202020204" pitchFamily="34" charset="0"/>
              <a:buChar char="→"/>
            </a:pPr>
            <a:r>
              <a:rPr lang="vi-VN"/>
              <a:t>Chatbot</a:t>
            </a:r>
          </a:p>
          <a:p>
            <a:pPr lvl="1">
              <a:buFont typeface="Arial" panose="020B0604020202020204" pitchFamily="34" charset="0"/>
              <a:buChar char="→"/>
            </a:pPr>
            <a:r>
              <a:rPr lang="vi-VN"/>
              <a:t>­</a:t>
            </a:r>
            <a:r>
              <a:rPr lang="vi-VN" b="1">
                <a:solidFill>
                  <a:schemeClr val="accent6">
                    <a:lumMod val="75000"/>
                  </a:schemeClr>
                </a:solidFill>
              </a:rPr>
              <a:t>ChromaDBManager</a:t>
            </a:r>
            <a:r>
              <a:rPr lang="vi-VN"/>
              <a:t> và </a:t>
            </a:r>
            <a:r>
              <a:rPr lang="vi-VN" b="1">
                <a:solidFill>
                  <a:schemeClr val="accent2">
                    <a:lumMod val="75000"/>
                  </a:schemeClr>
                </a:solidFill>
              </a:rPr>
              <a:t>GeminiClient</a:t>
            </a:r>
          </a:p>
        </p:txBody>
      </p:sp>
      <p:sp>
        <p:nvSpPr>
          <p:cNvPr id="4" name="Slide Number Placeholder 3">
            <a:extLst>
              <a:ext uri="{FF2B5EF4-FFF2-40B4-BE49-F238E27FC236}">
                <a16:creationId xmlns:a16="http://schemas.microsoft.com/office/drawing/2014/main" id="{82C40393-380B-6ECE-B7F5-B8BA121C706E}"/>
              </a:ext>
            </a:extLst>
          </p:cNvPr>
          <p:cNvSpPr>
            <a:spLocks noGrp="1"/>
          </p:cNvSpPr>
          <p:nvPr>
            <p:ph type="sldNum" sz="quarter" idx="12"/>
          </p:nvPr>
        </p:nvSpPr>
        <p:spPr/>
        <p:txBody>
          <a:bodyPr/>
          <a:lstStyle/>
          <a:p>
            <a:fld id="{4ED22EA6-6E07-498D-89D0-2FA887FD1E5C}" type="slidenum">
              <a:rPr lang="vi-VN" smtClean="0"/>
              <a:t>10</a:t>
            </a:fld>
            <a:endParaRPr lang="vi-VN"/>
          </a:p>
        </p:txBody>
      </p:sp>
    </p:spTree>
    <p:extLst>
      <p:ext uri="{BB962C8B-B14F-4D97-AF65-F5344CB8AC3E}">
        <p14:creationId xmlns:p14="http://schemas.microsoft.com/office/powerpoint/2010/main" val="383688256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6404B7C-752B-9D9B-0556-A4A9327EB234}"/>
              </a:ext>
            </a:extLst>
          </p:cNvPr>
          <p:cNvSpPr>
            <a:spLocks noGrp="1"/>
          </p:cNvSpPr>
          <p:nvPr>
            <p:ph type="title"/>
          </p:nvPr>
        </p:nvSpPr>
        <p:spPr/>
        <p:txBody>
          <a:bodyPr/>
          <a:lstStyle/>
          <a:p>
            <a:r>
              <a:rPr lang="vi-VN"/>
              <a:t>III. Xử lý dữ liệu</a:t>
            </a:r>
          </a:p>
        </p:txBody>
      </p:sp>
      <p:sp>
        <p:nvSpPr>
          <p:cNvPr id="5" name="Text Placeholder 4">
            <a:extLst>
              <a:ext uri="{FF2B5EF4-FFF2-40B4-BE49-F238E27FC236}">
                <a16:creationId xmlns:a16="http://schemas.microsoft.com/office/drawing/2014/main" id="{CC14FF5B-D4B0-2B83-9F05-3AC22BAD3118}"/>
              </a:ext>
            </a:extLst>
          </p:cNvPr>
          <p:cNvSpPr>
            <a:spLocks noGrp="1"/>
          </p:cNvSpPr>
          <p:nvPr>
            <p:ph type="body" idx="1"/>
          </p:nvPr>
        </p:nvSpPr>
        <p:spPr/>
        <p:txBody>
          <a:bodyPr/>
          <a:lstStyle/>
          <a:p>
            <a:endParaRPr lang="vi-VN"/>
          </a:p>
        </p:txBody>
      </p:sp>
      <p:sp>
        <p:nvSpPr>
          <p:cNvPr id="2" name="Slide Number Placeholder 1">
            <a:extLst>
              <a:ext uri="{FF2B5EF4-FFF2-40B4-BE49-F238E27FC236}">
                <a16:creationId xmlns:a16="http://schemas.microsoft.com/office/drawing/2014/main" id="{E5070595-E991-D61F-965B-38FB855A2B05}"/>
              </a:ext>
            </a:extLst>
          </p:cNvPr>
          <p:cNvSpPr>
            <a:spLocks noGrp="1"/>
          </p:cNvSpPr>
          <p:nvPr>
            <p:ph type="sldNum" sz="quarter" idx="12"/>
          </p:nvPr>
        </p:nvSpPr>
        <p:spPr/>
        <p:txBody>
          <a:bodyPr/>
          <a:lstStyle/>
          <a:p>
            <a:fld id="{4ED22EA6-6E07-498D-89D0-2FA887FD1E5C}" type="slidenum">
              <a:rPr lang="vi-VN" smtClean="0"/>
              <a:t>11</a:t>
            </a:fld>
            <a:endParaRPr lang="vi-VN"/>
          </a:p>
        </p:txBody>
      </p:sp>
    </p:spTree>
    <p:extLst>
      <p:ext uri="{BB962C8B-B14F-4D97-AF65-F5344CB8AC3E}">
        <p14:creationId xmlns:p14="http://schemas.microsoft.com/office/powerpoint/2010/main" val="265241910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AB34-4873-4C08-36A0-33779B06ECF5}"/>
              </a:ext>
            </a:extLst>
          </p:cNvPr>
          <p:cNvSpPr>
            <a:spLocks noGrp="1"/>
          </p:cNvSpPr>
          <p:nvPr>
            <p:ph type="title"/>
          </p:nvPr>
        </p:nvSpPr>
        <p:spPr/>
        <p:txBody>
          <a:bodyPr>
            <a:normAutofit/>
          </a:bodyPr>
          <a:lstStyle/>
          <a:p>
            <a:r>
              <a:rPr lang="vi-VN"/>
              <a:t>III. Xử lý dữ liệu</a:t>
            </a:r>
          </a:p>
        </p:txBody>
      </p:sp>
      <p:sp>
        <p:nvSpPr>
          <p:cNvPr id="3" name="Content Placeholder 2">
            <a:extLst>
              <a:ext uri="{FF2B5EF4-FFF2-40B4-BE49-F238E27FC236}">
                <a16:creationId xmlns:a16="http://schemas.microsoft.com/office/drawing/2014/main" id="{FCD086AB-2D44-0F24-5D87-BA040659E2F1}"/>
              </a:ext>
            </a:extLst>
          </p:cNvPr>
          <p:cNvSpPr>
            <a:spLocks noGrp="1"/>
          </p:cNvSpPr>
          <p:nvPr>
            <p:ph idx="1"/>
          </p:nvPr>
        </p:nvSpPr>
        <p:spPr/>
        <p:txBody>
          <a:bodyPr/>
          <a:lstStyle/>
          <a:p>
            <a:r>
              <a:rPr lang="vi-VN" dirty="0"/>
              <a:t>Dữ liệu được thu thập từ </a:t>
            </a:r>
            <a:r>
              <a:rPr lang="vi-VN" i="1" dirty="0">
                <a:hlinkClick r:id="rId2"/>
              </a:rPr>
              <a:t>therecipecritic.com</a:t>
            </a:r>
            <a:r>
              <a:rPr lang="vi-VN" i="1" dirty="0"/>
              <a:t> </a:t>
            </a:r>
            <a:r>
              <a:rPr lang="vi-VN" dirty="0"/>
              <a:t>sử dụng </a:t>
            </a:r>
            <a:r>
              <a:rPr lang="vi-VN" dirty="0" err="1"/>
              <a:t>Selenium</a:t>
            </a:r>
            <a:r>
              <a:rPr lang="vi-VN" dirty="0"/>
              <a:t> với </a:t>
            </a:r>
            <a:r>
              <a:rPr lang="vi-VN" dirty="0" err="1"/>
              <a:t>driver</a:t>
            </a:r>
            <a:r>
              <a:rPr lang="vi-VN" dirty="0"/>
              <a:t> </a:t>
            </a:r>
            <a:r>
              <a:rPr lang="vi-VN" dirty="0" err="1"/>
              <a:t>Chrome</a:t>
            </a:r>
            <a:r>
              <a:rPr lang="vi-VN" dirty="0"/>
              <a:t>.</a:t>
            </a:r>
          </a:p>
          <a:p>
            <a:r>
              <a:rPr lang="vi-VN" dirty="0"/>
              <a:t>Gồm </a:t>
            </a:r>
            <a:r>
              <a:rPr lang="en-US" dirty="0"/>
              <a:t>3</a:t>
            </a:r>
            <a:r>
              <a:rPr lang="vi-VN" dirty="0"/>
              <a:t> giai đoạn chính:</a:t>
            </a:r>
          </a:p>
          <a:p>
            <a:pPr marL="914400" lvl="1" indent="-457200">
              <a:buFont typeface="+mj-lt"/>
              <a:buAutoNum type="arabicPeriod"/>
            </a:pPr>
            <a:r>
              <a:rPr lang="vi-VN" dirty="0"/>
              <a:t>Thu thập đường dẫn danh mục</a:t>
            </a:r>
          </a:p>
          <a:p>
            <a:pPr marL="914400" lvl="1" indent="-457200">
              <a:buFont typeface="+mj-lt"/>
              <a:buAutoNum type="arabicPeriod"/>
            </a:pPr>
            <a:r>
              <a:rPr lang="vi-VN" dirty="0"/>
              <a:t>Thu thập đường dẫn của từng công thức.</a:t>
            </a:r>
            <a:endParaRPr lang="en-US" dirty="0"/>
          </a:p>
          <a:p>
            <a:pPr marL="914400" lvl="1" indent="-457200">
              <a:buFont typeface="+mj-lt"/>
              <a:buAutoNum type="arabicPeriod"/>
            </a:pPr>
            <a:r>
              <a:rPr lang="en-US" dirty="0"/>
              <a:t>Thu </a:t>
            </a:r>
            <a:r>
              <a:rPr lang="en-US" dirty="0" err="1"/>
              <a:t>thập</a:t>
            </a:r>
            <a:r>
              <a:rPr lang="en-US" dirty="0"/>
              <a:t> </a:t>
            </a:r>
            <a:r>
              <a:rPr lang="en-US" dirty="0" err="1"/>
              <a:t>công</a:t>
            </a:r>
            <a:r>
              <a:rPr lang="en-US" dirty="0"/>
              <a:t> </a:t>
            </a:r>
            <a:r>
              <a:rPr lang="en-US" dirty="0" err="1"/>
              <a:t>thức</a:t>
            </a:r>
            <a:r>
              <a:rPr lang="en-US" dirty="0"/>
              <a:t> chi </a:t>
            </a:r>
            <a:r>
              <a:rPr lang="en-US" dirty="0" err="1"/>
              <a:t>tiết</a:t>
            </a:r>
            <a:r>
              <a:rPr lang="en-US" dirty="0"/>
              <a:t> của </a:t>
            </a:r>
            <a:r>
              <a:rPr lang="en-US" dirty="0" err="1"/>
              <a:t>từng</a:t>
            </a:r>
            <a:r>
              <a:rPr lang="en-US" dirty="0"/>
              <a:t> </a:t>
            </a:r>
            <a:r>
              <a:rPr lang="en-US" dirty="0" err="1"/>
              <a:t>công</a:t>
            </a:r>
            <a:r>
              <a:rPr lang="en-US" dirty="0"/>
              <a:t> </a:t>
            </a:r>
            <a:r>
              <a:rPr lang="en-US" dirty="0" err="1"/>
              <a:t>thức</a:t>
            </a:r>
            <a:r>
              <a:rPr lang="en-US" dirty="0"/>
              <a:t>.</a:t>
            </a:r>
            <a:endParaRPr lang="vi-VN" dirty="0"/>
          </a:p>
        </p:txBody>
      </p:sp>
      <p:sp>
        <p:nvSpPr>
          <p:cNvPr id="4" name="Slide Number Placeholder 3">
            <a:extLst>
              <a:ext uri="{FF2B5EF4-FFF2-40B4-BE49-F238E27FC236}">
                <a16:creationId xmlns:a16="http://schemas.microsoft.com/office/drawing/2014/main" id="{7C300204-26FE-C3CA-05D8-2EFE7E47D4F1}"/>
              </a:ext>
            </a:extLst>
          </p:cNvPr>
          <p:cNvSpPr>
            <a:spLocks noGrp="1"/>
          </p:cNvSpPr>
          <p:nvPr>
            <p:ph type="sldNum" sz="quarter" idx="12"/>
          </p:nvPr>
        </p:nvSpPr>
        <p:spPr/>
        <p:txBody>
          <a:bodyPr/>
          <a:lstStyle/>
          <a:p>
            <a:fld id="{4ED22EA6-6E07-498D-89D0-2FA887FD1E5C}" type="slidenum">
              <a:rPr lang="vi-VN" smtClean="0"/>
              <a:t>12</a:t>
            </a:fld>
            <a:endParaRPr lang="vi-VN"/>
          </a:p>
        </p:txBody>
      </p:sp>
    </p:spTree>
    <p:extLst>
      <p:ext uri="{BB962C8B-B14F-4D97-AF65-F5344CB8AC3E}">
        <p14:creationId xmlns:p14="http://schemas.microsoft.com/office/powerpoint/2010/main" val="1032226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500"/>
                                        <p:tgtEl>
                                          <p:spTgt spid="3">
                                            <p:txEl>
                                              <p:pRg st="2" end="2"/>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8ABCE-3EEE-1584-781F-CD52E84B0472}"/>
              </a:ext>
            </a:extLst>
          </p:cNvPr>
          <p:cNvSpPr>
            <a:spLocks noGrp="1"/>
          </p:cNvSpPr>
          <p:nvPr>
            <p:ph type="title"/>
          </p:nvPr>
        </p:nvSpPr>
        <p:spPr/>
        <p:txBody>
          <a:bodyPr>
            <a:normAutofit/>
          </a:bodyPr>
          <a:lstStyle/>
          <a:p>
            <a:r>
              <a:rPr lang="vi-VN"/>
              <a:t>III. Xử lý dữ liệu</a:t>
            </a:r>
          </a:p>
        </p:txBody>
      </p:sp>
      <p:sp>
        <p:nvSpPr>
          <p:cNvPr id="3" name="Content Placeholder 2">
            <a:extLst>
              <a:ext uri="{FF2B5EF4-FFF2-40B4-BE49-F238E27FC236}">
                <a16:creationId xmlns:a16="http://schemas.microsoft.com/office/drawing/2014/main" id="{25ED016C-BA11-7BB5-2214-D1DA0C39B87C}"/>
              </a:ext>
            </a:extLst>
          </p:cNvPr>
          <p:cNvSpPr>
            <a:spLocks noGrp="1"/>
          </p:cNvSpPr>
          <p:nvPr>
            <p:ph idx="1"/>
          </p:nvPr>
        </p:nvSpPr>
        <p:spPr/>
        <p:txBody>
          <a:bodyPr/>
          <a:lstStyle/>
          <a:p>
            <a:r>
              <a:rPr lang="vi-VN"/>
              <a:t>Các thông tin được thu thập bao gồm các trường:</a:t>
            </a:r>
          </a:p>
          <a:p>
            <a:pPr lvl="1"/>
            <a:r>
              <a:rPr lang="vi-VN"/>
              <a:t>Mô tả</a:t>
            </a:r>
          </a:p>
          <a:p>
            <a:pPr lvl="1"/>
            <a:r>
              <a:rPr lang="vi-VN"/>
              <a:t>Metadata (</a:t>
            </a:r>
            <a:r>
              <a:rPr lang="vi-VN" i="1"/>
              <a:t>Thời gian nấu, thời gian chuẩn bị, ...</a:t>
            </a:r>
            <a:r>
              <a:rPr lang="vi-VN"/>
              <a:t>)</a:t>
            </a:r>
          </a:p>
          <a:p>
            <a:pPr lvl="1"/>
            <a:r>
              <a:rPr lang="vi-VN"/>
              <a:t>Nguyên liệu</a:t>
            </a:r>
          </a:p>
          <a:p>
            <a:pPr lvl="1"/>
            <a:r>
              <a:rPr lang="vi-VN"/>
              <a:t>Các bước chế biến</a:t>
            </a:r>
          </a:p>
          <a:p>
            <a:pPr lvl="1"/>
            <a:r>
              <a:rPr lang="vi-VN"/>
              <a:t>Thông tin dinh dưỡng</a:t>
            </a:r>
          </a:p>
          <a:p>
            <a:pPr lvl="1"/>
            <a:r>
              <a:rPr lang="vi-VN"/>
              <a:t>Bình luận</a:t>
            </a:r>
          </a:p>
          <a:p>
            <a:endParaRPr lang="vi-VN"/>
          </a:p>
        </p:txBody>
      </p:sp>
      <p:sp>
        <p:nvSpPr>
          <p:cNvPr id="4" name="Slide Number Placeholder 3">
            <a:extLst>
              <a:ext uri="{FF2B5EF4-FFF2-40B4-BE49-F238E27FC236}">
                <a16:creationId xmlns:a16="http://schemas.microsoft.com/office/drawing/2014/main" id="{5A30FD96-D318-2AE7-8AB5-CC374C2B4828}"/>
              </a:ext>
            </a:extLst>
          </p:cNvPr>
          <p:cNvSpPr>
            <a:spLocks noGrp="1"/>
          </p:cNvSpPr>
          <p:nvPr>
            <p:ph type="sldNum" sz="quarter" idx="12"/>
          </p:nvPr>
        </p:nvSpPr>
        <p:spPr/>
        <p:txBody>
          <a:bodyPr/>
          <a:lstStyle/>
          <a:p>
            <a:fld id="{4ED22EA6-6E07-498D-89D0-2FA887FD1E5C}" type="slidenum">
              <a:rPr lang="vi-VN" smtClean="0"/>
              <a:t>13</a:t>
            </a:fld>
            <a:endParaRPr lang="vi-VN"/>
          </a:p>
        </p:txBody>
      </p:sp>
    </p:spTree>
    <p:extLst>
      <p:ext uri="{BB962C8B-B14F-4D97-AF65-F5344CB8AC3E}">
        <p14:creationId xmlns:p14="http://schemas.microsoft.com/office/powerpoint/2010/main" val="264431453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63B8C-6A74-0ADD-3412-2DF709B64E08}"/>
              </a:ext>
            </a:extLst>
          </p:cNvPr>
          <p:cNvSpPr>
            <a:spLocks noGrp="1"/>
          </p:cNvSpPr>
          <p:nvPr>
            <p:ph type="title"/>
          </p:nvPr>
        </p:nvSpPr>
        <p:spPr/>
        <p:txBody>
          <a:bodyPr>
            <a:normAutofit/>
          </a:bodyPr>
          <a:lstStyle/>
          <a:p>
            <a:r>
              <a:rPr lang="vi-VN"/>
              <a:t>III. Xử lý dữ liệu</a:t>
            </a:r>
          </a:p>
        </p:txBody>
      </p:sp>
      <p:sp>
        <p:nvSpPr>
          <p:cNvPr id="3" name="Content Placeholder 2">
            <a:extLst>
              <a:ext uri="{FF2B5EF4-FFF2-40B4-BE49-F238E27FC236}">
                <a16:creationId xmlns:a16="http://schemas.microsoft.com/office/drawing/2014/main" id="{89E0701B-7B6E-B7D7-C771-E324A72E36CF}"/>
              </a:ext>
            </a:extLst>
          </p:cNvPr>
          <p:cNvSpPr>
            <a:spLocks noGrp="1"/>
          </p:cNvSpPr>
          <p:nvPr>
            <p:ph idx="1"/>
          </p:nvPr>
        </p:nvSpPr>
        <p:spPr/>
        <p:txBody>
          <a:bodyPr/>
          <a:lstStyle/>
          <a:p>
            <a:r>
              <a:rPr lang="vi-VN" b="1"/>
              <a:t>Tiền xử lý dữ liệu</a:t>
            </a:r>
            <a:r>
              <a:rPr lang="vi-VN"/>
              <a:t>:</a:t>
            </a:r>
          </a:p>
          <a:p>
            <a:pPr lvl="1"/>
            <a:r>
              <a:rPr lang="vi-VN"/>
              <a:t>Làm sạch dữ liệu:</a:t>
            </a:r>
          </a:p>
          <a:p>
            <a:pPr lvl="2"/>
            <a:r>
              <a:rPr lang="vi-VN"/>
              <a:t>Thay thế các ký tự đặc biệt (</a:t>
            </a:r>
            <a:r>
              <a:rPr lang="vi-VN" i="1"/>
              <a:t>ví dụ: ◦, ®, ©, ½, ...</a:t>
            </a:r>
            <a:r>
              <a:rPr lang="vi-VN"/>
              <a:t>)</a:t>
            </a:r>
          </a:p>
          <a:p>
            <a:pPr lvl="2"/>
            <a:r>
              <a:rPr lang="vi-VN"/>
              <a:t>Loại bỏ ký tự không hiển thị, emoji, khoảng trắng thừa</a:t>
            </a:r>
          </a:p>
          <a:p>
            <a:pPr lvl="2"/>
            <a:r>
              <a:rPr lang="vi-VN"/>
              <a:t>Chuẩn hóa khoảng trắng và xuống dòng, đảm bảo text liền mạch</a:t>
            </a:r>
          </a:p>
          <a:p>
            <a:pPr lvl="1"/>
            <a:r>
              <a:rPr lang="vi-VN"/>
              <a:t>Chuẩn hóa dữ liệu các trường</a:t>
            </a:r>
          </a:p>
          <a:p>
            <a:pPr lvl="1"/>
            <a:r>
              <a:rPr lang="vi-VN"/>
              <a:t>Gộp dữ liệu của các công thức vào một file định dạng .json</a:t>
            </a:r>
          </a:p>
        </p:txBody>
      </p:sp>
      <p:sp>
        <p:nvSpPr>
          <p:cNvPr id="4" name="Slide Number Placeholder 3">
            <a:extLst>
              <a:ext uri="{FF2B5EF4-FFF2-40B4-BE49-F238E27FC236}">
                <a16:creationId xmlns:a16="http://schemas.microsoft.com/office/drawing/2014/main" id="{F4C7FA8A-7198-4DF5-8874-9EDC35A16D3B}"/>
              </a:ext>
            </a:extLst>
          </p:cNvPr>
          <p:cNvSpPr>
            <a:spLocks noGrp="1"/>
          </p:cNvSpPr>
          <p:nvPr>
            <p:ph type="sldNum" sz="quarter" idx="12"/>
          </p:nvPr>
        </p:nvSpPr>
        <p:spPr/>
        <p:txBody>
          <a:bodyPr/>
          <a:lstStyle/>
          <a:p>
            <a:fld id="{4ED22EA6-6E07-498D-89D0-2FA887FD1E5C}" type="slidenum">
              <a:rPr lang="vi-VN" smtClean="0"/>
              <a:t>14</a:t>
            </a:fld>
            <a:endParaRPr lang="vi-VN"/>
          </a:p>
        </p:txBody>
      </p:sp>
    </p:spTree>
    <p:extLst>
      <p:ext uri="{BB962C8B-B14F-4D97-AF65-F5344CB8AC3E}">
        <p14:creationId xmlns:p14="http://schemas.microsoft.com/office/powerpoint/2010/main" val="402713979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6615D-D8E3-65C8-0435-6AA91AD02904}"/>
              </a:ext>
            </a:extLst>
          </p:cNvPr>
          <p:cNvSpPr>
            <a:spLocks noGrp="1"/>
          </p:cNvSpPr>
          <p:nvPr>
            <p:ph type="title"/>
          </p:nvPr>
        </p:nvSpPr>
        <p:spPr/>
        <p:txBody>
          <a:bodyPr>
            <a:normAutofit/>
          </a:bodyPr>
          <a:lstStyle/>
          <a:p>
            <a:r>
              <a:rPr lang="vi-VN"/>
              <a:t>III. Xử lý dữ liệu</a:t>
            </a:r>
          </a:p>
        </p:txBody>
      </p:sp>
      <p:sp>
        <p:nvSpPr>
          <p:cNvPr id="3" name="Content Placeholder 2">
            <a:extLst>
              <a:ext uri="{FF2B5EF4-FFF2-40B4-BE49-F238E27FC236}">
                <a16:creationId xmlns:a16="http://schemas.microsoft.com/office/drawing/2014/main" id="{4D5C7EE5-90CA-F888-CE91-A77FED520459}"/>
              </a:ext>
            </a:extLst>
          </p:cNvPr>
          <p:cNvSpPr>
            <a:spLocks noGrp="1"/>
          </p:cNvSpPr>
          <p:nvPr>
            <p:ph idx="1"/>
          </p:nvPr>
        </p:nvSpPr>
        <p:spPr/>
        <p:txBody>
          <a:bodyPr/>
          <a:lstStyle/>
          <a:p>
            <a:r>
              <a:rPr lang="vi-VN" b="1"/>
              <a:t>­</a:t>
            </a:r>
            <a:r>
              <a:rPr lang="vi-VN" b="1">
                <a:solidFill>
                  <a:schemeClr val="accent6">
                    <a:lumMod val="75000"/>
                  </a:schemeClr>
                </a:solidFill>
              </a:rPr>
              <a:t>ChromaDB</a:t>
            </a:r>
            <a:r>
              <a:rPr lang="vi-VN"/>
              <a:t> là một cơ sở dữ liệu vector dùng để lưu trữ và truy vấn các vector embedding.</a:t>
            </a:r>
          </a:p>
          <a:p>
            <a:r>
              <a:rPr lang="vi-VN" b="1"/>
              <a:t>Mục tiêu</a:t>
            </a:r>
            <a:r>
              <a:rPr lang="vi-VN"/>
              <a:t>: Hỗ trợ tìm kiếm ngữ nghĩa (</a:t>
            </a:r>
            <a:r>
              <a:rPr lang="vi-VN" i="1"/>
              <a:t>semantic search</a:t>
            </a:r>
            <a:r>
              <a:rPr lang="vi-VN"/>
              <a:t>), truy xuất nhanh các đoạn văn bản có nội dung giống nhau/liên quan bằng các so sánh các embedding.</a:t>
            </a:r>
          </a:p>
          <a:p>
            <a:r>
              <a:rPr lang="vi-VN"/>
              <a:t>Dữ liệu sau tiền xử lý sẽ được nhúng và lưu vào cơ sở dữ liệu </a:t>
            </a:r>
            <a:r>
              <a:rPr lang="vi-VN" b="1">
                <a:solidFill>
                  <a:schemeClr val="accent6">
                    <a:lumMod val="75000"/>
                  </a:schemeClr>
                </a:solidFill>
              </a:rPr>
              <a:t>ChromaDB</a:t>
            </a:r>
            <a:r>
              <a:rPr lang="vi-VN"/>
              <a:t>.</a:t>
            </a:r>
          </a:p>
        </p:txBody>
      </p:sp>
      <p:sp>
        <p:nvSpPr>
          <p:cNvPr id="4" name="Slide Number Placeholder 3">
            <a:extLst>
              <a:ext uri="{FF2B5EF4-FFF2-40B4-BE49-F238E27FC236}">
                <a16:creationId xmlns:a16="http://schemas.microsoft.com/office/drawing/2014/main" id="{57AA58B8-D99B-0157-8164-3BB9B3CDBCC5}"/>
              </a:ext>
            </a:extLst>
          </p:cNvPr>
          <p:cNvSpPr>
            <a:spLocks noGrp="1"/>
          </p:cNvSpPr>
          <p:nvPr>
            <p:ph type="sldNum" sz="quarter" idx="12"/>
          </p:nvPr>
        </p:nvSpPr>
        <p:spPr/>
        <p:txBody>
          <a:bodyPr/>
          <a:lstStyle/>
          <a:p>
            <a:fld id="{4ED22EA6-6E07-498D-89D0-2FA887FD1E5C}" type="slidenum">
              <a:rPr lang="vi-VN" smtClean="0"/>
              <a:t>15</a:t>
            </a:fld>
            <a:endParaRPr lang="vi-VN"/>
          </a:p>
        </p:txBody>
      </p:sp>
    </p:spTree>
    <p:extLst>
      <p:ext uri="{BB962C8B-B14F-4D97-AF65-F5344CB8AC3E}">
        <p14:creationId xmlns:p14="http://schemas.microsoft.com/office/powerpoint/2010/main" val="102199585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8AB6F-9ED9-16B2-5D6E-471AACEC3D29}"/>
              </a:ext>
            </a:extLst>
          </p:cNvPr>
          <p:cNvSpPr>
            <a:spLocks noGrp="1"/>
          </p:cNvSpPr>
          <p:nvPr>
            <p:ph type="title"/>
          </p:nvPr>
        </p:nvSpPr>
        <p:spPr/>
        <p:txBody>
          <a:bodyPr>
            <a:normAutofit/>
          </a:bodyPr>
          <a:lstStyle/>
          <a:p>
            <a:r>
              <a:rPr lang="vi-VN"/>
              <a:t>III. Xử lý dữ liệu</a:t>
            </a:r>
          </a:p>
        </p:txBody>
      </p:sp>
      <p:pic>
        <p:nvPicPr>
          <p:cNvPr id="7" name="Content Placeholder 6">
            <a:extLst>
              <a:ext uri="{FF2B5EF4-FFF2-40B4-BE49-F238E27FC236}">
                <a16:creationId xmlns:a16="http://schemas.microsoft.com/office/drawing/2014/main" id="{5A380B46-6628-6B8B-D69C-B8B83A13CDB7}"/>
              </a:ext>
            </a:extLst>
          </p:cNvPr>
          <p:cNvPicPr>
            <a:picLocks noGrp="1" noChangeAspect="1"/>
          </p:cNvPicPr>
          <p:nvPr>
            <p:ph idx="1"/>
          </p:nvPr>
        </p:nvPicPr>
        <p:blipFill>
          <a:blip r:embed="rId2"/>
          <a:stretch>
            <a:fillRect/>
          </a:stretch>
        </p:blipFill>
        <p:spPr>
          <a:xfrm>
            <a:off x="1680546" y="1690688"/>
            <a:ext cx="8830907" cy="4258269"/>
          </a:xfrm>
          <a:prstGeom prst="rect">
            <a:avLst/>
          </a:prstGeom>
        </p:spPr>
      </p:pic>
      <p:sp>
        <p:nvSpPr>
          <p:cNvPr id="3" name="Slide Number Placeholder 2">
            <a:extLst>
              <a:ext uri="{FF2B5EF4-FFF2-40B4-BE49-F238E27FC236}">
                <a16:creationId xmlns:a16="http://schemas.microsoft.com/office/drawing/2014/main" id="{D45F9156-77FD-D46C-DAB7-7E0A10506E0D}"/>
              </a:ext>
            </a:extLst>
          </p:cNvPr>
          <p:cNvSpPr>
            <a:spLocks noGrp="1"/>
          </p:cNvSpPr>
          <p:nvPr>
            <p:ph type="sldNum" sz="quarter" idx="12"/>
          </p:nvPr>
        </p:nvSpPr>
        <p:spPr/>
        <p:txBody>
          <a:bodyPr/>
          <a:lstStyle/>
          <a:p>
            <a:fld id="{4ED22EA6-6E07-498D-89D0-2FA887FD1E5C}" type="slidenum">
              <a:rPr lang="vi-VN" smtClean="0"/>
              <a:t>16</a:t>
            </a:fld>
            <a:endParaRPr lang="vi-VN"/>
          </a:p>
        </p:txBody>
      </p:sp>
    </p:spTree>
    <p:extLst>
      <p:ext uri="{BB962C8B-B14F-4D97-AF65-F5344CB8AC3E}">
        <p14:creationId xmlns:p14="http://schemas.microsoft.com/office/powerpoint/2010/main" val="156377505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7D6D067-8603-11AA-EAB5-67570795D758}"/>
              </a:ext>
            </a:extLst>
          </p:cNvPr>
          <p:cNvSpPr>
            <a:spLocks noGrp="1"/>
          </p:cNvSpPr>
          <p:nvPr>
            <p:ph type="title"/>
          </p:nvPr>
        </p:nvSpPr>
        <p:spPr/>
        <p:txBody>
          <a:bodyPr/>
          <a:lstStyle/>
          <a:p>
            <a:r>
              <a:rPr lang="vi-VN"/>
              <a:t>IV. Hệ thống chatbot</a:t>
            </a:r>
          </a:p>
        </p:txBody>
      </p:sp>
      <p:sp>
        <p:nvSpPr>
          <p:cNvPr id="5" name="Text Placeholder 4">
            <a:extLst>
              <a:ext uri="{FF2B5EF4-FFF2-40B4-BE49-F238E27FC236}">
                <a16:creationId xmlns:a16="http://schemas.microsoft.com/office/drawing/2014/main" id="{79C1E8A1-5C45-7621-6459-97D0C1E58E1A}"/>
              </a:ext>
            </a:extLst>
          </p:cNvPr>
          <p:cNvSpPr>
            <a:spLocks noGrp="1"/>
          </p:cNvSpPr>
          <p:nvPr>
            <p:ph type="body" idx="1"/>
          </p:nvPr>
        </p:nvSpPr>
        <p:spPr/>
        <p:txBody>
          <a:bodyPr/>
          <a:lstStyle/>
          <a:p>
            <a:endParaRPr lang="vi-VN"/>
          </a:p>
        </p:txBody>
      </p:sp>
      <p:sp>
        <p:nvSpPr>
          <p:cNvPr id="2" name="Slide Number Placeholder 1">
            <a:extLst>
              <a:ext uri="{FF2B5EF4-FFF2-40B4-BE49-F238E27FC236}">
                <a16:creationId xmlns:a16="http://schemas.microsoft.com/office/drawing/2014/main" id="{70C779EF-AED1-1F0B-97B3-68811B9EA501}"/>
              </a:ext>
            </a:extLst>
          </p:cNvPr>
          <p:cNvSpPr>
            <a:spLocks noGrp="1"/>
          </p:cNvSpPr>
          <p:nvPr>
            <p:ph type="sldNum" sz="quarter" idx="12"/>
          </p:nvPr>
        </p:nvSpPr>
        <p:spPr/>
        <p:txBody>
          <a:bodyPr/>
          <a:lstStyle/>
          <a:p>
            <a:fld id="{4ED22EA6-6E07-498D-89D0-2FA887FD1E5C}" type="slidenum">
              <a:rPr lang="vi-VN" smtClean="0"/>
              <a:t>17</a:t>
            </a:fld>
            <a:endParaRPr lang="vi-VN"/>
          </a:p>
        </p:txBody>
      </p:sp>
    </p:spTree>
    <p:extLst>
      <p:ext uri="{BB962C8B-B14F-4D97-AF65-F5344CB8AC3E}">
        <p14:creationId xmlns:p14="http://schemas.microsoft.com/office/powerpoint/2010/main" val="16799216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7F7EFD-D82F-B17F-34F7-935EE49CF110}"/>
              </a:ext>
            </a:extLst>
          </p:cNvPr>
          <p:cNvSpPr>
            <a:spLocks noGrp="1"/>
          </p:cNvSpPr>
          <p:nvPr>
            <p:ph type="title"/>
          </p:nvPr>
        </p:nvSpPr>
        <p:spPr/>
        <p:txBody>
          <a:bodyPr>
            <a:normAutofit/>
          </a:bodyPr>
          <a:lstStyle/>
          <a:p>
            <a:r>
              <a:rPr lang="vi-VN"/>
              <a:t>IV. Hệ thống chatbot</a:t>
            </a:r>
          </a:p>
        </p:txBody>
      </p:sp>
      <p:sp>
        <p:nvSpPr>
          <p:cNvPr id="5" name="Content Placeholder 4">
            <a:extLst>
              <a:ext uri="{FF2B5EF4-FFF2-40B4-BE49-F238E27FC236}">
                <a16:creationId xmlns:a16="http://schemas.microsoft.com/office/drawing/2014/main" id="{3BD622C6-9DFD-134F-2AAB-2A361FBE4AF5}"/>
              </a:ext>
            </a:extLst>
          </p:cNvPr>
          <p:cNvSpPr>
            <a:spLocks noGrp="1"/>
          </p:cNvSpPr>
          <p:nvPr>
            <p:ph idx="1"/>
          </p:nvPr>
        </p:nvSpPr>
        <p:spPr/>
        <p:txBody>
          <a:bodyPr/>
          <a:lstStyle/>
          <a:p>
            <a:r>
              <a:rPr lang="vi-VN"/>
              <a:t>­</a:t>
            </a:r>
            <a:r>
              <a:rPr lang="vi-VN" b="1">
                <a:solidFill>
                  <a:schemeClr val="tx2">
                    <a:lumMod val="75000"/>
                    <a:lumOff val="25000"/>
                  </a:schemeClr>
                </a:solidFill>
              </a:rPr>
              <a:t>Retrieval-Augmented Generation</a:t>
            </a:r>
            <a:r>
              <a:rPr lang="vi-VN" b="1"/>
              <a:t> </a:t>
            </a:r>
            <a:r>
              <a:rPr lang="vi-VN"/>
              <a:t>(</a:t>
            </a:r>
            <a:r>
              <a:rPr lang="vi-VN" b="1" i="1">
                <a:solidFill>
                  <a:schemeClr val="tx2">
                    <a:lumMod val="75000"/>
                    <a:lumOff val="25000"/>
                  </a:schemeClr>
                </a:solidFill>
              </a:rPr>
              <a:t>RAG</a:t>
            </a:r>
            <a:r>
              <a:rPr lang="vi-VN"/>
              <a:t>) là kỹ thuật kết hợp tìm kiếm ngữ nghĩa (</a:t>
            </a:r>
            <a:r>
              <a:rPr lang="vi-VN" i="1"/>
              <a:t>retrieval</a:t>
            </a:r>
            <a:r>
              <a:rPr lang="vi-VN"/>
              <a:t>) trên một </a:t>
            </a:r>
            <a:r>
              <a:rPr lang="vi-VN">
                <a:solidFill>
                  <a:schemeClr val="accent6">
                    <a:lumMod val="75000"/>
                  </a:schemeClr>
                </a:solidFill>
              </a:rPr>
              <a:t>kho tri thức </a:t>
            </a:r>
            <a:r>
              <a:rPr lang="vi-VN"/>
              <a:t>(</a:t>
            </a:r>
            <a:r>
              <a:rPr lang="vi-VN" i="1">
                <a:solidFill>
                  <a:schemeClr val="accent6">
                    <a:lumMod val="75000"/>
                  </a:schemeClr>
                </a:solidFill>
              </a:rPr>
              <a:t>vector DB</a:t>
            </a:r>
            <a:r>
              <a:rPr lang="vi-VN"/>
              <a:t>) với </a:t>
            </a:r>
            <a:r>
              <a:rPr lang="vi-VN">
                <a:solidFill>
                  <a:schemeClr val="accent2">
                    <a:lumMod val="75000"/>
                  </a:schemeClr>
                </a:solidFill>
              </a:rPr>
              <a:t>mô hình sinh ngôn ngữ</a:t>
            </a:r>
            <a:r>
              <a:rPr lang="vi-VN"/>
              <a:t>.</a:t>
            </a:r>
          </a:p>
        </p:txBody>
      </p:sp>
      <p:pic>
        <p:nvPicPr>
          <p:cNvPr id="7" name="Picture 6">
            <a:extLst>
              <a:ext uri="{FF2B5EF4-FFF2-40B4-BE49-F238E27FC236}">
                <a16:creationId xmlns:a16="http://schemas.microsoft.com/office/drawing/2014/main" id="{3B4ADBAA-1EAB-3798-1E91-254498678811}"/>
              </a:ext>
            </a:extLst>
          </p:cNvPr>
          <p:cNvPicPr>
            <a:picLocks noChangeAspect="1"/>
          </p:cNvPicPr>
          <p:nvPr/>
        </p:nvPicPr>
        <p:blipFill>
          <a:blip r:embed="rId2"/>
          <a:stretch>
            <a:fillRect/>
          </a:stretch>
        </p:blipFill>
        <p:spPr>
          <a:xfrm>
            <a:off x="838200" y="3370364"/>
            <a:ext cx="10515600" cy="2744964"/>
          </a:xfrm>
          <a:prstGeom prst="rect">
            <a:avLst/>
          </a:prstGeom>
        </p:spPr>
      </p:pic>
      <p:sp>
        <p:nvSpPr>
          <p:cNvPr id="2" name="Slide Number Placeholder 1">
            <a:extLst>
              <a:ext uri="{FF2B5EF4-FFF2-40B4-BE49-F238E27FC236}">
                <a16:creationId xmlns:a16="http://schemas.microsoft.com/office/drawing/2014/main" id="{B7ACDA04-85F1-2CBF-1225-808E22BE127D}"/>
              </a:ext>
            </a:extLst>
          </p:cNvPr>
          <p:cNvSpPr>
            <a:spLocks noGrp="1"/>
          </p:cNvSpPr>
          <p:nvPr>
            <p:ph type="sldNum" sz="quarter" idx="12"/>
          </p:nvPr>
        </p:nvSpPr>
        <p:spPr/>
        <p:txBody>
          <a:bodyPr/>
          <a:lstStyle/>
          <a:p>
            <a:fld id="{4ED22EA6-6E07-498D-89D0-2FA887FD1E5C}" type="slidenum">
              <a:rPr lang="vi-VN" smtClean="0"/>
              <a:t>18</a:t>
            </a:fld>
            <a:endParaRPr lang="vi-VN"/>
          </a:p>
        </p:txBody>
      </p:sp>
    </p:spTree>
    <p:extLst>
      <p:ext uri="{BB962C8B-B14F-4D97-AF65-F5344CB8AC3E}">
        <p14:creationId xmlns:p14="http://schemas.microsoft.com/office/powerpoint/2010/main" val="144625397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B586C-06DF-3D34-1853-FF81947292A8}"/>
              </a:ext>
            </a:extLst>
          </p:cNvPr>
          <p:cNvSpPr>
            <a:spLocks noGrp="1"/>
          </p:cNvSpPr>
          <p:nvPr>
            <p:ph type="title"/>
          </p:nvPr>
        </p:nvSpPr>
        <p:spPr/>
        <p:txBody>
          <a:bodyPr>
            <a:normAutofit/>
          </a:bodyPr>
          <a:lstStyle/>
          <a:p>
            <a:r>
              <a:rPr lang="vi-VN"/>
              <a:t>IV. Hệ thống chatbot</a:t>
            </a:r>
          </a:p>
        </p:txBody>
      </p:sp>
      <p:sp>
        <p:nvSpPr>
          <p:cNvPr id="3" name="Content Placeholder 2">
            <a:extLst>
              <a:ext uri="{FF2B5EF4-FFF2-40B4-BE49-F238E27FC236}">
                <a16:creationId xmlns:a16="http://schemas.microsoft.com/office/drawing/2014/main" id="{A8621EBF-AC97-C74D-996A-97791DEE3CAE}"/>
              </a:ext>
            </a:extLst>
          </p:cNvPr>
          <p:cNvSpPr>
            <a:spLocks noGrp="1"/>
          </p:cNvSpPr>
          <p:nvPr>
            <p:ph sz="half" idx="1"/>
          </p:nvPr>
        </p:nvSpPr>
        <p:spPr/>
        <p:txBody>
          <a:bodyPr/>
          <a:lstStyle/>
          <a:p>
            <a:r>
              <a:rPr lang="vi-VN"/>
              <a:t>Kiến trúc transformer</a:t>
            </a:r>
          </a:p>
        </p:txBody>
      </p:sp>
      <p:pic>
        <p:nvPicPr>
          <p:cNvPr id="14" name="Content Placeholder 13">
            <a:extLst>
              <a:ext uri="{FF2B5EF4-FFF2-40B4-BE49-F238E27FC236}">
                <a16:creationId xmlns:a16="http://schemas.microsoft.com/office/drawing/2014/main" id="{1F429AA5-4415-1342-81D3-26356C7A309A}"/>
              </a:ext>
            </a:extLst>
          </p:cNvPr>
          <p:cNvPicPr>
            <a:picLocks noGrp="1" noChangeAspect="1"/>
          </p:cNvPicPr>
          <p:nvPr>
            <p:ph sz="half" idx="2"/>
          </p:nvPr>
        </p:nvPicPr>
        <p:blipFill>
          <a:blip r:embed="rId3"/>
          <a:stretch>
            <a:fillRect/>
          </a:stretch>
        </p:blipFill>
        <p:spPr>
          <a:xfrm>
            <a:off x="6951755" y="1193800"/>
            <a:ext cx="3622490" cy="4983163"/>
          </a:xfrm>
          <a:prstGeom prst="rect">
            <a:avLst/>
          </a:prstGeom>
        </p:spPr>
      </p:pic>
      <p:sp>
        <p:nvSpPr>
          <p:cNvPr id="4" name="Slide Number Placeholder 3">
            <a:extLst>
              <a:ext uri="{FF2B5EF4-FFF2-40B4-BE49-F238E27FC236}">
                <a16:creationId xmlns:a16="http://schemas.microsoft.com/office/drawing/2014/main" id="{ABEA6F6E-9D94-D423-2E3D-51F41AA8052F}"/>
              </a:ext>
            </a:extLst>
          </p:cNvPr>
          <p:cNvSpPr>
            <a:spLocks noGrp="1"/>
          </p:cNvSpPr>
          <p:nvPr>
            <p:ph type="sldNum" sz="quarter" idx="12"/>
          </p:nvPr>
        </p:nvSpPr>
        <p:spPr/>
        <p:txBody>
          <a:bodyPr/>
          <a:lstStyle/>
          <a:p>
            <a:fld id="{4ED22EA6-6E07-498D-89D0-2FA887FD1E5C}" type="slidenum">
              <a:rPr lang="vi-VN" smtClean="0"/>
              <a:t>19</a:t>
            </a:fld>
            <a:endParaRPr lang="vi-VN"/>
          </a:p>
        </p:txBody>
      </p:sp>
    </p:spTree>
    <p:extLst>
      <p:ext uri="{BB962C8B-B14F-4D97-AF65-F5344CB8AC3E}">
        <p14:creationId xmlns:p14="http://schemas.microsoft.com/office/powerpoint/2010/main" val="383154334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701595-AA4B-C956-75AC-AE0B8757ECD6}"/>
              </a:ext>
            </a:extLst>
          </p:cNvPr>
          <p:cNvSpPr>
            <a:spLocks noGrp="1"/>
          </p:cNvSpPr>
          <p:nvPr>
            <p:ph type="title"/>
          </p:nvPr>
        </p:nvSpPr>
        <p:spPr/>
        <p:txBody>
          <a:bodyPr>
            <a:normAutofit/>
          </a:bodyPr>
          <a:lstStyle/>
          <a:p>
            <a:r>
              <a:rPr lang="vi-VN"/>
              <a:t>IV. Hệ thống chatbot</a:t>
            </a:r>
          </a:p>
        </p:txBody>
      </p:sp>
      <p:sp>
        <p:nvSpPr>
          <p:cNvPr id="6" name="Content Placeholder 5">
            <a:extLst>
              <a:ext uri="{FF2B5EF4-FFF2-40B4-BE49-F238E27FC236}">
                <a16:creationId xmlns:a16="http://schemas.microsoft.com/office/drawing/2014/main" id="{0A6868C0-DB4E-B375-616C-BFFC1984BE7C}"/>
              </a:ext>
            </a:extLst>
          </p:cNvPr>
          <p:cNvSpPr>
            <a:spLocks noGrp="1"/>
          </p:cNvSpPr>
          <p:nvPr>
            <p:ph idx="1"/>
          </p:nvPr>
        </p:nvSpPr>
        <p:spPr/>
        <p:txBody>
          <a:bodyPr/>
          <a:lstStyle/>
          <a:p>
            <a:r>
              <a:rPr lang="vi-VN"/>
              <a:t>Cải tiến kiến trúc trong </a:t>
            </a:r>
            <a:r>
              <a:rPr lang="vi-VN" b="1">
                <a:solidFill>
                  <a:schemeClr val="accent2">
                    <a:lumMod val="75000"/>
                  </a:schemeClr>
                </a:solidFill>
              </a:rPr>
              <a:t>gemini-2.5-flash-lite</a:t>
            </a:r>
            <a:r>
              <a:rPr lang="vi-VN"/>
              <a:t>:</a:t>
            </a:r>
          </a:p>
          <a:p>
            <a:pPr lvl="1"/>
            <a:r>
              <a:rPr lang="vi-VN"/>
              <a:t>Mixture-of-Experts (</a:t>
            </a:r>
            <a:r>
              <a:rPr lang="vi-VN" i="1"/>
              <a:t>MoE</a:t>
            </a:r>
            <a:r>
              <a:rPr lang="vi-VN"/>
              <a:t>) thưa</a:t>
            </a:r>
          </a:p>
          <a:p>
            <a:pPr lvl="1"/>
            <a:r>
              <a:rPr lang="vi-VN"/>
              <a:t>Grouped-Query Attention (</a:t>
            </a:r>
            <a:r>
              <a:rPr lang="vi-VN" i="1"/>
              <a:t>GQA</a:t>
            </a:r>
            <a:r>
              <a:rPr lang="vi-VN"/>
              <a:t>)</a:t>
            </a:r>
          </a:p>
          <a:p>
            <a:pPr lvl="1"/>
            <a:r>
              <a:rPr lang="vi-VN"/>
              <a:t>Rotary Positional Embeddings (</a:t>
            </a:r>
            <a:r>
              <a:rPr lang="vi-VN" i="1"/>
              <a:t>RoPE</a:t>
            </a:r>
            <a:r>
              <a:rPr lang="vi-VN"/>
              <a:t>)</a:t>
            </a:r>
          </a:p>
          <a:p>
            <a:pPr lvl="1"/>
            <a:r>
              <a:rPr lang="vi-VN"/>
              <a:t>Hàm kích hoạt và Chuẩn hóa</a:t>
            </a:r>
          </a:p>
        </p:txBody>
      </p:sp>
      <p:sp>
        <p:nvSpPr>
          <p:cNvPr id="2" name="Slide Number Placeholder 1">
            <a:extLst>
              <a:ext uri="{FF2B5EF4-FFF2-40B4-BE49-F238E27FC236}">
                <a16:creationId xmlns:a16="http://schemas.microsoft.com/office/drawing/2014/main" id="{8317B46D-75FD-4881-C224-D0DCADBB1083}"/>
              </a:ext>
            </a:extLst>
          </p:cNvPr>
          <p:cNvSpPr>
            <a:spLocks noGrp="1"/>
          </p:cNvSpPr>
          <p:nvPr>
            <p:ph type="sldNum" sz="quarter" idx="12"/>
          </p:nvPr>
        </p:nvSpPr>
        <p:spPr/>
        <p:txBody>
          <a:bodyPr/>
          <a:lstStyle/>
          <a:p>
            <a:fld id="{4ED22EA6-6E07-498D-89D0-2FA887FD1E5C}" type="slidenum">
              <a:rPr lang="vi-VN" smtClean="0"/>
              <a:t>20</a:t>
            </a:fld>
            <a:endParaRPr lang="vi-VN"/>
          </a:p>
        </p:txBody>
      </p:sp>
    </p:spTree>
    <p:extLst>
      <p:ext uri="{BB962C8B-B14F-4D97-AF65-F5344CB8AC3E}">
        <p14:creationId xmlns:p14="http://schemas.microsoft.com/office/powerpoint/2010/main" val="180468396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500"/>
                                        <p:tgtEl>
                                          <p:spTgt spid="6">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animEffect transition="in" filter="fade">
                                      <p:cBhvr>
                                        <p:cTn id="16" dur="500"/>
                                        <p:tgtEl>
                                          <p:spTgt spid="6">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Effect transition="in" filter="fade">
                                      <p:cBhvr>
                                        <p:cTn id="19"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F3DC4-2107-7EFC-1A2B-B53ACD33037D}"/>
              </a:ext>
            </a:extLst>
          </p:cNvPr>
          <p:cNvSpPr>
            <a:spLocks noGrp="1"/>
          </p:cNvSpPr>
          <p:nvPr>
            <p:ph type="title"/>
          </p:nvPr>
        </p:nvSpPr>
        <p:spPr/>
        <p:txBody>
          <a:bodyPr>
            <a:normAutofit/>
          </a:bodyPr>
          <a:lstStyle/>
          <a:p>
            <a:r>
              <a:rPr lang="vi-VN"/>
              <a:t>IV. Hệ thống chatbot</a:t>
            </a:r>
          </a:p>
        </p:txBody>
      </p:sp>
      <p:sp>
        <p:nvSpPr>
          <p:cNvPr id="3" name="Content Placeholder 2">
            <a:extLst>
              <a:ext uri="{FF2B5EF4-FFF2-40B4-BE49-F238E27FC236}">
                <a16:creationId xmlns:a16="http://schemas.microsoft.com/office/drawing/2014/main" id="{52FE8697-A460-57AE-69CA-C92AC32E88A3}"/>
              </a:ext>
            </a:extLst>
          </p:cNvPr>
          <p:cNvSpPr>
            <a:spLocks noGrp="1"/>
          </p:cNvSpPr>
          <p:nvPr>
            <p:ph idx="1"/>
          </p:nvPr>
        </p:nvSpPr>
        <p:spPr/>
        <p:txBody>
          <a:bodyPr/>
          <a:lstStyle/>
          <a:p>
            <a:r>
              <a:rPr lang="vi-VN" b="1"/>
              <a:t>­</a:t>
            </a:r>
            <a:r>
              <a:rPr lang="vi-VN" b="1">
                <a:solidFill>
                  <a:schemeClr val="accent6">
                    <a:lumMod val="75000"/>
                  </a:schemeClr>
                </a:solidFill>
              </a:rPr>
              <a:t>Cơ sở dữ liệu vector </a:t>
            </a:r>
            <a:r>
              <a:rPr lang="vi-VN" b="1"/>
              <a:t>và nhúng từ</a:t>
            </a:r>
            <a:r>
              <a:rPr lang="vi-VN"/>
              <a:t>:</a:t>
            </a:r>
          </a:p>
          <a:p>
            <a:pPr lvl="1"/>
            <a:r>
              <a:rPr lang="vi-VN"/>
              <a:t>Nhúng từ: Đưa một dạng văn bản về không gian vector d chiều</a:t>
            </a:r>
          </a:p>
          <a:p>
            <a:pPr lvl="1"/>
            <a:r>
              <a:rPr lang="vi-VN"/>
              <a:t>Cơ sở dữ liệu vector: Lưu trữ các vector nhúng từ kèm metadata</a:t>
            </a:r>
          </a:p>
          <a:p>
            <a:r>
              <a:rPr lang="vi-VN" b="1"/>
              <a:t>­</a:t>
            </a:r>
            <a:r>
              <a:rPr lang="vi-VN" b="1">
                <a:solidFill>
                  <a:schemeClr val="accent6">
                    <a:lumMod val="75000"/>
                  </a:schemeClr>
                </a:solidFill>
              </a:rPr>
              <a:t>ChromaDB</a:t>
            </a:r>
            <a:r>
              <a:rPr lang="vi-VN"/>
              <a:t>:</a:t>
            </a:r>
          </a:p>
          <a:p>
            <a:pPr lvl="1"/>
            <a:r>
              <a:rPr lang="vi-VN"/>
              <a:t>Nhúng từ mặc định sử dụng mô hình </a:t>
            </a:r>
            <a:r>
              <a:rPr lang="vi-VN" b="1"/>
              <a:t>all-MiniLM-L6-v2</a:t>
            </a:r>
            <a:r>
              <a:rPr lang="vi-VN"/>
              <a:t> tạo ra vector 384 chiều</a:t>
            </a:r>
          </a:p>
          <a:p>
            <a:pPr lvl="1"/>
            <a:r>
              <a:rPr lang="vi-VN"/>
              <a:t>Metadata lưu trữ các thông tin hỗ trợ lọc chuyên sâu</a:t>
            </a:r>
          </a:p>
          <a:p>
            <a:endParaRPr lang="vi-VN"/>
          </a:p>
        </p:txBody>
      </p:sp>
      <p:sp>
        <p:nvSpPr>
          <p:cNvPr id="4" name="Slide Number Placeholder 3">
            <a:extLst>
              <a:ext uri="{FF2B5EF4-FFF2-40B4-BE49-F238E27FC236}">
                <a16:creationId xmlns:a16="http://schemas.microsoft.com/office/drawing/2014/main" id="{17C0035E-28C5-126C-4AD9-8A7A630F3C4C}"/>
              </a:ext>
            </a:extLst>
          </p:cNvPr>
          <p:cNvSpPr>
            <a:spLocks noGrp="1"/>
          </p:cNvSpPr>
          <p:nvPr>
            <p:ph type="sldNum" sz="quarter" idx="12"/>
          </p:nvPr>
        </p:nvSpPr>
        <p:spPr/>
        <p:txBody>
          <a:bodyPr/>
          <a:lstStyle/>
          <a:p>
            <a:fld id="{4ED22EA6-6E07-498D-89D0-2FA887FD1E5C}" type="slidenum">
              <a:rPr lang="vi-VN" smtClean="0"/>
              <a:t>21</a:t>
            </a:fld>
            <a:endParaRPr lang="vi-VN"/>
          </a:p>
        </p:txBody>
      </p:sp>
    </p:spTree>
    <p:extLst>
      <p:ext uri="{BB962C8B-B14F-4D97-AF65-F5344CB8AC3E}">
        <p14:creationId xmlns:p14="http://schemas.microsoft.com/office/powerpoint/2010/main" val="1862191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par>
                          <p:cTn id="14" fill="hold">
                            <p:stCondLst>
                              <p:cond delay="500"/>
                            </p:stCondLst>
                            <p:childTnLst>
                              <p:par>
                                <p:cTn id="15" presetID="10" presetClass="entr" presetSubtype="0" fill="hold" nodeType="after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5597B-ABA3-5C10-3453-87819930D6F1}"/>
              </a:ext>
            </a:extLst>
          </p:cNvPr>
          <p:cNvSpPr>
            <a:spLocks noGrp="1"/>
          </p:cNvSpPr>
          <p:nvPr>
            <p:ph type="title"/>
          </p:nvPr>
        </p:nvSpPr>
        <p:spPr/>
        <p:txBody>
          <a:bodyPr>
            <a:normAutofit/>
          </a:bodyPr>
          <a:lstStyle/>
          <a:p>
            <a:r>
              <a:rPr lang="vi-VN"/>
              <a:t>IV. Hệ thống chatbot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BB9B06-0CA7-8AA4-33A8-C4EC91099981}"/>
                  </a:ext>
                </a:extLst>
              </p:cNvPr>
              <p:cNvSpPr>
                <a:spLocks noGrp="1"/>
              </p:cNvSpPr>
              <p:nvPr>
                <p:ph idx="1"/>
              </p:nvPr>
            </p:nvSpPr>
            <p:spPr/>
            <p:txBody>
              <a:bodyPr/>
              <a:lstStyle/>
              <a:p>
                <a:r>
                  <a:rPr lang="vi-VN" b="1"/>
                  <a:t>Truy xuất dữ liệu</a:t>
                </a:r>
                <a:r>
                  <a:rPr lang="vi-VN"/>
                  <a:t>: sử dụng độ tương đồng cosine</a:t>
                </a:r>
              </a:p>
              <a:p>
                <a:pPr marL="0" indent="0" algn="ctr">
                  <a:buNone/>
                </a:pPr>
                <a14:m>
                  <m:oMath xmlns:m="http://schemas.openxmlformats.org/officeDocument/2006/math">
                    <m:r>
                      <m:rPr>
                        <m:sty m:val="p"/>
                      </m:rPr>
                      <a:rPr lang="vi-VN" i="1" smtClean="0">
                        <a:latin typeface="Cambria Math" panose="02040503050406030204" pitchFamily="18" charset="0"/>
                      </a:rPr>
                      <m:t>Cosine</m:t>
                    </m:r>
                    <m:d>
                      <m:dPr>
                        <m:ctrlPr>
                          <a:rPr lang="vi-VN" i="1" smtClean="0">
                            <a:latin typeface="Cambria Math" panose="02040503050406030204" pitchFamily="18" charset="0"/>
                          </a:rPr>
                        </m:ctrlPr>
                      </m:dPr>
                      <m:e>
                        <m:r>
                          <m:rPr>
                            <m:sty m:val="p"/>
                          </m:rPr>
                          <a:rPr lang="vi-VN" i="1">
                            <a:latin typeface="Cambria Math" panose="02040503050406030204" pitchFamily="18" charset="0"/>
                          </a:rPr>
                          <m:t>u</m:t>
                        </m:r>
                        <m:r>
                          <a:rPr lang="vi-VN" b="0" i="1" smtClean="0">
                            <a:latin typeface="Cambria Math" panose="02040503050406030204" pitchFamily="18" charset="0"/>
                          </a:rPr>
                          <m:t>,</m:t>
                        </m:r>
                        <m:r>
                          <m:rPr>
                            <m:sty m:val="p"/>
                          </m:rPr>
                          <a:rPr lang="vi-VN" i="1">
                            <a:latin typeface="Cambria Math" panose="02040503050406030204" pitchFamily="18" charset="0"/>
                          </a:rPr>
                          <m:t>v</m:t>
                        </m:r>
                      </m:e>
                    </m:d>
                    <m:r>
                      <a:rPr lang="vi-VN" b="0" i="1" smtClean="0">
                        <a:latin typeface="Cambria Math" panose="02040503050406030204" pitchFamily="18" charset="0"/>
                      </a:rPr>
                      <m:t>=</m:t>
                    </m:r>
                    <m:f>
                      <m:fPr>
                        <m:ctrlPr>
                          <a:rPr lang="vi-VN" b="0" i="1" smtClean="0">
                            <a:latin typeface="Cambria Math" panose="02040503050406030204" pitchFamily="18" charset="0"/>
                          </a:rPr>
                        </m:ctrlPr>
                      </m:fPr>
                      <m:num>
                        <m:r>
                          <m:rPr>
                            <m:sty m:val="p"/>
                          </m:rPr>
                          <a:rPr lang="vi-VN" i="1">
                            <a:latin typeface="Cambria Math" panose="02040503050406030204" pitchFamily="18" charset="0"/>
                          </a:rPr>
                          <m:t>u</m:t>
                        </m:r>
                        <m:r>
                          <a:rPr lang="vi-VN" i="1" smtClean="0">
                            <a:latin typeface="Cambria Math" panose="02040503050406030204" pitchFamily="18" charset="0"/>
                            <a:ea typeface="Cambria Math" panose="02040503050406030204" pitchFamily="18" charset="0"/>
                          </a:rPr>
                          <m:t>∙</m:t>
                        </m:r>
                        <m:r>
                          <m:rPr>
                            <m:sty m:val="p"/>
                          </m:rPr>
                          <a:rPr lang="vi-VN" i="1">
                            <a:latin typeface="Cambria Math" panose="02040503050406030204" pitchFamily="18" charset="0"/>
                            <a:ea typeface="Cambria Math" panose="02040503050406030204" pitchFamily="18" charset="0"/>
                          </a:rPr>
                          <m:t>v</m:t>
                        </m:r>
                      </m:num>
                      <m:den>
                        <m:r>
                          <a:rPr lang="vi-VN" b="0" i="1" smtClean="0">
                            <a:latin typeface="Cambria Math" panose="02040503050406030204" pitchFamily="18" charset="0"/>
                          </a:rPr>
                          <m:t>||</m:t>
                        </m:r>
                        <m:r>
                          <m:rPr>
                            <m:sty m:val="p"/>
                          </m:rPr>
                          <a:rPr lang="vi-VN" i="1">
                            <a:latin typeface="Cambria Math" panose="02040503050406030204" pitchFamily="18" charset="0"/>
                          </a:rPr>
                          <m:t>u</m:t>
                        </m:r>
                        <m:r>
                          <a:rPr lang="vi-VN" b="0" i="1" smtClean="0">
                            <a:latin typeface="Cambria Math" panose="02040503050406030204" pitchFamily="18" charset="0"/>
                          </a:rPr>
                          <m:t>||</m:t>
                        </m:r>
                        <m:r>
                          <a:rPr lang="vi-VN" b="0" i="1" smtClean="0">
                            <a:latin typeface="Cambria Math" panose="02040503050406030204" pitchFamily="18" charset="0"/>
                            <a:ea typeface="Cambria Math" panose="02040503050406030204" pitchFamily="18" charset="0"/>
                          </a:rPr>
                          <m:t>∙||</m:t>
                        </m:r>
                        <m:r>
                          <m:rPr>
                            <m:sty m:val="p"/>
                          </m:rPr>
                          <a:rPr lang="vi-VN" i="1">
                            <a:latin typeface="Cambria Math" panose="02040503050406030204" pitchFamily="18" charset="0"/>
                            <a:ea typeface="Cambria Math" panose="02040503050406030204" pitchFamily="18" charset="0"/>
                          </a:rPr>
                          <m:t>v</m:t>
                        </m:r>
                        <m:r>
                          <a:rPr lang="vi-VN" b="0" i="1" smtClean="0">
                            <a:latin typeface="Cambria Math" panose="02040503050406030204" pitchFamily="18" charset="0"/>
                            <a:ea typeface="Cambria Math" panose="02040503050406030204" pitchFamily="18" charset="0"/>
                          </a:rPr>
                          <m:t>||</m:t>
                        </m:r>
                      </m:den>
                    </m:f>
                    <m:r>
                      <a:rPr lang="vi-VN" b="0" i="1" smtClean="0">
                        <a:latin typeface="Cambria Math" panose="02040503050406030204" pitchFamily="18" charset="0"/>
                      </a:rPr>
                      <m:t>=</m:t>
                    </m:r>
                    <m:f>
                      <m:fPr>
                        <m:ctrlPr>
                          <a:rPr lang="vi-VN" b="0" i="1" smtClean="0">
                            <a:latin typeface="Cambria Math" panose="02040503050406030204" pitchFamily="18" charset="0"/>
                          </a:rPr>
                        </m:ctrlPr>
                      </m:fPr>
                      <m:num>
                        <m:nary>
                          <m:naryPr>
                            <m:chr m:val="∑"/>
                            <m:limLoc m:val="subSup"/>
                            <m:ctrlPr>
                              <a:rPr lang="vi-VN" b="0" i="1" smtClean="0">
                                <a:latin typeface="Cambria Math" panose="02040503050406030204" pitchFamily="18" charset="0"/>
                              </a:rPr>
                            </m:ctrlPr>
                          </m:naryPr>
                          <m:sub>
                            <m:r>
                              <m:rPr>
                                <m:sty m:val="p"/>
                                <m:brk m:alnAt="25"/>
                              </m:rPr>
                              <a:rPr lang="vi-VN" i="1">
                                <a:latin typeface="Cambria Math" panose="02040503050406030204" pitchFamily="18" charset="0"/>
                              </a:rPr>
                              <m:t>i</m:t>
                            </m:r>
                            <m:r>
                              <a:rPr lang="vi-VN" b="0" i="1" smtClean="0">
                                <a:latin typeface="Cambria Math" panose="02040503050406030204" pitchFamily="18" charset="0"/>
                              </a:rPr>
                              <m:t>=</m:t>
                            </m:r>
                            <m:r>
                              <a:rPr lang="vi-VN" i="1">
                                <a:latin typeface="Cambria Math" panose="02040503050406030204" pitchFamily="18" charset="0"/>
                              </a:rPr>
                              <m:t>1</m:t>
                            </m:r>
                          </m:sub>
                          <m:sup>
                            <m:r>
                              <m:rPr>
                                <m:sty m:val="p"/>
                              </m:rPr>
                              <a:rPr lang="vi-VN" i="1">
                                <a:latin typeface="Cambria Math" panose="02040503050406030204" pitchFamily="18" charset="0"/>
                              </a:rPr>
                              <m:t>d</m:t>
                            </m:r>
                          </m:sup>
                          <m:e>
                            <m:sSub>
                              <m:sSubPr>
                                <m:ctrlPr>
                                  <a:rPr lang="vi-VN" b="0" i="1" smtClean="0">
                                    <a:latin typeface="Cambria Math" panose="02040503050406030204" pitchFamily="18" charset="0"/>
                                  </a:rPr>
                                </m:ctrlPr>
                              </m:sSubPr>
                              <m:e>
                                <m:r>
                                  <m:rPr>
                                    <m:sty m:val="p"/>
                                  </m:rPr>
                                  <a:rPr lang="vi-VN" i="1">
                                    <a:latin typeface="Cambria Math" panose="02040503050406030204" pitchFamily="18" charset="0"/>
                                  </a:rPr>
                                  <m:t>u</m:t>
                                </m:r>
                              </m:e>
                              <m:sub>
                                <m:r>
                                  <m:rPr>
                                    <m:sty m:val="p"/>
                                  </m:rPr>
                                  <a:rPr lang="vi-VN" i="1">
                                    <a:latin typeface="Cambria Math" panose="02040503050406030204" pitchFamily="18" charset="0"/>
                                  </a:rPr>
                                  <m:t>i</m:t>
                                </m:r>
                              </m:sub>
                            </m:sSub>
                            <m:sSub>
                              <m:sSubPr>
                                <m:ctrlPr>
                                  <a:rPr lang="vi-VN" b="0" i="1" smtClean="0">
                                    <a:latin typeface="Cambria Math" panose="02040503050406030204" pitchFamily="18" charset="0"/>
                                  </a:rPr>
                                </m:ctrlPr>
                              </m:sSubPr>
                              <m:e>
                                <m:r>
                                  <m:rPr>
                                    <m:sty m:val="p"/>
                                  </m:rPr>
                                  <a:rPr lang="vi-VN" i="1">
                                    <a:latin typeface="Cambria Math" panose="02040503050406030204" pitchFamily="18" charset="0"/>
                                  </a:rPr>
                                  <m:t>v</m:t>
                                </m:r>
                              </m:e>
                              <m:sub>
                                <m:r>
                                  <m:rPr>
                                    <m:sty m:val="p"/>
                                  </m:rPr>
                                  <a:rPr lang="vi-VN" i="1">
                                    <a:latin typeface="Cambria Math" panose="02040503050406030204" pitchFamily="18" charset="0"/>
                                  </a:rPr>
                                  <m:t>i</m:t>
                                </m:r>
                              </m:sub>
                            </m:sSub>
                          </m:e>
                        </m:nary>
                      </m:num>
                      <m:den>
                        <m:rad>
                          <m:radPr>
                            <m:degHide m:val="on"/>
                            <m:ctrlPr>
                              <a:rPr lang="vi-VN" b="0" i="1" smtClean="0">
                                <a:latin typeface="Cambria Math" panose="02040503050406030204" pitchFamily="18" charset="0"/>
                              </a:rPr>
                            </m:ctrlPr>
                          </m:radPr>
                          <m:deg/>
                          <m:e>
                            <m:nary>
                              <m:naryPr>
                                <m:chr m:val="∑"/>
                                <m:limLoc m:val="subSup"/>
                                <m:ctrlPr>
                                  <a:rPr lang="vi-VN" b="0" i="1" smtClean="0">
                                    <a:latin typeface="Cambria Math" panose="02040503050406030204" pitchFamily="18" charset="0"/>
                                  </a:rPr>
                                </m:ctrlPr>
                              </m:naryPr>
                              <m:sub>
                                <m:r>
                                  <m:rPr>
                                    <m:sty m:val="p"/>
                                    <m:brk m:alnAt="25"/>
                                  </m:rPr>
                                  <a:rPr lang="vi-VN" i="1">
                                    <a:latin typeface="Cambria Math" panose="02040503050406030204" pitchFamily="18" charset="0"/>
                                  </a:rPr>
                                  <m:t>i</m:t>
                                </m:r>
                                <m:r>
                                  <a:rPr lang="vi-VN" b="0" i="1" smtClean="0">
                                    <a:latin typeface="Cambria Math" panose="02040503050406030204" pitchFamily="18" charset="0"/>
                                  </a:rPr>
                                  <m:t>=</m:t>
                                </m:r>
                                <m:r>
                                  <a:rPr lang="vi-VN" i="1">
                                    <a:latin typeface="Cambria Math" panose="02040503050406030204" pitchFamily="18" charset="0"/>
                                  </a:rPr>
                                  <m:t>1</m:t>
                                </m:r>
                              </m:sub>
                              <m:sup>
                                <m:r>
                                  <m:rPr>
                                    <m:sty m:val="p"/>
                                  </m:rPr>
                                  <a:rPr lang="vi-VN" i="1">
                                    <a:latin typeface="Cambria Math" panose="02040503050406030204" pitchFamily="18" charset="0"/>
                                  </a:rPr>
                                  <m:t>d</m:t>
                                </m:r>
                              </m:sup>
                              <m:e>
                                <m:sSubSup>
                                  <m:sSubSupPr>
                                    <m:ctrlPr>
                                      <a:rPr lang="vi-VN" b="0" i="1" smtClean="0">
                                        <a:latin typeface="Cambria Math" panose="02040503050406030204" pitchFamily="18" charset="0"/>
                                      </a:rPr>
                                    </m:ctrlPr>
                                  </m:sSubSupPr>
                                  <m:e>
                                    <m:r>
                                      <m:rPr>
                                        <m:sty m:val="p"/>
                                      </m:rPr>
                                      <a:rPr lang="vi-VN" i="1">
                                        <a:latin typeface="Cambria Math" panose="02040503050406030204" pitchFamily="18" charset="0"/>
                                      </a:rPr>
                                      <m:t>u</m:t>
                                    </m:r>
                                  </m:e>
                                  <m:sub>
                                    <m:r>
                                      <m:rPr>
                                        <m:sty m:val="p"/>
                                      </m:rPr>
                                      <a:rPr lang="vi-VN" i="1">
                                        <a:latin typeface="Cambria Math" panose="02040503050406030204" pitchFamily="18" charset="0"/>
                                      </a:rPr>
                                      <m:t>i</m:t>
                                    </m:r>
                                  </m:sub>
                                  <m:sup>
                                    <m:r>
                                      <a:rPr lang="vi-VN" i="1">
                                        <a:latin typeface="Cambria Math" panose="02040503050406030204" pitchFamily="18" charset="0"/>
                                      </a:rPr>
                                      <m:t>2</m:t>
                                    </m:r>
                                  </m:sup>
                                </m:sSubSup>
                              </m:e>
                            </m:nary>
                          </m:e>
                        </m:rad>
                        <m:r>
                          <a:rPr lang="vi-VN" b="0" i="1" smtClean="0">
                            <a:latin typeface="Cambria Math" panose="02040503050406030204" pitchFamily="18" charset="0"/>
                            <a:ea typeface="Cambria Math" panose="02040503050406030204" pitchFamily="18" charset="0"/>
                          </a:rPr>
                          <m:t>∙</m:t>
                        </m:r>
                        <m:rad>
                          <m:radPr>
                            <m:degHide m:val="on"/>
                            <m:ctrlPr>
                              <a:rPr lang="vi-VN" b="0" i="1" smtClean="0">
                                <a:latin typeface="Cambria Math" panose="02040503050406030204" pitchFamily="18" charset="0"/>
                                <a:ea typeface="Cambria Math" panose="02040503050406030204" pitchFamily="18" charset="0"/>
                              </a:rPr>
                            </m:ctrlPr>
                          </m:radPr>
                          <m:deg/>
                          <m:e>
                            <m:nary>
                              <m:naryPr>
                                <m:chr m:val="∑"/>
                                <m:limLoc m:val="subSup"/>
                                <m:ctrlPr>
                                  <a:rPr lang="vi-VN" b="0" i="1" smtClean="0">
                                    <a:latin typeface="Cambria Math" panose="02040503050406030204" pitchFamily="18" charset="0"/>
                                  </a:rPr>
                                </m:ctrlPr>
                              </m:naryPr>
                              <m:sub>
                                <m:r>
                                  <m:rPr>
                                    <m:sty m:val="p"/>
                                    <m:brk m:alnAt="25"/>
                                  </m:rPr>
                                  <a:rPr lang="vi-VN" i="1">
                                    <a:latin typeface="Cambria Math" panose="02040503050406030204" pitchFamily="18" charset="0"/>
                                  </a:rPr>
                                  <m:t>i</m:t>
                                </m:r>
                                <m:r>
                                  <a:rPr lang="vi-VN" b="0" i="1" smtClean="0">
                                    <a:latin typeface="Cambria Math" panose="02040503050406030204" pitchFamily="18" charset="0"/>
                                  </a:rPr>
                                  <m:t>=</m:t>
                                </m:r>
                                <m:r>
                                  <a:rPr lang="vi-VN" i="1">
                                    <a:latin typeface="Cambria Math" panose="02040503050406030204" pitchFamily="18" charset="0"/>
                                  </a:rPr>
                                  <m:t>1</m:t>
                                </m:r>
                              </m:sub>
                              <m:sup>
                                <m:r>
                                  <m:rPr>
                                    <m:sty m:val="p"/>
                                  </m:rPr>
                                  <a:rPr lang="vi-VN" i="1">
                                    <a:latin typeface="Cambria Math" panose="02040503050406030204" pitchFamily="18" charset="0"/>
                                  </a:rPr>
                                  <m:t>d</m:t>
                                </m:r>
                              </m:sup>
                              <m:e>
                                <m:sSubSup>
                                  <m:sSubSupPr>
                                    <m:ctrlPr>
                                      <a:rPr lang="vi-VN" b="0" i="1" smtClean="0">
                                        <a:latin typeface="Cambria Math" panose="02040503050406030204" pitchFamily="18" charset="0"/>
                                      </a:rPr>
                                    </m:ctrlPr>
                                  </m:sSubSupPr>
                                  <m:e>
                                    <m:r>
                                      <m:rPr>
                                        <m:sty m:val="p"/>
                                      </m:rPr>
                                      <a:rPr lang="vi-VN" i="1">
                                        <a:latin typeface="Cambria Math" panose="02040503050406030204" pitchFamily="18" charset="0"/>
                                      </a:rPr>
                                      <m:t>v</m:t>
                                    </m:r>
                                  </m:e>
                                  <m:sub>
                                    <m:r>
                                      <m:rPr>
                                        <m:sty m:val="p"/>
                                      </m:rPr>
                                      <a:rPr lang="vi-VN" i="1">
                                        <a:latin typeface="Cambria Math" panose="02040503050406030204" pitchFamily="18" charset="0"/>
                                      </a:rPr>
                                      <m:t>i</m:t>
                                    </m:r>
                                  </m:sub>
                                  <m:sup>
                                    <m:r>
                                      <a:rPr lang="vi-VN" i="1">
                                        <a:latin typeface="Cambria Math" panose="02040503050406030204" pitchFamily="18" charset="0"/>
                                      </a:rPr>
                                      <m:t>2</m:t>
                                    </m:r>
                                  </m:sup>
                                </m:sSubSup>
                              </m:e>
                            </m:nary>
                          </m:e>
                        </m:rad>
                      </m:den>
                    </m:f>
                  </m:oMath>
                </a14:m>
                <a:r>
                  <a:rPr lang="vi-VN"/>
                  <a:t> </a:t>
                </a:r>
              </a:p>
            </p:txBody>
          </p:sp>
        </mc:Choice>
        <mc:Fallback xmlns="">
          <p:sp>
            <p:nvSpPr>
              <p:cNvPr id="3" name="Content Placeholder 2">
                <a:extLst>
                  <a:ext uri="{FF2B5EF4-FFF2-40B4-BE49-F238E27FC236}">
                    <a16:creationId xmlns:a16="http://schemas.microsoft.com/office/drawing/2014/main" id="{4EBB9B06-0CA7-8AA4-33A8-C4EC91099981}"/>
                  </a:ext>
                </a:extLst>
              </p:cNvPr>
              <p:cNvSpPr>
                <a:spLocks noGrp="1" noRot="1" noChangeAspect="1" noMove="1" noResize="1" noEditPoints="1" noAdjustHandles="1" noChangeArrowheads="1" noChangeShapeType="1" noTextEdit="1"/>
              </p:cNvSpPr>
              <p:nvPr>
                <p:ph idx="1"/>
              </p:nvPr>
            </p:nvSpPr>
            <p:spPr>
              <a:blipFill>
                <a:blip r:embed="rId2"/>
                <a:stretch>
                  <a:fillRect l="-1043" t="-2203"/>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13895525-6976-1494-EAE0-EAB7E28358B5}"/>
              </a:ext>
            </a:extLst>
          </p:cNvPr>
          <p:cNvSpPr>
            <a:spLocks noGrp="1"/>
          </p:cNvSpPr>
          <p:nvPr>
            <p:ph type="sldNum" sz="quarter" idx="12"/>
          </p:nvPr>
        </p:nvSpPr>
        <p:spPr/>
        <p:txBody>
          <a:bodyPr/>
          <a:lstStyle/>
          <a:p>
            <a:fld id="{4ED22EA6-6E07-498D-89D0-2FA887FD1E5C}" type="slidenum">
              <a:rPr lang="vi-VN" smtClean="0"/>
              <a:t>22</a:t>
            </a:fld>
            <a:endParaRPr lang="vi-VN"/>
          </a:p>
        </p:txBody>
      </p:sp>
    </p:spTree>
    <p:extLst>
      <p:ext uri="{BB962C8B-B14F-4D97-AF65-F5344CB8AC3E}">
        <p14:creationId xmlns:p14="http://schemas.microsoft.com/office/powerpoint/2010/main" val="149978253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8493F-F33B-3517-18B3-CAC2D71F48D4}"/>
              </a:ext>
            </a:extLst>
          </p:cNvPr>
          <p:cNvSpPr>
            <a:spLocks noGrp="1"/>
          </p:cNvSpPr>
          <p:nvPr>
            <p:ph type="title"/>
          </p:nvPr>
        </p:nvSpPr>
        <p:spPr/>
        <p:txBody>
          <a:bodyPr>
            <a:normAutofit/>
          </a:bodyPr>
          <a:lstStyle/>
          <a:p>
            <a:r>
              <a:rPr lang="vi-VN"/>
              <a:t>IV. Hệ thống chatbot</a:t>
            </a:r>
          </a:p>
        </p:txBody>
      </p:sp>
      <p:sp>
        <p:nvSpPr>
          <p:cNvPr id="7" name="Content Placeholder 6">
            <a:extLst>
              <a:ext uri="{FF2B5EF4-FFF2-40B4-BE49-F238E27FC236}">
                <a16:creationId xmlns:a16="http://schemas.microsoft.com/office/drawing/2014/main" id="{B263B091-E383-6830-ED80-82DC0E142FC0}"/>
              </a:ext>
            </a:extLst>
          </p:cNvPr>
          <p:cNvSpPr>
            <a:spLocks noGrp="1"/>
          </p:cNvSpPr>
          <p:nvPr>
            <p:ph idx="1"/>
          </p:nvPr>
        </p:nvSpPr>
        <p:spPr/>
        <p:txBody>
          <a:bodyPr/>
          <a:lstStyle/>
          <a:p>
            <a:r>
              <a:rPr lang="vi-VN" b="1"/>
              <a:t>Quy trình tổng thể</a:t>
            </a:r>
            <a:r>
              <a:rPr lang="vi-VN"/>
              <a:t>:</a:t>
            </a:r>
          </a:p>
          <a:p>
            <a:pPr marL="971550" lvl="1" indent="-514350">
              <a:buFont typeface="+mj-lt"/>
              <a:buAutoNum type="arabicPeriod"/>
            </a:pPr>
            <a:r>
              <a:rPr lang="vi-VN"/>
              <a:t>Nhận truy vấn </a:t>
            </a:r>
            <a:r>
              <a:rPr lang="vi-VN" b="1">
                <a:solidFill>
                  <a:schemeClr val="tx2">
                    <a:lumMod val="75000"/>
                    <a:lumOff val="25000"/>
                  </a:schemeClr>
                </a:solidFill>
              </a:rPr>
              <a:t>Q</a:t>
            </a:r>
          </a:p>
          <a:p>
            <a:pPr marL="971550" lvl="1" indent="-514350">
              <a:buFont typeface="+mj-lt"/>
              <a:buAutoNum type="arabicPeriod"/>
            </a:pPr>
            <a:r>
              <a:rPr lang="vi-VN"/>
              <a:t>Chuẩn hóa và dịch truy vấn </a:t>
            </a:r>
            <a:r>
              <a:rPr lang="vi-VN" b="1">
                <a:solidFill>
                  <a:schemeClr val="tx2">
                    <a:lumMod val="75000"/>
                    <a:lumOff val="25000"/>
                  </a:schemeClr>
                </a:solidFill>
              </a:rPr>
              <a:t>Q</a:t>
            </a:r>
            <a:r>
              <a:rPr lang="vi-VN">
                <a:solidFill>
                  <a:schemeClr val="tx2">
                    <a:lumMod val="75000"/>
                    <a:lumOff val="25000"/>
                  </a:schemeClr>
                </a:solidFill>
              </a:rPr>
              <a:t> </a:t>
            </a:r>
            <a:r>
              <a:rPr lang="vi-VN"/>
              <a:t>về tiếng anh → </a:t>
            </a:r>
            <a:r>
              <a:rPr lang="vi-VN" b="1">
                <a:solidFill>
                  <a:schemeClr val="accent6">
                    <a:lumMod val="75000"/>
                  </a:schemeClr>
                </a:solidFill>
              </a:rPr>
              <a:t>Q’</a:t>
            </a:r>
          </a:p>
          <a:p>
            <a:pPr marL="971550" lvl="1" indent="-514350">
              <a:buFont typeface="+mj-lt"/>
              <a:buAutoNum type="arabicPeriod"/>
            </a:pPr>
            <a:r>
              <a:rPr lang="vi-VN"/>
              <a:t>Lọc ra những từ khóa</a:t>
            </a:r>
            <a:r>
              <a:rPr lang="en-US"/>
              <a:t>, </a:t>
            </a:r>
            <a:r>
              <a:rPr lang="vi-VN"/>
              <a:t>sở thích,... từ truy vấn </a:t>
            </a:r>
            <a:r>
              <a:rPr lang="vi-VN" b="1">
                <a:solidFill>
                  <a:schemeClr val="accent6">
                    <a:lumMod val="75000"/>
                  </a:schemeClr>
                </a:solidFill>
              </a:rPr>
              <a:t>Q’</a:t>
            </a:r>
            <a:r>
              <a:rPr lang="vi-VN"/>
              <a:t> → </a:t>
            </a:r>
            <a:r>
              <a:rPr lang="vi-VN" b="1"/>
              <a:t>S</a:t>
            </a:r>
          </a:p>
          <a:p>
            <a:pPr marL="971550" lvl="1" indent="-514350">
              <a:buFont typeface="+mj-lt"/>
              <a:buAutoNum type="arabicPeriod"/>
            </a:pPr>
            <a:r>
              <a:rPr lang="vi-VN"/>
              <a:t>Trích xuất từ khóa lọc thông số dinh dưỡng từ truy vấn </a:t>
            </a:r>
            <a:r>
              <a:rPr lang="vi-VN" b="1">
                <a:solidFill>
                  <a:schemeClr val="accent6">
                    <a:lumMod val="75000"/>
                  </a:schemeClr>
                </a:solidFill>
              </a:rPr>
              <a:t>Q’</a:t>
            </a:r>
            <a:r>
              <a:rPr lang="vi-VN"/>
              <a:t> → </a:t>
            </a:r>
            <a:r>
              <a:rPr lang="vi-VN" b="1"/>
              <a:t>F </a:t>
            </a:r>
          </a:p>
          <a:p>
            <a:pPr marL="971550" lvl="1" indent="-514350">
              <a:buFont typeface="+mj-lt"/>
              <a:buAutoNum type="arabicPeriod"/>
            </a:pPr>
            <a:r>
              <a:rPr lang="vi-VN"/>
              <a:t>Sinh embedding truy vấn từ </a:t>
            </a:r>
            <a:r>
              <a:rPr lang="vi-VN" b="1">
                <a:solidFill>
                  <a:schemeClr val="accent6">
                    <a:lumMod val="75000"/>
                  </a:schemeClr>
                </a:solidFill>
              </a:rPr>
              <a:t>Q’</a:t>
            </a:r>
            <a:r>
              <a:rPr lang="vi-VN">
                <a:solidFill>
                  <a:schemeClr val="accent6">
                    <a:lumMod val="75000"/>
                  </a:schemeClr>
                </a:solidFill>
              </a:rPr>
              <a:t> </a:t>
            </a:r>
            <a:r>
              <a:rPr lang="vi-VN"/>
              <a:t>→ vector</a:t>
            </a:r>
            <a:r>
              <a:rPr lang="vi-VN">
                <a:solidFill>
                  <a:schemeClr val="accent5">
                    <a:lumMod val="75000"/>
                  </a:schemeClr>
                </a:solidFill>
              </a:rPr>
              <a:t> </a:t>
            </a:r>
            <a:r>
              <a:rPr lang="vi-VN" b="1">
                <a:solidFill>
                  <a:srgbClr val="FFC000"/>
                </a:solidFill>
              </a:rPr>
              <a:t>V</a:t>
            </a:r>
          </a:p>
          <a:p>
            <a:pPr marL="971550" lvl="1" indent="-514350">
              <a:buFont typeface="+mj-lt"/>
              <a:buAutoNum type="arabicPeriod"/>
            </a:pPr>
            <a:r>
              <a:rPr lang="vi-VN"/>
              <a:t>Truy xuất top-k đoạn liên quan từ vector </a:t>
            </a:r>
            <a:r>
              <a:rPr lang="vi-VN" b="1">
                <a:solidFill>
                  <a:srgbClr val="FFC000"/>
                </a:solidFill>
              </a:rPr>
              <a:t>V </a:t>
            </a:r>
            <a:r>
              <a:rPr lang="vi-VN"/>
              <a:t>và </a:t>
            </a:r>
            <a:r>
              <a:rPr lang="vi-VN" b="1"/>
              <a:t>F</a:t>
            </a:r>
            <a:r>
              <a:rPr lang="vi-VN">
                <a:solidFill>
                  <a:schemeClr val="accent5">
                    <a:lumMod val="75000"/>
                  </a:schemeClr>
                </a:solidFill>
              </a:rPr>
              <a:t> </a:t>
            </a:r>
            <a:r>
              <a:rPr lang="vi-VN"/>
              <a:t>→ ngữ cảnh </a:t>
            </a:r>
            <a:r>
              <a:rPr lang="vi-VN" b="1">
                <a:solidFill>
                  <a:schemeClr val="accent2">
                    <a:lumMod val="75000"/>
                  </a:schemeClr>
                </a:solidFill>
              </a:rPr>
              <a:t>D</a:t>
            </a:r>
          </a:p>
          <a:p>
            <a:pPr marL="971550" lvl="1" indent="-514350">
              <a:buFont typeface="+mj-lt"/>
              <a:buAutoNum type="arabicPeriod"/>
            </a:pPr>
            <a:r>
              <a:rPr lang="vi-VN"/>
              <a:t>Ghép ngữ cảnh </a:t>
            </a:r>
            <a:r>
              <a:rPr lang="vi-VN" b="1">
                <a:solidFill>
                  <a:schemeClr val="accent2">
                    <a:lumMod val="75000"/>
                  </a:schemeClr>
                </a:solidFill>
              </a:rPr>
              <a:t>D</a:t>
            </a:r>
            <a:r>
              <a:rPr lang="vi-VN">
                <a:solidFill>
                  <a:schemeClr val="accent2">
                    <a:lumMod val="75000"/>
                  </a:schemeClr>
                </a:solidFill>
              </a:rPr>
              <a:t> </a:t>
            </a:r>
            <a:r>
              <a:rPr lang="vi-VN"/>
              <a:t>vào truy vấn </a:t>
            </a:r>
            <a:r>
              <a:rPr lang="vi-VN" b="1">
                <a:solidFill>
                  <a:schemeClr val="accent6">
                    <a:lumMod val="75000"/>
                  </a:schemeClr>
                </a:solidFill>
              </a:rPr>
              <a:t>Q’</a:t>
            </a:r>
            <a:r>
              <a:rPr lang="vi-VN"/>
              <a:t> → prompt </a:t>
            </a:r>
            <a:r>
              <a:rPr lang="vi-VN" b="1">
                <a:solidFill>
                  <a:srgbClr val="CC0000"/>
                </a:solidFill>
              </a:rPr>
              <a:t>P</a:t>
            </a:r>
          </a:p>
          <a:p>
            <a:pPr marL="971550" lvl="1" indent="-514350">
              <a:buFont typeface="+mj-lt"/>
              <a:buAutoNum type="arabicPeriod"/>
            </a:pPr>
            <a:r>
              <a:rPr lang="vi-VN"/>
              <a:t>Gửi prompt </a:t>
            </a:r>
            <a:r>
              <a:rPr lang="vi-VN" b="1">
                <a:solidFill>
                  <a:srgbClr val="CC0000"/>
                </a:solidFill>
              </a:rPr>
              <a:t>P </a:t>
            </a:r>
            <a:r>
              <a:rPr lang="vi-VN"/>
              <a:t>và </a:t>
            </a:r>
            <a:r>
              <a:rPr lang="vi-VN" b="1"/>
              <a:t>S</a:t>
            </a:r>
            <a:r>
              <a:rPr lang="vi-VN"/>
              <a:t> vào Gemini → phản hồi </a:t>
            </a:r>
            <a:r>
              <a:rPr lang="vi-VN" b="1">
                <a:solidFill>
                  <a:srgbClr val="99CC00"/>
                </a:solidFill>
              </a:rPr>
              <a:t>A</a:t>
            </a:r>
          </a:p>
          <a:p>
            <a:pPr marL="971550" lvl="1" indent="-514350">
              <a:buFont typeface="+mj-lt"/>
              <a:buAutoNum type="arabicPeriod"/>
            </a:pPr>
            <a:r>
              <a:rPr lang="vi-VN"/>
              <a:t>Dịch phản hồi </a:t>
            </a:r>
            <a:r>
              <a:rPr lang="vi-VN" b="1">
                <a:solidFill>
                  <a:srgbClr val="99CC00"/>
                </a:solidFill>
              </a:rPr>
              <a:t>A</a:t>
            </a:r>
            <a:r>
              <a:rPr lang="vi-VN"/>
              <a:t> về ngôn ngữ gốc → </a:t>
            </a:r>
            <a:r>
              <a:rPr lang="vi-VN" b="1"/>
              <a:t>A’</a:t>
            </a:r>
          </a:p>
          <a:p>
            <a:pPr marL="971550" lvl="1" indent="-514350">
              <a:buFont typeface="+mj-lt"/>
              <a:buAutoNum type="arabicPeriod"/>
            </a:pPr>
            <a:r>
              <a:rPr lang="vi-VN"/>
              <a:t>Trả về phản hồi </a:t>
            </a:r>
            <a:r>
              <a:rPr lang="vi-VN" b="1"/>
              <a:t>A’</a:t>
            </a:r>
            <a:r>
              <a:rPr lang="vi-VN"/>
              <a:t> cho người dùng</a:t>
            </a:r>
          </a:p>
        </p:txBody>
      </p:sp>
      <p:sp>
        <p:nvSpPr>
          <p:cNvPr id="3" name="Slide Number Placeholder 2">
            <a:extLst>
              <a:ext uri="{FF2B5EF4-FFF2-40B4-BE49-F238E27FC236}">
                <a16:creationId xmlns:a16="http://schemas.microsoft.com/office/drawing/2014/main" id="{1FA53556-E364-71FB-A59E-D52AF63D6F4B}"/>
              </a:ext>
            </a:extLst>
          </p:cNvPr>
          <p:cNvSpPr>
            <a:spLocks noGrp="1"/>
          </p:cNvSpPr>
          <p:nvPr>
            <p:ph type="sldNum" sz="quarter" idx="12"/>
          </p:nvPr>
        </p:nvSpPr>
        <p:spPr/>
        <p:txBody>
          <a:bodyPr/>
          <a:lstStyle/>
          <a:p>
            <a:fld id="{4ED22EA6-6E07-498D-89D0-2FA887FD1E5C}" type="slidenum">
              <a:rPr lang="vi-VN" smtClean="0"/>
              <a:t>23</a:t>
            </a:fld>
            <a:endParaRPr lang="vi-VN"/>
          </a:p>
        </p:txBody>
      </p:sp>
    </p:spTree>
    <p:extLst>
      <p:ext uri="{BB962C8B-B14F-4D97-AF65-F5344CB8AC3E}">
        <p14:creationId xmlns:p14="http://schemas.microsoft.com/office/powerpoint/2010/main" val="80013966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500"/>
                                        <p:tgtEl>
                                          <p:spTgt spid="7">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fade">
                                      <p:cBhvr>
                                        <p:cTn id="13" dur="500"/>
                                        <p:tgtEl>
                                          <p:spTgt spid="7">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7">
                                            <p:txEl>
                                              <p:pRg st="3" end="3"/>
                                            </p:txEl>
                                          </p:spTgt>
                                        </p:tgtEl>
                                        <p:attrNameLst>
                                          <p:attrName>style.visibility</p:attrName>
                                        </p:attrNameLst>
                                      </p:cBhvr>
                                      <p:to>
                                        <p:strVal val="visible"/>
                                      </p:to>
                                    </p:set>
                                    <p:animEffect transition="in" filter="fade">
                                      <p:cBhvr>
                                        <p:cTn id="16" dur="500"/>
                                        <p:tgtEl>
                                          <p:spTgt spid="7">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animEffect transition="in" filter="fade">
                                      <p:cBhvr>
                                        <p:cTn id="19" dur="500"/>
                                        <p:tgtEl>
                                          <p:spTgt spid="7">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7">
                                            <p:txEl>
                                              <p:pRg st="5" end="5"/>
                                            </p:txEl>
                                          </p:spTgt>
                                        </p:tgtEl>
                                        <p:attrNameLst>
                                          <p:attrName>style.visibility</p:attrName>
                                        </p:attrNameLst>
                                      </p:cBhvr>
                                      <p:to>
                                        <p:strVal val="visible"/>
                                      </p:to>
                                    </p:set>
                                    <p:animEffect transition="in" filter="fade">
                                      <p:cBhvr>
                                        <p:cTn id="22" dur="500"/>
                                        <p:tgtEl>
                                          <p:spTgt spid="7">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7">
                                            <p:txEl>
                                              <p:pRg st="6" end="6"/>
                                            </p:txEl>
                                          </p:spTgt>
                                        </p:tgtEl>
                                        <p:attrNameLst>
                                          <p:attrName>style.visibility</p:attrName>
                                        </p:attrNameLst>
                                      </p:cBhvr>
                                      <p:to>
                                        <p:strVal val="visible"/>
                                      </p:to>
                                    </p:set>
                                    <p:animEffect transition="in" filter="fade">
                                      <p:cBhvr>
                                        <p:cTn id="25" dur="500"/>
                                        <p:tgtEl>
                                          <p:spTgt spid="7">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7">
                                            <p:txEl>
                                              <p:pRg st="7" end="7"/>
                                            </p:txEl>
                                          </p:spTgt>
                                        </p:tgtEl>
                                        <p:attrNameLst>
                                          <p:attrName>style.visibility</p:attrName>
                                        </p:attrNameLst>
                                      </p:cBhvr>
                                      <p:to>
                                        <p:strVal val="visible"/>
                                      </p:to>
                                    </p:set>
                                    <p:animEffect transition="in" filter="fade">
                                      <p:cBhvr>
                                        <p:cTn id="28" dur="500"/>
                                        <p:tgtEl>
                                          <p:spTgt spid="7">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7">
                                            <p:txEl>
                                              <p:pRg st="8" end="8"/>
                                            </p:txEl>
                                          </p:spTgt>
                                        </p:tgtEl>
                                        <p:attrNameLst>
                                          <p:attrName>style.visibility</p:attrName>
                                        </p:attrNameLst>
                                      </p:cBhvr>
                                      <p:to>
                                        <p:strVal val="visible"/>
                                      </p:to>
                                    </p:set>
                                    <p:animEffect transition="in" filter="fade">
                                      <p:cBhvr>
                                        <p:cTn id="31" dur="500"/>
                                        <p:tgtEl>
                                          <p:spTgt spid="7">
                                            <p:txEl>
                                              <p:pRg st="8" end="8"/>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7">
                                            <p:txEl>
                                              <p:pRg st="9" end="9"/>
                                            </p:txEl>
                                          </p:spTgt>
                                        </p:tgtEl>
                                        <p:attrNameLst>
                                          <p:attrName>style.visibility</p:attrName>
                                        </p:attrNameLst>
                                      </p:cBhvr>
                                      <p:to>
                                        <p:strVal val="visible"/>
                                      </p:to>
                                    </p:set>
                                    <p:animEffect transition="in" filter="fade">
                                      <p:cBhvr>
                                        <p:cTn id="34" dur="500"/>
                                        <p:tgtEl>
                                          <p:spTgt spid="7">
                                            <p:txEl>
                                              <p:pRg st="9" end="9"/>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7">
                                            <p:txEl>
                                              <p:pRg st="10" end="10"/>
                                            </p:txEl>
                                          </p:spTgt>
                                        </p:tgtEl>
                                        <p:attrNameLst>
                                          <p:attrName>style.visibility</p:attrName>
                                        </p:attrNameLst>
                                      </p:cBhvr>
                                      <p:to>
                                        <p:strVal val="visible"/>
                                      </p:to>
                                    </p:set>
                                    <p:animEffect transition="in" filter="fade">
                                      <p:cBhvr>
                                        <p:cTn id="37" dur="500"/>
                                        <p:tgtEl>
                                          <p:spTgt spid="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2784FE9-5B07-AF40-DBC3-2EF29D42F13F}"/>
              </a:ext>
            </a:extLst>
          </p:cNvPr>
          <p:cNvSpPr>
            <a:spLocks noGrp="1"/>
          </p:cNvSpPr>
          <p:nvPr>
            <p:ph type="title"/>
          </p:nvPr>
        </p:nvSpPr>
        <p:spPr/>
        <p:txBody>
          <a:bodyPr/>
          <a:lstStyle/>
          <a:p>
            <a:r>
              <a:rPr lang="vi-VN"/>
              <a:t>V. Kết quả và đánh giá</a:t>
            </a:r>
          </a:p>
        </p:txBody>
      </p:sp>
      <p:sp>
        <p:nvSpPr>
          <p:cNvPr id="5" name="Text Placeholder 4">
            <a:extLst>
              <a:ext uri="{FF2B5EF4-FFF2-40B4-BE49-F238E27FC236}">
                <a16:creationId xmlns:a16="http://schemas.microsoft.com/office/drawing/2014/main" id="{F2D115C8-C24F-1C35-3092-EE0BCCA71858}"/>
              </a:ext>
            </a:extLst>
          </p:cNvPr>
          <p:cNvSpPr>
            <a:spLocks noGrp="1"/>
          </p:cNvSpPr>
          <p:nvPr>
            <p:ph type="body" idx="1"/>
          </p:nvPr>
        </p:nvSpPr>
        <p:spPr/>
        <p:txBody>
          <a:bodyPr/>
          <a:lstStyle/>
          <a:p>
            <a:endParaRPr lang="vi-VN"/>
          </a:p>
        </p:txBody>
      </p:sp>
      <p:sp>
        <p:nvSpPr>
          <p:cNvPr id="2" name="Slide Number Placeholder 1">
            <a:extLst>
              <a:ext uri="{FF2B5EF4-FFF2-40B4-BE49-F238E27FC236}">
                <a16:creationId xmlns:a16="http://schemas.microsoft.com/office/drawing/2014/main" id="{FE000DAE-8C08-6FA4-61B5-F988D575427E}"/>
              </a:ext>
            </a:extLst>
          </p:cNvPr>
          <p:cNvSpPr>
            <a:spLocks noGrp="1"/>
          </p:cNvSpPr>
          <p:nvPr>
            <p:ph type="sldNum" sz="quarter" idx="12"/>
          </p:nvPr>
        </p:nvSpPr>
        <p:spPr/>
        <p:txBody>
          <a:bodyPr/>
          <a:lstStyle/>
          <a:p>
            <a:fld id="{4ED22EA6-6E07-498D-89D0-2FA887FD1E5C}" type="slidenum">
              <a:rPr lang="vi-VN" smtClean="0"/>
              <a:t>24</a:t>
            </a:fld>
            <a:endParaRPr lang="vi-VN"/>
          </a:p>
        </p:txBody>
      </p:sp>
    </p:spTree>
    <p:extLst>
      <p:ext uri="{BB962C8B-B14F-4D97-AF65-F5344CB8AC3E}">
        <p14:creationId xmlns:p14="http://schemas.microsoft.com/office/powerpoint/2010/main" val="71256276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4592D-5392-0C2A-0C50-D1E785B172AF}"/>
              </a:ext>
            </a:extLst>
          </p:cNvPr>
          <p:cNvSpPr>
            <a:spLocks noGrp="1"/>
          </p:cNvSpPr>
          <p:nvPr>
            <p:ph type="title"/>
          </p:nvPr>
        </p:nvSpPr>
        <p:spPr/>
        <p:txBody>
          <a:bodyPr>
            <a:normAutofit/>
          </a:bodyPr>
          <a:lstStyle/>
          <a:p>
            <a:r>
              <a:rPr lang="vi-VN"/>
              <a:t>V. Kết quả và đánh giá</a:t>
            </a:r>
          </a:p>
        </p:txBody>
      </p:sp>
      <p:sp>
        <p:nvSpPr>
          <p:cNvPr id="3" name="Content Placeholder 2">
            <a:extLst>
              <a:ext uri="{FF2B5EF4-FFF2-40B4-BE49-F238E27FC236}">
                <a16:creationId xmlns:a16="http://schemas.microsoft.com/office/drawing/2014/main" id="{4AC49E50-F0AE-A37A-A612-B0EF285FFFAE}"/>
              </a:ext>
            </a:extLst>
          </p:cNvPr>
          <p:cNvSpPr>
            <a:spLocks noGrp="1"/>
          </p:cNvSpPr>
          <p:nvPr>
            <p:ph idx="1"/>
          </p:nvPr>
        </p:nvSpPr>
        <p:spPr/>
        <p:txBody>
          <a:bodyPr>
            <a:normAutofit lnSpcReduction="10000"/>
          </a:bodyPr>
          <a:lstStyle/>
          <a:p>
            <a:r>
              <a:rPr lang="vi-VN" b="1" dirty="0"/>
              <a:t>Số phiên </a:t>
            </a:r>
            <a:r>
              <a:rPr lang="vi-VN" dirty="0"/>
              <a:t>(</a:t>
            </a:r>
            <a:r>
              <a:rPr lang="vi-VN" i="1" dirty="0" err="1"/>
              <a:t>sessions</a:t>
            </a:r>
            <a:r>
              <a:rPr lang="vi-VN" dirty="0"/>
              <a:t>): 30 phiên với </a:t>
            </a:r>
            <a:r>
              <a:rPr lang="vi-VN" b="1" dirty="0" err="1">
                <a:solidFill>
                  <a:schemeClr val="accent4">
                    <a:lumMod val="75000"/>
                  </a:schemeClr>
                </a:solidFill>
              </a:rPr>
              <a:t>multi-turn</a:t>
            </a:r>
            <a:r>
              <a:rPr lang="vi-VN" dirty="0"/>
              <a:t> và 100 phiên với </a:t>
            </a:r>
            <a:r>
              <a:rPr lang="vi-VN" b="1" dirty="0" err="1">
                <a:solidFill>
                  <a:schemeClr val="accent2">
                    <a:lumMod val="75000"/>
                  </a:schemeClr>
                </a:solidFill>
              </a:rPr>
              <a:t>one-shot</a:t>
            </a:r>
            <a:r>
              <a:rPr lang="vi-VN" dirty="0"/>
              <a:t>.</a:t>
            </a:r>
          </a:p>
          <a:p>
            <a:r>
              <a:rPr lang="vi-VN" b="1" dirty="0"/>
              <a:t>Kịch bản </a:t>
            </a:r>
            <a:r>
              <a:rPr lang="vi-VN" b="1" dirty="0" err="1">
                <a:solidFill>
                  <a:schemeClr val="accent4">
                    <a:lumMod val="75000"/>
                  </a:schemeClr>
                </a:solidFill>
              </a:rPr>
              <a:t>multi-turn</a:t>
            </a:r>
            <a:r>
              <a:rPr lang="vi-VN" dirty="0"/>
              <a:t>: </a:t>
            </a:r>
          </a:p>
          <a:p>
            <a:pPr lvl="1"/>
            <a:r>
              <a:rPr lang="vi-VN" dirty="0"/>
              <a:t>Mỗi phiên gồm tối đa 1</a:t>
            </a:r>
            <a:r>
              <a:rPr lang="en-US" dirty="0"/>
              <a:t>0</a:t>
            </a:r>
            <a:r>
              <a:rPr lang="vi-VN" dirty="0"/>
              <a:t> lượt </a:t>
            </a:r>
            <a:r>
              <a:rPr lang="vi-VN" dirty="0" err="1"/>
              <a:t>prompt</a:t>
            </a:r>
            <a:endParaRPr lang="vi-VN" dirty="0"/>
          </a:p>
          <a:p>
            <a:pPr lvl="1"/>
            <a:r>
              <a:rPr lang="vi-VN" dirty="0"/>
              <a:t>Đánh giá được ghi lại ở mốc </a:t>
            </a:r>
            <a:r>
              <a:rPr lang="en-US" dirty="0"/>
              <a:t>2</a:t>
            </a:r>
            <a:r>
              <a:rPr lang="vi-VN" dirty="0"/>
              <a:t>, </a:t>
            </a:r>
            <a:r>
              <a:rPr lang="en-US" dirty="0"/>
              <a:t>5</a:t>
            </a:r>
            <a:r>
              <a:rPr lang="vi-VN" dirty="0"/>
              <a:t> và 1</a:t>
            </a:r>
            <a:r>
              <a:rPr lang="en-US" dirty="0"/>
              <a:t>0</a:t>
            </a:r>
            <a:r>
              <a:rPr lang="vi-VN" dirty="0"/>
              <a:t> lượt.</a:t>
            </a:r>
          </a:p>
          <a:p>
            <a:r>
              <a:rPr lang="vi-VN" b="1" dirty="0"/>
              <a:t>Kịch bản </a:t>
            </a:r>
            <a:r>
              <a:rPr lang="vi-VN" b="1" dirty="0" err="1">
                <a:solidFill>
                  <a:schemeClr val="accent2">
                    <a:lumMod val="75000"/>
                  </a:schemeClr>
                </a:solidFill>
              </a:rPr>
              <a:t>one-shot</a:t>
            </a:r>
            <a:r>
              <a:rPr lang="vi-VN" dirty="0"/>
              <a:t>:</a:t>
            </a:r>
          </a:p>
          <a:p>
            <a:pPr lvl="1"/>
            <a:r>
              <a:rPr lang="vi-VN" dirty="0"/>
              <a:t>Mỗi truy vấn độc lập được đưa vào </a:t>
            </a:r>
            <a:r>
              <a:rPr lang="vi-VN" dirty="0" err="1"/>
              <a:t>chatbot</a:t>
            </a:r>
            <a:r>
              <a:rPr lang="vi-VN" dirty="0"/>
              <a:t> một lần</a:t>
            </a:r>
          </a:p>
          <a:p>
            <a:pPr lvl="1"/>
            <a:r>
              <a:rPr lang="vi-VN" dirty="0"/>
              <a:t>Lặp lại 100 truy vấn để đánh giá tính ổn định và chính xác từ lượt đầu.</a:t>
            </a:r>
          </a:p>
          <a:p>
            <a:r>
              <a:rPr lang="vi-VN" b="1" dirty="0"/>
              <a:t>Người đánh giá</a:t>
            </a:r>
            <a:r>
              <a:rPr lang="vi-VN" dirty="0"/>
              <a:t>: các đánh giá viên là người thật (</a:t>
            </a:r>
            <a:r>
              <a:rPr lang="vi-VN" i="1" dirty="0"/>
              <a:t>nhóm kiểm thử nội bộ</a:t>
            </a:r>
            <a:r>
              <a:rPr lang="vi-VN" dirty="0"/>
              <a:t>), thực hiện hội thoại và chấm điểm theo cảm nhận cá nhân</a:t>
            </a:r>
          </a:p>
        </p:txBody>
      </p:sp>
      <p:sp>
        <p:nvSpPr>
          <p:cNvPr id="4" name="Slide Number Placeholder 3">
            <a:extLst>
              <a:ext uri="{FF2B5EF4-FFF2-40B4-BE49-F238E27FC236}">
                <a16:creationId xmlns:a16="http://schemas.microsoft.com/office/drawing/2014/main" id="{600BFC35-B129-9C38-58C6-DD5F080F2276}"/>
              </a:ext>
            </a:extLst>
          </p:cNvPr>
          <p:cNvSpPr>
            <a:spLocks noGrp="1"/>
          </p:cNvSpPr>
          <p:nvPr>
            <p:ph type="sldNum" sz="quarter" idx="12"/>
          </p:nvPr>
        </p:nvSpPr>
        <p:spPr/>
        <p:txBody>
          <a:bodyPr/>
          <a:lstStyle/>
          <a:p>
            <a:fld id="{4ED22EA6-6E07-498D-89D0-2FA887FD1E5C}" type="slidenum">
              <a:rPr lang="vi-VN" smtClean="0"/>
              <a:t>25</a:t>
            </a:fld>
            <a:endParaRPr lang="vi-VN"/>
          </a:p>
        </p:txBody>
      </p:sp>
    </p:spTree>
    <p:extLst>
      <p:ext uri="{BB962C8B-B14F-4D97-AF65-F5344CB8AC3E}">
        <p14:creationId xmlns:p14="http://schemas.microsoft.com/office/powerpoint/2010/main" val="383327847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753D0-1058-FAA4-ABEC-F700A5C7EE4B}"/>
              </a:ext>
            </a:extLst>
          </p:cNvPr>
          <p:cNvSpPr>
            <a:spLocks noGrp="1"/>
          </p:cNvSpPr>
          <p:nvPr>
            <p:ph type="title"/>
          </p:nvPr>
        </p:nvSpPr>
        <p:spPr/>
        <p:txBody>
          <a:bodyPr>
            <a:normAutofit/>
          </a:bodyPr>
          <a:lstStyle/>
          <a:p>
            <a:r>
              <a:rPr lang="vi-VN"/>
              <a:t>V. Kết quả và đánh giá</a:t>
            </a:r>
          </a:p>
        </p:txBody>
      </p:sp>
      <p:sp>
        <p:nvSpPr>
          <p:cNvPr id="3" name="Content Placeholder 2">
            <a:extLst>
              <a:ext uri="{FF2B5EF4-FFF2-40B4-BE49-F238E27FC236}">
                <a16:creationId xmlns:a16="http://schemas.microsoft.com/office/drawing/2014/main" id="{8A5B446C-3968-F3DF-FA5A-E62F23ED7B4E}"/>
              </a:ext>
            </a:extLst>
          </p:cNvPr>
          <p:cNvSpPr>
            <a:spLocks noGrp="1"/>
          </p:cNvSpPr>
          <p:nvPr>
            <p:ph idx="1"/>
          </p:nvPr>
        </p:nvSpPr>
        <p:spPr/>
        <p:txBody>
          <a:bodyPr/>
          <a:lstStyle/>
          <a:p>
            <a:r>
              <a:rPr lang="vi-VN"/>
              <a:t>Sử dụng 3 chỉ số để đánh giá:</a:t>
            </a:r>
          </a:p>
          <a:p>
            <a:pPr lvl="1"/>
            <a:r>
              <a:rPr lang="vi-VN"/>
              <a:t>Độ thiện cảm tích lũy (</a:t>
            </a:r>
            <a:r>
              <a:rPr lang="vi-VN" i="1"/>
              <a:t>Cumulative</a:t>
            </a:r>
            <a:r>
              <a:rPr lang="vi-VN"/>
              <a:t> </a:t>
            </a:r>
            <a:r>
              <a:rPr lang="vi-VN" i="1"/>
              <a:t>likability</a:t>
            </a:r>
            <a:r>
              <a:rPr lang="vi-VN"/>
              <a:t>)</a:t>
            </a:r>
          </a:p>
          <a:p>
            <a:pPr lvl="1"/>
            <a:r>
              <a:rPr lang="vi-VN"/>
              <a:t>Độ chính xác tích lũy (</a:t>
            </a:r>
            <a:r>
              <a:rPr lang="vi-VN" i="1"/>
              <a:t>Cumulative accuracy</a:t>
            </a:r>
            <a:r>
              <a:rPr lang="vi-VN"/>
              <a:t>)</a:t>
            </a:r>
          </a:p>
          <a:p>
            <a:pPr lvl="1"/>
            <a:r>
              <a:rPr lang="vi-VN"/>
              <a:t>Độ chính xác one-shot</a:t>
            </a:r>
          </a:p>
          <a:p>
            <a:r>
              <a:rPr lang="vi-VN"/>
              <a:t>Với mỗi chỉ số trên, tính trung bình và độ lệch chuẩn để đánh giá và thống kê.</a:t>
            </a:r>
          </a:p>
        </p:txBody>
      </p:sp>
      <p:sp>
        <p:nvSpPr>
          <p:cNvPr id="4" name="Slide Number Placeholder 3">
            <a:extLst>
              <a:ext uri="{FF2B5EF4-FFF2-40B4-BE49-F238E27FC236}">
                <a16:creationId xmlns:a16="http://schemas.microsoft.com/office/drawing/2014/main" id="{15279EAA-84B1-107B-8EAE-DAB516758215}"/>
              </a:ext>
            </a:extLst>
          </p:cNvPr>
          <p:cNvSpPr>
            <a:spLocks noGrp="1"/>
          </p:cNvSpPr>
          <p:nvPr>
            <p:ph type="sldNum" sz="quarter" idx="12"/>
          </p:nvPr>
        </p:nvSpPr>
        <p:spPr/>
        <p:txBody>
          <a:bodyPr/>
          <a:lstStyle/>
          <a:p>
            <a:fld id="{4ED22EA6-6E07-498D-89D0-2FA887FD1E5C}" type="slidenum">
              <a:rPr lang="vi-VN" smtClean="0"/>
              <a:t>26</a:t>
            </a:fld>
            <a:endParaRPr lang="vi-VN"/>
          </a:p>
        </p:txBody>
      </p:sp>
    </p:spTree>
    <p:extLst>
      <p:ext uri="{BB962C8B-B14F-4D97-AF65-F5344CB8AC3E}">
        <p14:creationId xmlns:p14="http://schemas.microsoft.com/office/powerpoint/2010/main" val="66011847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EA42B-E093-9B57-2B8F-E519C81D71BD}"/>
              </a:ext>
            </a:extLst>
          </p:cNvPr>
          <p:cNvSpPr>
            <a:spLocks noGrp="1"/>
          </p:cNvSpPr>
          <p:nvPr>
            <p:ph type="title"/>
          </p:nvPr>
        </p:nvSpPr>
        <p:spPr/>
        <p:txBody>
          <a:bodyPr>
            <a:normAutofit/>
          </a:bodyPr>
          <a:lstStyle/>
          <a:p>
            <a:r>
              <a:rPr lang="vi-VN"/>
              <a:t>V. Kết quả và đánh giá</a:t>
            </a:r>
          </a:p>
        </p:txBody>
      </p:sp>
      <mc:AlternateContent xmlns:mc="http://schemas.openxmlformats.org/markup-compatibility/2006" xmlns:a14="http://schemas.microsoft.com/office/drawing/2010/main">
        <mc:Choice Requires="a14">
          <p:sp>
            <p:nvSpPr>
              <p:cNvPr id="13" name="Content Placeholder 12">
                <a:extLst>
                  <a:ext uri="{FF2B5EF4-FFF2-40B4-BE49-F238E27FC236}">
                    <a16:creationId xmlns:a16="http://schemas.microsoft.com/office/drawing/2014/main" id="{9A45312C-14A3-5A47-C4F0-0775BB998831}"/>
                  </a:ext>
                </a:extLst>
              </p:cNvPr>
              <p:cNvSpPr>
                <a:spLocks noGrp="1"/>
              </p:cNvSpPr>
              <p:nvPr>
                <p:ph idx="1"/>
              </p:nvPr>
            </p:nvSpPr>
            <p:spPr/>
            <p:txBody>
              <a:bodyPr/>
              <a:lstStyle/>
              <a:p>
                <a:r>
                  <a:rPr lang="vi-VN" b="1" dirty="0"/>
                  <a:t>Độ thiện cảm tích lũy (</a:t>
                </a:r>
                <a:r>
                  <a:rPr lang="vi-VN" b="1" i="1" dirty="0" err="1"/>
                  <a:t>Cumulative</a:t>
                </a:r>
                <a:r>
                  <a:rPr lang="vi-VN" i="1" dirty="0"/>
                  <a:t> </a:t>
                </a:r>
                <a:r>
                  <a:rPr lang="vi-VN" b="1" i="1" dirty="0" err="1"/>
                  <a:t>likability</a:t>
                </a:r>
                <a:r>
                  <a:rPr lang="vi-VN" b="1" dirty="0"/>
                  <a:t>)</a:t>
                </a:r>
                <a:r>
                  <a:rPr lang="vi-VN" dirty="0"/>
                  <a:t>:</a:t>
                </a:r>
              </a:p>
              <a:p>
                <a:pPr lvl="1"/>
                <a:r>
                  <a:rPr lang="vi-VN" b="1" dirty="0"/>
                  <a:t>Thang điểm</a:t>
                </a:r>
                <a:r>
                  <a:rPr lang="vi-VN" dirty="0"/>
                  <a:t>: 1-10 (</a:t>
                </a:r>
                <a:r>
                  <a:rPr lang="vi-VN" i="1" dirty="0"/>
                  <a:t>rất khó chịu - rất thân thiện</a:t>
                </a:r>
                <a:r>
                  <a:rPr lang="vi-VN" dirty="0"/>
                  <a:t>)</a:t>
                </a:r>
              </a:p>
              <a:p>
                <a:pPr lvl="1"/>
                <a:r>
                  <a:rPr lang="vi-VN" b="1" dirty="0"/>
                  <a:t>Tiêu chí</a:t>
                </a:r>
                <a:r>
                  <a:rPr lang="vi-VN" dirty="0"/>
                  <a:t>: Dựa trên sự tự nhiên của văn phong, lịch sự và thân thiện, rõ ràng trong cách trình bày, tốc độ phản hồi cảm nhận.</a:t>
                </a:r>
              </a:p>
              <a:p>
                <a:pPr lvl="1"/>
                <a:r>
                  <a:rPr lang="vi-VN" b="1" dirty="0"/>
                  <a:t>Công thức</a:t>
                </a:r>
                <a:r>
                  <a:rPr lang="vi-VN" dirty="0"/>
                  <a:t>: </a:t>
                </a:r>
                <a14:m>
                  <m:oMath xmlns:m="http://schemas.openxmlformats.org/officeDocument/2006/math">
                    <m:f>
                      <m:fPr>
                        <m:ctrlPr>
                          <a:rPr lang="vi-VN" i="1" smtClean="0">
                            <a:latin typeface="Cambria Math" panose="02040503050406030204" pitchFamily="18" charset="0"/>
                          </a:rPr>
                        </m:ctrlPr>
                      </m:fPr>
                      <m:num>
                        <m:sSub>
                          <m:sSubPr>
                            <m:ctrlPr>
                              <a:rPr lang="vi-VN" i="1" smtClean="0">
                                <a:latin typeface="Cambria Math" panose="02040503050406030204" pitchFamily="18" charset="0"/>
                              </a:rPr>
                            </m:ctrlPr>
                          </m:sSubPr>
                          <m:e>
                            <m:r>
                              <m:rPr>
                                <m:sty m:val="p"/>
                              </m:rPr>
                              <a:rPr lang="vi-VN" i="1">
                                <a:latin typeface="Cambria Math" panose="02040503050406030204" pitchFamily="18" charset="0"/>
                              </a:rPr>
                              <m:t>L</m:t>
                            </m:r>
                          </m:e>
                          <m:sub>
                            <m:r>
                              <m:rPr>
                                <m:sty m:val="p"/>
                              </m:rPr>
                              <a:rPr lang="vi-VN" i="1">
                                <a:latin typeface="Cambria Math" panose="02040503050406030204" pitchFamily="18" charset="0"/>
                              </a:rPr>
                              <m:t>n</m:t>
                            </m:r>
                          </m:sub>
                        </m:sSub>
                      </m:num>
                      <m:den>
                        <m:r>
                          <m:rPr>
                            <m:sty m:val="p"/>
                          </m:rPr>
                          <a:rPr lang="vi-VN" i="1">
                            <a:latin typeface="Cambria Math" panose="02040503050406030204" pitchFamily="18" charset="0"/>
                          </a:rPr>
                          <m:t>S</m:t>
                        </m:r>
                      </m:den>
                    </m:f>
                  </m:oMath>
                </a14:m>
                <a:endParaRPr lang="vi-VN" dirty="0"/>
              </a:p>
              <a:p>
                <a:pPr lvl="2"/>
                <a14:m>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L</m:t>
                        </m:r>
                      </m:e>
                      <m:sub>
                        <m:r>
                          <m:rPr>
                            <m:sty m:val="p"/>
                          </m:rPr>
                          <a:rPr lang="vi-VN" i="1">
                            <a:latin typeface="Cambria Math" panose="02040503050406030204" pitchFamily="18" charset="0"/>
                          </a:rPr>
                          <m:t>n</m:t>
                        </m:r>
                      </m:sub>
                    </m:sSub>
                  </m:oMath>
                </a14:m>
                <a:r>
                  <a:rPr lang="vi-VN" dirty="0"/>
                  <a:t> là giá trị trung bình ở mốc </a:t>
                </a:r>
                <a14:m>
                  <m:oMath xmlns:m="http://schemas.openxmlformats.org/officeDocument/2006/math">
                    <m:r>
                      <m:rPr>
                        <m:sty m:val="p"/>
                      </m:rPr>
                      <a:rPr lang="vi-VN">
                        <a:latin typeface="Cambria Math" panose="02040503050406030204" pitchFamily="18" charset="0"/>
                      </a:rPr>
                      <m:t>n</m:t>
                    </m:r>
                  </m:oMath>
                </a14:m>
                <a:r>
                  <a:rPr lang="vi-VN" dirty="0"/>
                  <a:t> lượt (</a:t>
                </a:r>
                <a14:m>
                  <m:oMath xmlns:m="http://schemas.openxmlformats.org/officeDocument/2006/math">
                    <m:r>
                      <m:rPr>
                        <m:sty m:val="p"/>
                      </m:rPr>
                      <a:rPr lang="vi-VN" i="1">
                        <a:latin typeface="Cambria Math" panose="02040503050406030204" pitchFamily="18" charset="0"/>
                        <a:ea typeface="Cambria Math" panose="02040503050406030204" pitchFamily="18" charset="0"/>
                      </a:rPr>
                      <m:t>n</m:t>
                    </m:r>
                    <m:r>
                      <a:rPr lang="vi-VN" i="1" smtClean="0">
                        <a:latin typeface="Cambria Math" panose="02040503050406030204" pitchFamily="18" charset="0"/>
                        <a:ea typeface="Cambria Math" panose="02040503050406030204" pitchFamily="18" charset="0"/>
                      </a:rPr>
                      <m:t>𝜖</m:t>
                    </m:r>
                    <m:d>
                      <m:dPr>
                        <m:begChr m:val="{"/>
                        <m:endChr m:val="}"/>
                        <m:ctrlPr>
                          <a:rPr lang="vi-VN"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r>
                          <a:rPr lang="vi-VN"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5</m:t>
                        </m:r>
                        <m:r>
                          <a:rPr lang="vi-VN" b="0" i="1" smtClean="0">
                            <a:latin typeface="Cambria Math" panose="02040503050406030204" pitchFamily="18" charset="0"/>
                            <a:ea typeface="Cambria Math" panose="02040503050406030204" pitchFamily="18" charset="0"/>
                          </a:rPr>
                          <m:t>, </m:t>
                        </m:r>
                        <m:r>
                          <a:rPr lang="vi-VN" i="1">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0</m:t>
                        </m:r>
                      </m:e>
                    </m:d>
                  </m:oMath>
                </a14:m>
                <a:r>
                  <a:rPr lang="vi-VN" dirty="0"/>
                  <a:t>)</a:t>
                </a:r>
              </a:p>
              <a:p>
                <a:pPr lvl="2"/>
                <a14:m>
                  <m:oMath xmlns:m="http://schemas.openxmlformats.org/officeDocument/2006/math">
                    <m:r>
                      <m:rPr>
                        <m:sty m:val="p"/>
                      </m:rPr>
                      <a:rPr lang="vi-VN" i="1" smtClean="0">
                        <a:latin typeface="Cambria Math" panose="02040503050406030204" pitchFamily="18" charset="0"/>
                      </a:rPr>
                      <m:t>S</m:t>
                    </m:r>
                  </m:oMath>
                </a14:m>
                <a:r>
                  <a:rPr lang="vi-VN" dirty="0"/>
                  <a:t> là số phiên</a:t>
                </a:r>
              </a:p>
            </p:txBody>
          </p:sp>
        </mc:Choice>
        <mc:Fallback xmlns="">
          <p:sp>
            <p:nvSpPr>
              <p:cNvPr id="13" name="Content Placeholder 12">
                <a:extLst>
                  <a:ext uri="{FF2B5EF4-FFF2-40B4-BE49-F238E27FC236}">
                    <a16:creationId xmlns:a16="http://schemas.microsoft.com/office/drawing/2014/main" id="{9A45312C-14A3-5A47-C4F0-0775BB998831}"/>
                  </a:ext>
                </a:extLst>
              </p:cNvPr>
              <p:cNvSpPr>
                <a:spLocks noGrp="1" noRot="1" noChangeAspect="1" noMove="1" noResize="1" noEditPoints="1" noAdjustHandles="1" noChangeArrowheads="1" noChangeShapeType="1" noTextEdit="1"/>
              </p:cNvSpPr>
              <p:nvPr>
                <p:ph idx="1"/>
              </p:nvPr>
            </p:nvSpPr>
            <p:spPr>
              <a:blipFill>
                <a:blip r:embed="rId2"/>
                <a:stretch>
                  <a:fillRect l="-1043" t="-2203"/>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0518C323-20C9-9BAC-982B-A3D280A58FE4}"/>
              </a:ext>
            </a:extLst>
          </p:cNvPr>
          <p:cNvSpPr>
            <a:spLocks noGrp="1"/>
          </p:cNvSpPr>
          <p:nvPr>
            <p:ph type="sldNum" sz="quarter" idx="12"/>
          </p:nvPr>
        </p:nvSpPr>
        <p:spPr/>
        <p:txBody>
          <a:bodyPr/>
          <a:lstStyle/>
          <a:p>
            <a:fld id="{4ED22EA6-6E07-498D-89D0-2FA887FD1E5C}" type="slidenum">
              <a:rPr lang="vi-VN" smtClean="0"/>
              <a:t>27</a:t>
            </a:fld>
            <a:endParaRPr lang="vi-VN"/>
          </a:p>
        </p:txBody>
      </p:sp>
    </p:spTree>
    <p:extLst>
      <p:ext uri="{BB962C8B-B14F-4D97-AF65-F5344CB8AC3E}">
        <p14:creationId xmlns:p14="http://schemas.microsoft.com/office/powerpoint/2010/main" val="304781230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3">
                                            <p:txEl>
                                              <p:pRg st="1" end="1"/>
                                            </p:txEl>
                                          </p:spTgt>
                                        </p:tgtEl>
                                        <p:attrNameLst>
                                          <p:attrName>style.visibility</p:attrName>
                                        </p:attrNameLst>
                                      </p:cBhvr>
                                      <p:to>
                                        <p:strVal val="visible"/>
                                      </p:to>
                                    </p:set>
                                    <p:animEffect transition="in" filter="fade">
                                      <p:cBhvr>
                                        <p:cTn id="10" dur="500"/>
                                        <p:tgtEl>
                                          <p:spTgt spid="1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xEl>
                                              <p:pRg st="2" end="2"/>
                                            </p:txEl>
                                          </p:spTgt>
                                        </p:tgtEl>
                                        <p:attrNameLst>
                                          <p:attrName>style.visibility</p:attrName>
                                        </p:attrNameLst>
                                      </p:cBhvr>
                                      <p:to>
                                        <p:strVal val="visible"/>
                                      </p:to>
                                    </p:set>
                                    <p:animEffect transition="in" filter="fade">
                                      <p:cBhvr>
                                        <p:cTn id="13" dur="500"/>
                                        <p:tgtEl>
                                          <p:spTgt spid="1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xEl>
                                              <p:pRg st="3" end="3"/>
                                            </p:txEl>
                                          </p:spTgt>
                                        </p:tgtEl>
                                        <p:attrNameLst>
                                          <p:attrName>style.visibility</p:attrName>
                                        </p:attrNameLst>
                                      </p:cBhvr>
                                      <p:to>
                                        <p:strVal val="visible"/>
                                      </p:to>
                                    </p:set>
                                    <p:animEffect transition="in" filter="fade">
                                      <p:cBhvr>
                                        <p:cTn id="16" dur="500"/>
                                        <p:tgtEl>
                                          <p:spTgt spid="1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xEl>
                                              <p:pRg st="4" end="4"/>
                                            </p:txEl>
                                          </p:spTgt>
                                        </p:tgtEl>
                                        <p:attrNameLst>
                                          <p:attrName>style.visibility</p:attrName>
                                        </p:attrNameLst>
                                      </p:cBhvr>
                                      <p:to>
                                        <p:strVal val="visible"/>
                                      </p:to>
                                    </p:set>
                                    <p:animEffect transition="in" filter="fade">
                                      <p:cBhvr>
                                        <p:cTn id="19" dur="500"/>
                                        <p:tgtEl>
                                          <p:spTgt spid="1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xEl>
                                              <p:pRg st="5" end="5"/>
                                            </p:txEl>
                                          </p:spTgt>
                                        </p:tgtEl>
                                        <p:attrNameLst>
                                          <p:attrName>style.visibility</p:attrName>
                                        </p:attrNameLst>
                                      </p:cBhvr>
                                      <p:to>
                                        <p:strVal val="visible"/>
                                      </p:to>
                                    </p:set>
                                    <p:animEffect transition="in" filter="fade">
                                      <p:cBhvr>
                                        <p:cTn id="22" dur="500"/>
                                        <p:tgtEl>
                                          <p:spTgt spid="1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97345-2527-E8C0-FDC6-6E5459CFC1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8DD0CF-001F-DC6B-C02D-5E330139977D}"/>
              </a:ext>
            </a:extLst>
          </p:cNvPr>
          <p:cNvSpPr>
            <a:spLocks noGrp="1"/>
          </p:cNvSpPr>
          <p:nvPr>
            <p:ph type="title"/>
          </p:nvPr>
        </p:nvSpPr>
        <p:spPr/>
        <p:txBody>
          <a:bodyPr>
            <a:normAutofit/>
          </a:bodyPr>
          <a:lstStyle/>
          <a:p>
            <a:r>
              <a:rPr lang="vi-VN"/>
              <a:t>V. Kết quả và đánh giá</a:t>
            </a:r>
          </a:p>
        </p:txBody>
      </p:sp>
      <mc:AlternateContent xmlns:mc="http://schemas.openxmlformats.org/markup-compatibility/2006" xmlns:a14="http://schemas.microsoft.com/office/drawing/2010/main">
        <mc:Choice Requires="a14">
          <p:sp>
            <p:nvSpPr>
              <p:cNvPr id="13" name="Content Placeholder 12">
                <a:extLst>
                  <a:ext uri="{FF2B5EF4-FFF2-40B4-BE49-F238E27FC236}">
                    <a16:creationId xmlns:a16="http://schemas.microsoft.com/office/drawing/2014/main" id="{9F980B15-0E56-024C-6F81-FFC9D1E10702}"/>
                  </a:ext>
                </a:extLst>
              </p:cNvPr>
              <p:cNvSpPr>
                <a:spLocks noGrp="1"/>
              </p:cNvSpPr>
              <p:nvPr>
                <p:ph idx="1"/>
              </p:nvPr>
            </p:nvSpPr>
            <p:spPr/>
            <p:txBody>
              <a:bodyPr/>
              <a:lstStyle/>
              <a:p>
                <a:r>
                  <a:rPr lang="vi-VN" b="1"/>
                  <a:t>Độ thiện cảm tích lũy (</a:t>
                </a:r>
                <a:r>
                  <a:rPr lang="vi-VN" b="1" i="1"/>
                  <a:t>Cumulative</a:t>
                </a:r>
                <a:r>
                  <a:rPr lang="vi-VN" i="1"/>
                  <a:t> </a:t>
                </a:r>
                <a:r>
                  <a:rPr lang="vi-VN" b="1" i="1"/>
                  <a:t>likability</a:t>
                </a:r>
                <a:r>
                  <a:rPr lang="vi-VN" b="1"/>
                  <a:t>)</a:t>
                </a:r>
                <a:r>
                  <a:rPr lang="vi-VN"/>
                  <a:t>:</a:t>
                </a:r>
              </a:p>
              <a:p>
                <a:pPr lvl="1"/>
                <a:r>
                  <a:rPr lang="vi-VN"/>
                  <a:t>Trung bình:</a:t>
                </a:r>
              </a:p>
              <a:p>
                <a:pPr marL="914400" lvl="2" indent="0">
                  <a:buNone/>
                </a:pPr>
                <a14:m>
                  <m:oMathPara xmlns:m="http://schemas.openxmlformats.org/officeDocument/2006/math">
                    <m:oMathParaPr>
                      <m:jc m:val="centerGroup"/>
                    </m:oMathParaPr>
                    <m:oMath xmlns:m="http://schemas.openxmlformats.org/officeDocument/2006/math">
                      <m:sSub>
                        <m:sSubPr>
                          <m:ctrlPr>
                            <a:rPr lang="vi-VN" i="1" smtClean="0">
                              <a:latin typeface="Cambria Math" panose="02040503050406030204" pitchFamily="18" charset="0"/>
                            </a:rPr>
                          </m:ctrlPr>
                        </m:sSubPr>
                        <m:e>
                          <m:acc>
                            <m:accPr>
                              <m:chr m:val="̅"/>
                              <m:ctrlPr>
                                <a:rPr lang="vi-VN" i="1" smtClean="0">
                                  <a:latin typeface="Cambria Math" panose="02040503050406030204" pitchFamily="18" charset="0"/>
                                </a:rPr>
                              </m:ctrlPr>
                            </m:accPr>
                            <m:e>
                              <m:r>
                                <m:rPr>
                                  <m:sty m:val="p"/>
                                </m:rPr>
                                <a:rPr lang="vi-VN" i="1">
                                  <a:latin typeface="Cambria Math" panose="02040503050406030204" pitchFamily="18" charset="0"/>
                                </a:rPr>
                                <m:t>L</m:t>
                              </m:r>
                            </m:e>
                          </m:acc>
                        </m:e>
                        <m:sub>
                          <m:r>
                            <m:rPr>
                              <m:sty m:val="p"/>
                            </m:rPr>
                            <a:rPr lang="vi-VN" i="1">
                              <a:latin typeface="Cambria Math" panose="02040503050406030204" pitchFamily="18" charset="0"/>
                            </a:rPr>
                            <m:t>n</m:t>
                          </m:r>
                        </m:sub>
                      </m:sSub>
                      <m:r>
                        <a:rPr lang="vi-VN" b="0" i="1" smtClean="0">
                          <a:latin typeface="Cambria Math" panose="02040503050406030204" pitchFamily="18" charset="0"/>
                        </a:rPr>
                        <m:t>= </m:t>
                      </m:r>
                      <m:f>
                        <m:fPr>
                          <m:ctrlPr>
                            <a:rPr lang="vi-VN" b="0" i="1" smtClean="0">
                              <a:latin typeface="Cambria Math" panose="02040503050406030204" pitchFamily="18" charset="0"/>
                            </a:rPr>
                          </m:ctrlPr>
                        </m:fPr>
                        <m:num>
                          <m:r>
                            <a:rPr lang="vi-VN" i="1">
                              <a:latin typeface="Cambria Math" panose="02040503050406030204" pitchFamily="18" charset="0"/>
                            </a:rPr>
                            <m:t>1</m:t>
                          </m:r>
                        </m:num>
                        <m:den>
                          <m:r>
                            <m:rPr>
                              <m:sty m:val="p"/>
                            </m:rPr>
                            <a:rPr lang="vi-VN" i="1">
                              <a:latin typeface="Cambria Math" panose="02040503050406030204" pitchFamily="18" charset="0"/>
                            </a:rPr>
                            <m:t>n</m:t>
                          </m:r>
                        </m:den>
                      </m:f>
                      <m:nary>
                        <m:naryPr>
                          <m:chr m:val="∑"/>
                          <m:limLoc m:val="subSup"/>
                          <m:ctrlPr>
                            <a:rPr lang="vi-VN" b="0" i="1" smtClean="0">
                              <a:latin typeface="Cambria Math" panose="02040503050406030204" pitchFamily="18" charset="0"/>
                            </a:rPr>
                          </m:ctrlPr>
                        </m:naryPr>
                        <m:sub>
                          <m:r>
                            <m:rPr>
                              <m:sty m:val="p"/>
                              <m:brk m:alnAt="25"/>
                            </m:rPr>
                            <a:rPr lang="vi-VN" i="1">
                              <a:latin typeface="Cambria Math" panose="02040503050406030204" pitchFamily="18" charset="0"/>
                            </a:rPr>
                            <m:t>j</m:t>
                          </m:r>
                          <m:r>
                            <a:rPr lang="vi-VN" b="0" i="1" smtClean="0">
                              <a:latin typeface="Cambria Math" panose="02040503050406030204" pitchFamily="18" charset="0"/>
                            </a:rPr>
                            <m:t>=</m:t>
                          </m:r>
                          <m:r>
                            <m:rPr>
                              <m:brk m:alnAt="25"/>
                            </m:rPr>
                            <a:rPr lang="vi-VN" i="1">
                              <a:latin typeface="Cambria Math" panose="02040503050406030204" pitchFamily="18" charset="0"/>
                            </a:rPr>
                            <m:t>1</m:t>
                          </m:r>
                        </m:sub>
                        <m:sup>
                          <m:r>
                            <m:rPr>
                              <m:sty m:val="p"/>
                            </m:rPr>
                            <a:rPr lang="vi-VN" i="1">
                              <a:latin typeface="Cambria Math" panose="02040503050406030204" pitchFamily="18" charset="0"/>
                            </a:rPr>
                            <m:t>S</m:t>
                          </m:r>
                        </m:sup>
                        <m:e>
                          <m:sSub>
                            <m:sSubPr>
                              <m:ctrlPr>
                                <a:rPr lang="vi-VN" b="0" i="1" smtClean="0">
                                  <a:latin typeface="Cambria Math" panose="02040503050406030204" pitchFamily="18" charset="0"/>
                                </a:rPr>
                              </m:ctrlPr>
                            </m:sSubPr>
                            <m:e>
                              <m:r>
                                <m:rPr>
                                  <m:sty m:val="p"/>
                                </m:rPr>
                                <a:rPr lang="vi-VN" i="1">
                                  <a:latin typeface="Cambria Math" panose="02040503050406030204" pitchFamily="18" charset="0"/>
                                </a:rPr>
                                <m:t>L</m:t>
                              </m:r>
                            </m:e>
                            <m:sub>
                              <m:r>
                                <m:rPr>
                                  <m:sty m:val="p"/>
                                </m:rPr>
                                <a:rPr lang="vi-VN" i="1">
                                  <a:latin typeface="Cambria Math" panose="02040503050406030204" pitchFamily="18" charset="0"/>
                                </a:rPr>
                                <m:t>j</m:t>
                              </m:r>
                              <m:r>
                                <a:rPr lang="vi-VN" b="0" i="1" smtClean="0">
                                  <a:latin typeface="Cambria Math" panose="02040503050406030204" pitchFamily="18" charset="0"/>
                                </a:rPr>
                                <m:t>,</m:t>
                              </m:r>
                              <m:r>
                                <m:rPr>
                                  <m:sty m:val="p"/>
                                </m:rPr>
                                <a:rPr lang="vi-VN" i="1">
                                  <a:latin typeface="Cambria Math" panose="02040503050406030204" pitchFamily="18" charset="0"/>
                                </a:rPr>
                                <m:t>n</m:t>
                              </m:r>
                            </m:sub>
                          </m:sSub>
                        </m:e>
                      </m:nary>
                    </m:oMath>
                  </m:oMathPara>
                </a14:m>
                <a:endParaRPr lang="vi-VN"/>
              </a:p>
              <a:p>
                <a:pPr lvl="1"/>
                <a:r>
                  <a:rPr lang="vi-VN"/>
                  <a:t>Phương sai:</a:t>
                </a:r>
              </a:p>
              <a:p>
                <a:pPr marL="457200" lvl="1" indent="0">
                  <a:buNone/>
                </a:pPr>
                <a14:m>
                  <m:oMathPara xmlns:m="http://schemas.openxmlformats.org/officeDocument/2006/math">
                    <m:oMathParaPr>
                      <m:jc m:val="centerGroup"/>
                    </m:oMathParaPr>
                    <m:oMath xmlns:m="http://schemas.openxmlformats.org/officeDocument/2006/math">
                      <m:r>
                        <a:rPr lang="vi-VN" i="1" smtClean="0">
                          <a:latin typeface="Cambria Math" panose="02040503050406030204" pitchFamily="18" charset="0"/>
                          <a:ea typeface="Cambria Math" panose="02040503050406030204" pitchFamily="18" charset="0"/>
                        </a:rPr>
                        <m:t>𝜎</m:t>
                      </m:r>
                      <m:sSub>
                        <m:sSubPr>
                          <m:ctrlPr>
                            <a:rPr lang="vi-VN" i="1" smtClean="0">
                              <a:latin typeface="Cambria Math" panose="02040503050406030204" pitchFamily="18" charset="0"/>
                              <a:ea typeface="Cambria Math" panose="02040503050406030204" pitchFamily="18" charset="0"/>
                            </a:rPr>
                          </m:ctrlPr>
                        </m:sSubPr>
                        <m:e>
                          <m:r>
                            <m:rPr>
                              <m:sty m:val="p"/>
                            </m:rPr>
                            <a:rPr lang="vi-VN" i="1">
                              <a:latin typeface="Cambria Math" panose="02040503050406030204" pitchFamily="18" charset="0"/>
                              <a:ea typeface="Cambria Math" panose="02040503050406030204" pitchFamily="18" charset="0"/>
                            </a:rPr>
                            <m:t>L</m:t>
                          </m:r>
                        </m:e>
                        <m:sub>
                          <m:r>
                            <m:rPr>
                              <m:sty m:val="p"/>
                            </m:rPr>
                            <a:rPr lang="vi-VN" i="1">
                              <a:latin typeface="Cambria Math" panose="02040503050406030204" pitchFamily="18" charset="0"/>
                              <a:ea typeface="Cambria Math" panose="02040503050406030204" pitchFamily="18" charset="0"/>
                            </a:rPr>
                            <m:t>n</m:t>
                          </m:r>
                        </m:sub>
                      </m:sSub>
                      <m:r>
                        <a:rPr lang="vi-VN" b="0" i="1" smtClean="0">
                          <a:latin typeface="Cambria Math" panose="02040503050406030204" pitchFamily="18" charset="0"/>
                          <a:ea typeface="Cambria Math" panose="02040503050406030204" pitchFamily="18" charset="0"/>
                        </a:rPr>
                        <m:t>= </m:t>
                      </m:r>
                      <m:rad>
                        <m:radPr>
                          <m:degHide m:val="on"/>
                          <m:ctrlPr>
                            <a:rPr lang="vi-VN" b="0" i="1" smtClean="0">
                              <a:latin typeface="Cambria Math" panose="02040503050406030204" pitchFamily="18" charset="0"/>
                              <a:ea typeface="Cambria Math" panose="02040503050406030204" pitchFamily="18" charset="0"/>
                            </a:rPr>
                          </m:ctrlPr>
                        </m:radPr>
                        <m:deg/>
                        <m:e>
                          <m:f>
                            <m:fPr>
                              <m:ctrlPr>
                                <a:rPr lang="vi-VN" b="0" i="1" smtClean="0">
                                  <a:latin typeface="Cambria Math" panose="02040503050406030204" pitchFamily="18" charset="0"/>
                                  <a:ea typeface="Cambria Math" panose="02040503050406030204" pitchFamily="18" charset="0"/>
                                </a:rPr>
                              </m:ctrlPr>
                            </m:fPr>
                            <m:num>
                              <m:r>
                                <a:rPr lang="vi-VN" i="1">
                                  <a:latin typeface="Cambria Math" panose="02040503050406030204" pitchFamily="18" charset="0"/>
                                  <a:ea typeface="Cambria Math" panose="02040503050406030204" pitchFamily="18" charset="0"/>
                                </a:rPr>
                                <m:t>1</m:t>
                              </m:r>
                            </m:num>
                            <m:den>
                              <m:r>
                                <m:rPr>
                                  <m:sty m:val="p"/>
                                </m:rPr>
                                <a:rPr lang="vi-VN" i="1">
                                  <a:latin typeface="Cambria Math" panose="02040503050406030204" pitchFamily="18" charset="0"/>
                                  <a:ea typeface="Cambria Math" panose="02040503050406030204" pitchFamily="18" charset="0"/>
                                </a:rPr>
                                <m:t>S</m:t>
                              </m:r>
                              <m:r>
                                <a:rPr lang="vi-VN" b="0"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1</m:t>
                              </m:r>
                            </m:den>
                          </m:f>
                        </m:e>
                      </m:rad>
                      <m:nary>
                        <m:naryPr>
                          <m:chr m:val="∑"/>
                          <m:limLoc m:val="subSup"/>
                          <m:ctrlPr>
                            <a:rPr lang="vi-VN" b="0" i="1" smtClean="0">
                              <a:latin typeface="Cambria Math" panose="02040503050406030204" pitchFamily="18" charset="0"/>
                              <a:ea typeface="Cambria Math" panose="02040503050406030204" pitchFamily="18" charset="0"/>
                            </a:rPr>
                          </m:ctrlPr>
                        </m:naryPr>
                        <m:sub>
                          <m:r>
                            <m:rPr>
                              <m:sty m:val="p"/>
                              <m:brk m:alnAt="25"/>
                            </m:rPr>
                            <a:rPr lang="vi-VN" i="1">
                              <a:latin typeface="Cambria Math" panose="02040503050406030204" pitchFamily="18" charset="0"/>
                              <a:ea typeface="Cambria Math" panose="02040503050406030204" pitchFamily="18" charset="0"/>
                            </a:rPr>
                            <m:t>j</m:t>
                          </m:r>
                          <m:r>
                            <a:rPr lang="vi-VN" b="0" i="1" smtClean="0">
                              <a:latin typeface="Cambria Math" panose="02040503050406030204" pitchFamily="18" charset="0"/>
                              <a:ea typeface="Cambria Math" panose="02040503050406030204" pitchFamily="18" charset="0"/>
                            </a:rPr>
                            <m:t>=</m:t>
                          </m:r>
                          <m:r>
                            <m:rPr>
                              <m:brk m:alnAt="25"/>
                            </m:rPr>
                            <a:rPr lang="vi-VN" i="1">
                              <a:latin typeface="Cambria Math" panose="02040503050406030204" pitchFamily="18" charset="0"/>
                              <a:ea typeface="Cambria Math" panose="02040503050406030204" pitchFamily="18" charset="0"/>
                            </a:rPr>
                            <m:t>1</m:t>
                          </m:r>
                        </m:sub>
                        <m:sup>
                          <m:r>
                            <m:rPr>
                              <m:sty m:val="p"/>
                            </m:rPr>
                            <a:rPr lang="vi-VN" i="1">
                              <a:latin typeface="Cambria Math" panose="02040503050406030204" pitchFamily="18" charset="0"/>
                              <a:ea typeface="Cambria Math" panose="02040503050406030204" pitchFamily="18" charset="0"/>
                            </a:rPr>
                            <m:t>S</m:t>
                          </m:r>
                        </m:sup>
                        <m:e>
                          <m:sSup>
                            <m:sSupPr>
                              <m:ctrlPr>
                                <a:rPr lang="vi-VN" b="0" i="1" smtClean="0">
                                  <a:latin typeface="Cambria Math" panose="02040503050406030204" pitchFamily="18" charset="0"/>
                                  <a:ea typeface="Cambria Math" panose="02040503050406030204" pitchFamily="18" charset="0"/>
                                </a:rPr>
                              </m:ctrlPr>
                            </m:sSupPr>
                            <m:e>
                              <m:r>
                                <a:rPr lang="vi-VN" i="1">
                                  <a:latin typeface="Cambria Math" panose="02040503050406030204" pitchFamily="18" charset="0"/>
                                  <a:ea typeface="Cambria Math" panose="02040503050406030204" pitchFamily="18" charset="0"/>
                                </a:rPr>
                                <m:t>(</m:t>
                              </m:r>
                              <m:sSub>
                                <m:sSubPr>
                                  <m:ctrlPr>
                                    <a:rPr lang="vi-VN" i="1">
                                      <a:latin typeface="Cambria Math" panose="02040503050406030204" pitchFamily="18" charset="0"/>
                                      <a:ea typeface="Cambria Math" panose="02040503050406030204" pitchFamily="18" charset="0"/>
                                    </a:rPr>
                                  </m:ctrlPr>
                                </m:sSubPr>
                                <m:e>
                                  <m:r>
                                    <m:rPr>
                                      <m:sty m:val="p"/>
                                    </m:rPr>
                                    <a:rPr lang="vi-VN" i="1">
                                      <a:latin typeface="Cambria Math" panose="02040503050406030204" pitchFamily="18" charset="0"/>
                                      <a:ea typeface="Cambria Math" panose="02040503050406030204" pitchFamily="18" charset="0"/>
                                    </a:rPr>
                                    <m:t>L</m:t>
                                  </m:r>
                                </m:e>
                                <m:sub>
                                  <m:r>
                                    <m:rPr>
                                      <m:sty m:val="p"/>
                                    </m:rPr>
                                    <a:rPr lang="vi-VN" i="1">
                                      <a:latin typeface="Cambria Math" panose="02040503050406030204" pitchFamily="18" charset="0"/>
                                      <a:ea typeface="Cambria Math" panose="02040503050406030204" pitchFamily="18" charset="0"/>
                                    </a:rPr>
                                    <m:t>j</m:t>
                                  </m:r>
                                  <m:r>
                                    <a:rPr lang="vi-VN" i="1">
                                      <a:latin typeface="Cambria Math" panose="02040503050406030204" pitchFamily="18" charset="0"/>
                                      <a:ea typeface="Cambria Math" panose="02040503050406030204" pitchFamily="18" charset="0"/>
                                    </a:rPr>
                                    <m:t>,</m:t>
                                  </m:r>
                                  <m:r>
                                    <m:rPr>
                                      <m:sty m:val="p"/>
                                    </m:rPr>
                                    <a:rPr lang="vi-VN" i="1">
                                      <a:latin typeface="Cambria Math" panose="02040503050406030204" pitchFamily="18" charset="0"/>
                                      <a:ea typeface="Cambria Math" panose="02040503050406030204" pitchFamily="18" charset="0"/>
                                    </a:rPr>
                                    <m:t>n</m:t>
                                  </m:r>
                                </m:sub>
                              </m:sSub>
                              <m:r>
                                <a:rPr lang="vi-VN" i="1">
                                  <a:latin typeface="Cambria Math" panose="02040503050406030204" pitchFamily="18" charset="0"/>
                                  <a:ea typeface="Cambria Math" panose="02040503050406030204" pitchFamily="18" charset="0"/>
                                </a:rPr>
                                <m:t>−</m:t>
                              </m:r>
                              <m:sSub>
                                <m:sSubPr>
                                  <m:ctrlPr>
                                    <a:rPr lang="vi-VN" i="1">
                                      <a:latin typeface="Cambria Math" panose="02040503050406030204" pitchFamily="18" charset="0"/>
                                    </a:rPr>
                                  </m:ctrlPr>
                                </m:sSubPr>
                                <m:e>
                                  <m:acc>
                                    <m:accPr>
                                      <m:chr m:val="̅"/>
                                      <m:ctrlPr>
                                        <a:rPr lang="vi-VN" i="1">
                                          <a:latin typeface="Cambria Math" panose="02040503050406030204" pitchFamily="18" charset="0"/>
                                        </a:rPr>
                                      </m:ctrlPr>
                                    </m:accPr>
                                    <m:e>
                                      <m:r>
                                        <m:rPr>
                                          <m:sty m:val="p"/>
                                        </m:rPr>
                                        <a:rPr lang="vi-VN" i="1">
                                          <a:latin typeface="Cambria Math" panose="02040503050406030204" pitchFamily="18" charset="0"/>
                                        </a:rPr>
                                        <m:t>L</m:t>
                                      </m:r>
                                    </m:e>
                                  </m:acc>
                                </m:e>
                                <m:sub>
                                  <m:r>
                                    <m:rPr>
                                      <m:sty m:val="p"/>
                                    </m:rPr>
                                    <a:rPr lang="vi-VN" i="1">
                                      <a:latin typeface="Cambria Math" panose="02040503050406030204" pitchFamily="18" charset="0"/>
                                    </a:rPr>
                                    <m:t>n</m:t>
                                  </m:r>
                                </m:sub>
                              </m:sSub>
                              <m:r>
                                <a:rPr lang="vi-VN" b="0" i="1" smtClean="0">
                                  <a:latin typeface="Cambria Math" panose="02040503050406030204" pitchFamily="18" charset="0"/>
                                </a:rPr>
                                <m:t>)</m:t>
                              </m:r>
                            </m:e>
                            <m:sup>
                              <m:r>
                                <a:rPr lang="vi-VN" i="1">
                                  <a:latin typeface="Cambria Math" panose="02040503050406030204" pitchFamily="18" charset="0"/>
                                  <a:ea typeface="Cambria Math" panose="02040503050406030204" pitchFamily="18" charset="0"/>
                                </a:rPr>
                                <m:t>2</m:t>
                              </m:r>
                            </m:sup>
                          </m:sSup>
                        </m:e>
                      </m:nary>
                    </m:oMath>
                  </m:oMathPara>
                </a14:m>
                <a:endParaRPr lang="vi-VN"/>
              </a:p>
            </p:txBody>
          </p:sp>
        </mc:Choice>
        <mc:Fallback xmlns="">
          <p:sp>
            <p:nvSpPr>
              <p:cNvPr id="13" name="Content Placeholder 12">
                <a:extLst>
                  <a:ext uri="{FF2B5EF4-FFF2-40B4-BE49-F238E27FC236}">
                    <a16:creationId xmlns:a16="http://schemas.microsoft.com/office/drawing/2014/main" id="{9F980B15-0E56-024C-6F81-FFC9D1E10702}"/>
                  </a:ext>
                </a:extLst>
              </p:cNvPr>
              <p:cNvSpPr>
                <a:spLocks noGrp="1" noRot="1" noChangeAspect="1" noMove="1" noResize="1" noEditPoints="1" noAdjustHandles="1" noChangeArrowheads="1" noChangeShapeType="1" noTextEdit="1"/>
              </p:cNvSpPr>
              <p:nvPr>
                <p:ph idx="1"/>
              </p:nvPr>
            </p:nvSpPr>
            <p:spPr>
              <a:blipFill>
                <a:blip r:embed="rId2"/>
                <a:stretch>
                  <a:fillRect l="-1043" t="-2203"/>
                </a:stretch>
              </a:blipFill>
            </p:spPr>
            <p:txBody>
              <a:bodyPr/>
              <a:lstStyle/>
              <a:p>
                <a:r>
                  <a:rPr lang="vi-VN">
                    <a:noFill/>
                  </a:rPr>
                  <a:t> </a:t>
                </a:r>
              </a:p>
            </p:txBody>
          </p:sp>
        </mc:Fallback>
      </mc:AlternateContent>
      <p:sp>
        <p:nvSpPr>
          <p:cNvPr id="3" name="Slide Number Placeholder 2">
            <a:extLst>
              <a:ext uri="{FF2B5EF4-FFF2-40B4-BE49-F238E27FC236}">
                <a16:creationId xmlns:a16="http://schemas.microsoft.com/office/drawing/2014/main" id="{F9C726EB-F0D0-31BC-07D8-EFC66D667D53}"/>
              </a:ext>
            </a:extLst>
          </p:cNvPr>
          <p:cNvSpPr>
            <a:spLocks noGrp="1"/>
          </p:cNvSpPr>
          <p:nvPr>
            <p:ph type="sldNum" sz="quarter" idx="12"/>
          </p:nvPr>
        </p:nvSpPr>
        <p:spPr/>
        <p:txBody>
          <a:bodyPr/>
          <a:lstStyle/>
          <a:p>
            <a:fld id="{4ED22EA6-6E07-498D-89D0-2FA887FD1E5C}" type="slidenum">
              <a:rPr lang="vi-VN" smtClean="0"/>
              <a:t>28</a:t>
            </a:fld>
            <a:endParaRPr lang="vi-VN"/>
          </a:p>
        </p:txBody>
      </p:sp>
    </p:spTree>
    <p:extLst>
      <p:ext uri="{BB962C8B-B14F-4D97-AF65-F5344CB8AC3E}">
        <p14:creationId xmlns:p14="http://schemas.microsoft.com/office/powerpoint/2010/main" val="254890202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3">
                                            <p:txEl>
                                              <p:pRg st="1" end="1"/>
                                            </p:txEl>
                                          </p:spTgt>
                                        </p:tgtEl>
                                        <p:attrNameLst>
                                          <p:attrName>style.visibility</p:attrName>
                                        </p:attrNameLst>
                                      </p:cBhvr>
                                      <p:to>
                                        <p:strVal val="visible"/>
                                      </p:to>
                                    </p:set>
                                    <p:animEffect transition="in" filter="fade">
                                      <p:cBhvr>
                                        <p:cTn id="10" dur="500"/>
                                        <p:tgtEl>
                                          <p:spTgt spid="1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xEl>
                                              <p:pRg st="2" end="2"/>
                                            </p:txEl>
                                          </p:spTgt>
                                        </p:tgtEl>
                                        <p:attrNameLst>
                                          <p:attrName>style.visibility</p:attrName>
                                        </p:attrNameLst>
                                      </p:cBhvr>
                                      <p:to>
                                        <p:strVal val="visible"/>
                                      </p:to>
                                    </p:set>
                                    <p:animEffect transition="in" filter="fade">
                                      <p:cBhvr>
                                        <p:cTn id="13" dur="500"/>
                                        <p:tgtEl>
                                          <p:spTgt spid="1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xEl>
                                              <p:pRg st="3" end="3"/>
                                            </p:txEl>
                                          </p:spTgt>
                                        </p:tgtEl>
                                        <p:attrNameLst>
                                          <p:attrName>style.visibility</p:attrName>
                                        </p:attrNameLst>
                                      </p:cBhvr>
                                      <p:to>
                                        <p:strVal val="visible"/>
                                      </p:to>
                                    </p:set>
                                    <p:animEffect transition="in" filter="fade">
                                      <p:cBhvr>
                                        <p:cTn id="16" dur="500"/>
                                        <p:tgtEl>
                                          <p:spTgt spid="1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xEl>
                                              <p:pRg st="4" end="4"/>
                                            </p:txEl>
                                          </p:spTgt>
                                        </p:tgtEl>
                                        <p:attrNameLst>
                                          <p:attrName>style.visibility</p:attrName>
                                        </p:attrNameLst>
                                      </p:cBhvr>
                                      <p:to>
                                        <p:strVal val="visible"/>
                                      </p:to>
                                    </p:set>
                                    <p:animEffect transition="in" filter="fade">
                                      <p:cBhvr>
                                        <p:cTn id="19"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87DA8-93C7-9D8B-3579-503258B66DBB}"/>
              </a:ext>
            </a:extLst>
          </p:cNvPr>
          <p:cNvSpPr>
            <a:spLocks noGrp="1"/>
          </p:cNvSpPr>
          <p:nvPr>
            <p:ph type="title"/>
          </p:nvPr>
        </p:nvSpPr>
        <p:spPr/>
        <p:txBody>
          <a:bodyPr>
            <a:normAutofit/>
          </a:bodyPr>
          <a:lstStyle/>
          <a:p>
            <a:r>
              <a:rPr lang="vi-VN"/>
              <a:t>V. Kết quả và đánh giá</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06D146-3B26-864E-5F61-7B1C072768A2}"/>
                  </a:ext>
                </a:extLst>
              </p:cNvPr>
              <p:cNvSpPr>
                <a:spLocks noGrp="1"/>
              </p:cNvSpPr>
              <p:nvPr>
                <p:ph idx="1"/>
              </p:nvPr>
            </p:nvSpPr>
            <p:spPr/>
            <p:txBody>
              <a:bodyPr/>
              <a:lstStyle/>
              <a:p>
                <a:r>
                  <a:rPr lang="vi-VN" b="1" dirty="0"/>
                  <a:t>Độ chính xác tích lũy (</a:t>
                </a:r>
                <a:r>
                  <a:rPr lang="vi-VN" b="1" i="1" dirty="0" err="1"/>
                  <a:t>Cumulative</a:t>
                </a:r>
                <a:r>
                  <a:rPr lang="vi-VN" b="1" i="1" dirty="0"/>
                  <a:t> </a:t>
                </a:r>
                <a:r>
                  <a:rPr lang="vi-VN" b="1" i="1" dirty="0" err="1"/>
                  <a:t>accuracy</a:t>
                </a:r>
                <a:r>
                  <a:rPr lang="vi-VN" b="1" dirty="0"/>
                  <a:t>)</a:t>
                </a:r>
                <a:r>
                  <a:rPr lang="vi-VN" dirty="0"/>
                  <a:t>:</a:t>
                </a:r>
              </a:p>
              <a:p>
                <a:pPr lvl="1"/>
                <a:r>
                  <a:rPr lang="vi-VN" dirty="0"/>
                  <a:t>Với mỗi phiên </a:t>
                </a:r>
                <a14:m>
                  <m:oMath xmlns:m="http://schemas.openxmlformats.org/officeDocument/2006/math">
                    <m:r>
                      <m:rPr>
                        <m:sty m:val="p"/>
                      </m:rPr>
                      <a:rPr lang="vi-VN">
                        <a:latin typeface="Cambria Math" panose="02040503050406030204" pitchFamily="18" charset="0"/>
                      </a:rPr>
                      <m:t>j</m:t>
                    </m:r>
                  </m:oMath>
                </a14:m>
                <a:r>
                  <a:rPr lang="vi-VN" dirty="0"/>
                  <a:t> tại mốc </a:t>
                </a:r>
                <a14:m>
                  <m:oMath xmlns:m="http://schemas.openxmlformats.org/officeDocument/2006/math">
                    <m:r>
                      <m:rPr>
                        <m:sty m:val="p"/>
                      </m:rPr>
                      <a:rPr lang="vi-VN">
                        <a:latin typeface="Cambria Math" panose="02040503050406030204" pitchFamily="18" charset="0"/>
                      </a:rPr>
                      <m:t>n</m:t>
                    </m:r>
                  </m:oMath>
                </a14:m>
                <a:r>
                  <a:rPr lang="vi-VN" dirty="0"/>
                  <a:t> lượt, định nghĩa:</a:t>
                </a:r>
              </a:p>
              <a:p>
                <a:pPr marL="457200" lvl="1" indent="0">
                  <a:buNone/>
                </a:pPr>
                <a14:m>
                  <m:oMathPara xmlns:m="http://schemas.openxmlformats.org/officeDocument/2006/math">
                    <m:oMathParaPr>
                      <m:jc m:val="centerGroup"/>
                    </m:oMathParaPr>
                    <m:oMath xmlns:m="http://schemas.openxmlformats.org/officeDocument/2006/math">
                      <m:r>
                        <m:rPr>
                          <m:sty m:val="p"/>
                        </m:rPr>
                        <a:rPr lang="vi-VN" i="1">
                          <a:latin typeface="Cambria Math" panose="02040503050406030204" pitchFamily="18" charset="0"/>
                        </a:rPr>
                        <m:t>ac</m:t>
                      </m:r>
                      <m:sSub>
                        <m:sSubPr>
                          <m:ctrlPr>
                            <a:rPr lang="vi-VN" i="1" smtClean="0">
                              <a:latin typeface="Cambria Math" panose="02040503050406030204" pitchFamily="18" charset="0"/>
                            </a:rPr>
                          </m:ctrlPr>
                        </m:sSubPr>
                        <m:e>
                          <m:r>
                            <m:rPr>
                              <m:sty m:val="p"/>
                            </m:rPr>
                            <a:rPr lang="vi-VN" i="1">
                              <a:latin typeface="Cambria Math" panose="02040503050406030204" pitchFamily="18" charset="0"/>
                            </a:rPr>
                            <m:t>c</m:t>
                          </m:r>
                        </m:e>
                        <m:sub>
                          <m:r>
                            <m:rPr>
                              <m:sty m:val="p"/>
                            </m:rPr>
                            <a:rPr lang="vi-VN" i="1">
                              <a:latin typeface="Cambria Math" panose="02040503050406030204" pitchFamily="18" charset="0"/>
                            </a:rPr>
                            <m:t>j</m:t>
                          </m:r>
                          <m:r>
                            <a:rPr lang="vi-VN" b="0" i="1" smtClean="0">
                              <a:latin typeface="Cambria Math" panose="02040503050406030204" pitchFamily="18" charset="0"/>
                            </a:rPr>
                            <m:t>,</m:t>
                          </m:r>
                          <m:r>
                            <m:rPr>
                              <m:sty m:val="p"/>
                            </m:rPr>
                            <a:rPr lang="vi-VN" i="1">
                              <a:latin typeface="Cambria Math" panose="02040503050406030204" pitchFamily="18" charset="0"/>
                            </a:rPr>
                            <m:t>n</m:t>
                          </m:r>
                        </m:sub>
                      </m:sSub>
                      <m:r>
                        <a:rPr lang="vi-VN" b="0" i="1" smtClean="0">
                          <a:latin typeface="Cambria Math" panose="02040503050406030204" pitchFamily="18" charset="0"/>
                        </a:rPr>
                        <m:t>=</m:t>
                      </m:r>
                      <m:f>
                        <m:fPr>
                          <m:ctrlPr>
                            <a:rPr lang="vi-VN" b="0" i="1" smtClean="0">
                              <a:latin typeface="Cambria Math" panose="02040503050406030204" pitchFamily="18" charset="0"/>
                            </a:rPr>
                          </m:ctrlPr>
                        </m:fPr>
                        <m:num>
                          <m:r>
                            <m:rPr>
                              <m:sty m:val="p"/>
                            </m:rPr>
                            <a:rPr lang="vi-VN" i="1">
                              <a:latin typeface="Cambria Math" panose="02040503050406030204" pitchFamily="18" charset="0"/>
                            </a:rPr>
                            <m:t>T</m:t>
                          </m:r>
                          <m:r>
                            <a:rPr lang="vi-VN" i="1">
                              <a:latin typeface="Cambria Math" panose="02040503050406030204" pitchFamily="18" charset="0"/>
                            </a:rPr>
                            <m:t>ổ</m:t>
                          </m:r>
                          <m:r>
                            <m:rPr>
                              <m:sty m:val="p"/>
                            </m:rPr>
                            <a:rPr lang="vi-VN" i="1">
                              <a:latin typeface="Cambria Math" panose="02040503050406030204" pitchFamily="18" charset="0"/>
                            </a:rPr>
                            <m:t>ng</m:t>
                          </m:r>
                          <m:r>
                            <a:rPr lang="vi-VN" b="0" i="1" smtClean="0">
                              <a:latin typeface="Cambria Math" panose="02040503050406030204" pitchFamily="18" charset="0"/>
                            </a:rPr>
                            <m:t> </m:t>
                          </m:r>
                          <m:r>
                            <m:rPr>
                              <m:sty m:val="p"/>
                            </m:rPr>
                            <a:rPr lang="vi-VN" i="1">
                              <a:latin typeface="Cambria Math" panose="02040503050406030204" pitchFamily="18" charset="0"/>
                            </a:rPr>
                            <m:t>s</m:t>
                          </m:r>
                          <m:r>
                            <a:rPr lang="vi-VN" i="1">
                              <a:latin typeface="Cambria Math" panose="02040503050406030204" pitchFamily="18" charset="0"/>
                            </a:rPr>
                            <m:t>ố </m:t>
                          </m:r>
                          <m:r>
                            <m:rPr>
                              <m:sty m:val="p"/>
                            </m:rPr>
                            <a:rPr lang="vi-VN" i="1">
                              <a:latin typeface="Cambria Math" panose="02040503050406030204" pitchFamily="18" charset="0"/>
                            </a:rPr>
                            <m:t>c</m:t>
                          </m:r>
                          <m:r>
                            <a:rPr lang="vi-VN" i="1">
                              <a:latin typeface="Cambria Math" panose="02040503050406030204" pitchFamily="18" charset="0"/>
                            </a:rPr>
                            <m:t>â</m:t>
                          </m:r>
                          <m:r>
                            <m:rPr>
                              <m:sty m:val="p"/>
                            </m:rPr>
                            <a:rPr lang="vi-VN" i="1">
                              <a:latin typeface="Cambria Math" panose="02040503050406030204" pitchFamily="18" charset="0"/>
                            </a:rPr>
                            <m:t>u</m:t>
                          </m:r>
                          <m:r>
                            <a:rPr lang="vi-VN" b="0" i="1" smtClean="0">
                              <a:latin typeface="Cambria Math" panose="02040503050406030204" pitchFamily="18" charset="0"/>
                            </a:rPr>
                            <m:t> </m:t>
                          </m:r>
                          <m:r>
                            <m:rPr>
                              <m:sty m:val="p"/>
                            </m:rPr>
                            <a:rPr lang="vi-VN" i="1">
                              <a:latin typeface="Cambria Math" panose="02040503050406030204" pitchFamily="18" charset="0"/>
                            </a:rPr>
                            <m:t>tr</m:t>
                          </m:r>
                          <m:r>
                            <a:rPr lang="vi-VN" i="1">
                              <a:latin typeface="Cambria Math" panose="02040503050406030204" pitchFamily="18" charset="0"/>
                            </a:rPr>
                            <m:t>ả </m:t>
                          </m:r>
                          <m:r>
                            <m:rPr>
                              <m:sty m:val="p"/>
                            </m:rPr>
                            <a:rPr lang="vi-VN" i="1">
                              <a:latin typeface="Cambria Math" panose="02040503050406030204" pitchFamily="18" charset="0"/>
                            </a:rPr>
                            <m:t>l</m:t>
                          </m:r>
                          <m:r>
                            <a:rPr lang="vi-VN" i="1">
                              <a:latin typeface="Cambria Math" panose="02040503050406030204" pitchFamily="18" charset="0"/>
                            </a:rPr>
                            <m:t>ờ</m:t>
                          </m:r>
                          <m:r>
                            <m:rPr>
                              <m:sty m:val="p"/>
                            </m:rPr>
                            <a:rPr lang="vi-VN" i="1">
                              <a:latin typeface="Cambria Math" panose="02040503050406030204" pitchFamily="18" charset="0"/>
                            </a:rPr>
                            <m:t>i</m:t>
                          </m:r>
                          <m:r>
                            <a:rPr lang="vi-VN" b="0" i="1" smtClean="0">
                              <a:latin typeface="Cambria Math" panose="02040503050406030204" pitchFamily="18" charset="0"/>
                            </a:rPr>
                            <m:t> </m:t>
                          </m:r>
                          <m:r>
                            <a:rPr lang="vi-VN" i="1">
                              <a:latin typeface="Cambria Math" panose="02040503050406030204" pitchFamily="18" charset="0"/>
                            </a:rPr>
                            <m:t>đú</m:t>
                          </m:r>
                          <m:r>
                            <m:rPr>
                              <m:sty m:val="p"/>
                            </m:rPr>
                            <a:rPr lang="vi-VN" i="1">
                              <a:latin typeface="Cambria Math" panose="02040503050406030204" pitchFamily="18" charset="0"/>
                            </a:rPr>
                            <m:t>ng</m:t>
                          </m:r>
                          <m:r>
                            <a:rPr lang="vi-VN" b="0" i="1" smtClean="0">
                              <a:latin typeface="Cambria Math" panose="02040503050406030204" pitchFamily="18" charset="0"/>
                            </a:rPr>
                            <m:t> </m:t>
                          </m:r>
                          <m:r>
                            <m:rPr>
                              <m:sty m:val="p"/>
                            </m:rPr>
                            <a:rPr lang="vi-VN" i="1">
                              <a:latin typeface="Cambria Math" panose="02040503050406030204" pitchFamily="18" charset="0"/>
                            </a:rPr>
                            <m:t>trong</m:t>
                          </m:r>
                          <m:r>
                            <a:rPr lang="vi-VN" b="0" i="1" smtClean="0">
                              <a:latin typeface="Cambria Math" panose="02040503050406030204" pitchFamily="18" charset="0"/>
                            </a:rPr>
                            <m:t> </m:t>
                          </m:r>
                          <m:r>
                            <m:rPr>
                              <m:sty m:val="p"/>
                            </m:rPr>
                            <a:rPr lang="vi-VN" i="1">
                              <a:latin typeface="Cambria Math" panose="02040503050406030204" pitchFamily="18" charset="0"/>
                            </a:rPr>
                            <m:t>c</m:t>
                          </m:r>
                          <m:r>
                            <a:rPr lang="vi-VN" i="1">
                              <a:latin typeface="Cambria Math" panose="02040503050406030204" pitchFamily="18" charset="0"/>
                            </a:rPr>
                            <m:t>á</m:t>
                          </m:r>
                          <m:r>
                            <m:rPr>
                              <m:sty m:val="p"/>
                            </m:rPr>
                            <a:rPr lang="vi-VN" i="1">
                              <a:latin typeface="Cambria Math" panose="02040503050406030204" pitchFamily="18" charset="0"/>
                            </a:rPr>
                            <m:t>c</m:t>
                          </m:r>
                          <m:r>
                            <a:rPr lang="vi-VN" b="0" i="1" smtClean="0">
                              <a:latin typeface="Cambria Math" panose="02040503050406030204" pitchFamily="18" charset="0"/>
                            </a:rPr>
                            <m:t> </m:t>
                          </m:r>
                          <m:r>
                            <m:rPr>
                              <m:sty m:val="p"/>
                            </m:rPr>
                            <a:rPr lang="vi-VN" i="1">
                              <a:latin typeface="Cambria Math" panose="02040503050406030204" pitchFamily="18" charset="0"/>
                            </a:rPr>
                            <m:t>l</m:t>
                          </m:r>
                          <m:r>
                            <a:rPr lang="vi-VN" i="1">
                              <a:latin typeface="Cambria Math" panose="02040503050406030204" pitchFamily="18" charset="0"/>
                            </a:rPr>
                            <m:t>ượ</m:t>
                          </m:r>
                          <m:r>
                            <m:rPr>
                              <m:sty m:val="p"/>
                            </m:rPr>
                            <a:rPr lang="vi-VN" i="1">
                              <a:latin typeface="Cambria Math" panose="02040503050406030204" pitchFamily="18" charset="0"/>
                            </a:rPr>
                            <m:t>t</m:t>
                          </m:r>
                          <m:r>
                            <a:rPr lang="vi-VN" b="0" i="1" smtClean="0">
                              <a:latin typeface="Cambria Math" panose="02040503050406030204" pitchFamily="18" charset="0"/>
                            </a:rPr>
                            <m:t> </m:t>
                          </m:r>
                          <m:r>
                            <a:rPr lang="vi-VN" i="1">
                              <a:latin typeface="Cambria Math" panose="02040503050406030204" pitchFamily="18" charset="0"/>
                            </a:rPr>
                            <m:t>1</m:t>
                          </m:r>
                          <m:r>
                            <a:rPr lang="en-US" b="0" i="1" smtClean="0">
                              <a:latin typeface="Cambria Math" panose="02040503050406030204" pitchFamily="18" charset="0"/>
                            </a:rPr>
                            <m:t>…</m:t>
                          </m:r>
                          <m:r>
                            <m:rPr>
                              <m:sty m:val="p"/>
                            </m:rPr>
                            <a:rPr lang="vi-VN" i="1">
                              <a:latin typeface="Cambria Math" panose="02040503050406030204" pitchFamily="18" charset="0"/>
                            </a:rPr>
                            <m:t>n</m:t>
                          </m:r>
                        </m:num>
                        <m:den>
                          <m:r>
                            <m:rPr>
                              <m:sty m:val="p"/>
                            </m:rPr>
                            <a:rPr lang="vi-VN" i="1">
                              <a:latin typeface="Cambria Math" panose="02040503050406030204" pitchFamily="18" charset="0"/>
                            </a:rPr>
                            <m:t>n</m:t>
                          </m:r>
                        </m:den>
                      </m:f>
                    </m:oMath>
                  </m:oMathPara>
                </a14:m>
                <a:endParaRPr lang="vi-VN" dirty="0"/>
              </a:p>
              <a:p>
                <a:pPr lvl="1"/>
                <a:r>
                  <a:rPr lang="vi-VN" dirty="0"/>
                  <a:t>Qua S phiên, độ chính xác tích lũy tại mốc n là:</a:t>
                </a:r>
              </a:p>
              <a:p>
                <a:pPr marL="457200" lvl="1" indent="0">
                  <a:buNone/>
                </a:pPr>
                <a14:m>
                  <m:oMathPara xmlns:m="http://schemas.openxmlformats.org/officeDocument/2006/math">
                    <m:oMathParaPr>
                      <m:jc m:val="centerGroup"/>
                    </m:oMathParaPr>
                    <m:oMath xmlns:m="http://schemas.openxmlformats.org/officeDocument/2006/math">
                      <m:r>
                        <m:rPr>
                          <m:sty m:val="p"/>
                        </m:rPr>
                        <a:rPr lang="vi-VN" i="1" smtClean="0">
                          <a:latin typeface="Cambria Math" panose="02040503050406030204" pitchFamily="18" charset="0"/>
                        </a:rPr>
                        <m:t>Ac</m:t>
                      </m:r>
                      <m:sSub>
                        <m:sSubPr>
                          <m:ctrlPr>
                            <a:rPr lang="vi-VN" i="1" smtClean="0">
                              <a:latin typeface="Cambria Math" panose="02040503050406030204" pitchFamily="18" charset="0"/>
                            </a:rPr>
                          </m:ctrlPr>
                        </m:sSubPr>
                        <m:e>
                          <m:r>
                            <m:rPr>
                              <m:sty m:val="p"/>
                            </m:rPr>
                            <a:rPr lang="vi-VN" i="1">
                              <a:latin typeface="Cambria Math" panose="02040503050406030204" pitchFamily="18" charset="0"/>
                            </a:rPr>
                            <m:t>c</m:t>
                          </m:r>
                        </m:e>
                        <m:sub>
                          <m:r>
                            <m:rPr>
                              <m:sty m:val="p"/>
                            </m:rPr>
                            <a:rPr lang="vi-VN" i="1">
                              <a:latin typeface="Cambria Math" panose="02040503050406030204" pitchFamily="18" charset="0"/>
                            </a:rPr>
                            <m:t>n</m:t>
                          </m:r>
                        </m:sub>
                      </m:sSub>
                      <m:r>
                        <a:rPr lang="vi-VN" b="0" i="1" smtClean="0">
                          <a:latin typeface="Cambria Math" panose="02040503050406030204" pitchFamily="18" charset="0"/>
                        </a:rPr>
                        <m:t>= </m:t>
                      </m:r>
                      <m:f>
                        <m:fPr>
                          <m:ctrlPr>
                            <a:rPr lang="vi-VN" b="0" i="1" smtClean="0">
                              <a:latin typeface="Cambria Math" panose="02040503050406030204" pitchFamily="18" charset="0"/>
                            </a:rPr>
                          </m:ctrlPr>
                        </m:fPr>
                        <m:num>
                          <m:r>
                            <a:rPr lang="vi-VN" i="1">
                              <a:latin typeface="Cambria Math" panose="02040503050406030204" pitchFamily="18" charset="0"/>
                            </a:rPr>
                            <m:t>1</m:t>
                          </m:r>
                        </m:num>
                        <m:den>
                          <m:r>
                            <m:rPr>
                              <m:sty m:val="p"/>
                            </m:rPr>
                            <a:rPr lang="vi-VN" i="1">
                              <a:latin typeface="Cambria Math" panose="02040503050406030204" pitchFamily="18" charset="0"/>
                            </a:rPr>
                            <m:t>S</m:t>
                          </m:r>
                        </m:den>
                      </m:f>
                      <m:nary>
                        <m:naryPr>
                          <m:chr m:val="∑"/>
                          <m:ctrlPr>
                            <a:rPr lang="vi-VN" b="0" i="1" smtClean="0">
                              <a:latin typeface="Cambria Math" panose="02040503050406030204" pitchFamily="18" charset="0"/>
                            </a:rPr>
                          </m:ctrlPr>
                        </m:naryPr>
                        <m:sub>
                          <m:r>
                            <m:rPr>
                              <m:sty m:val="p"/>
                              <m:brk m:alnAt="23"/>
                            </m:rPr>
                            <a:rPr lang="vi-VN" i="1">
                              <a:latin typeface="Cambria Math" panose="02040503050406030204" pitchFamily="18" charset="0"/>
                            </a:rPr>
                            <m:t>j</m:t>
                          </m:r>
                          <m:r>
                            <a:rPr lang="vi-VN" b="0" i="1" smtClean="0">
                              <a:latin typeface="Cambria Math" panose="02040503050406030204" pitchFamily="18" charset="0"/>
                            </a:rPr>
                            <m:t>=</m:t>
                          </m:r>
                          <m:r>
                            <a:rPr lang="vi-VN" i="1">
                              <a:latin typeface="Cambria Math" panose="02040503050406030204" pitchFamily="18" charset="0"/>
                            </a:rPr>
                            <m:t>1</m:t>
                          </m:r>
                        </m:sub>
                        <m:sup>
                          <m:r>
                            <m:rPr>
                              <m:sty m:val="p"/>
                            </m:rPr>
                            <a:rPr lang="vi-VN" i="1">
                              <a:latin typeface="Cambria Math" panose="02040503050406030204" pitchFamily="18" charset="0"/>
                            </a:rPr>
                            <m:t>S</m:t>
                          </m:r>
                        </m:sup>
                        <m:e>
                          <m:r>
                            <m:rPr>
                              <m:sty m:val="p"/>
                            </m:rPr>
                            <a:rPr lang="vi-VN" i="1" smtClean="0">
                              <a:latin typeface="Cambria Math" panose="02040503050406030204" pitchFamily="18" charset="0"/>
                            </a:rPr>
                            <m:t>ac</m:t>
                          </m:r>
                          <m:sSub>
                            <m:sSubPr>
                              <m:ctrlPr>
                                <a:rPr lang="vi-VN" i="1" smtClean="0">
                                  <a:latin typeface="Cambria Math" panose="02040503050406030204" pitchFamily="18" charset="0"/>
                                </a:rPr>
                              </m:ctrlPr>
                            </m:sSubPr>
                            <m:e>
                              <m:r>
                                <m:rPr>
                                  <m:sty m:val="p"/>
                                </m:rPr>
                                <a:rPr lang="vi-VN" i="1">
                                  <a:latin typeface="Cambria Math" panose="02040503050406030204" pitchFamily="18" charset="0"/>
                                </a:rPr>
                                <m:t>c</m:t>
                              </m:r>
                            </m:e>
                            <m:sub>
                              <m:r>
                                <m:rPr>
                                  <m:sty m:val="p"/>
                                </m:rPr>
                                <a:rPr lang="vi-VN" i="1">
                                  <a:latin typeface="Cambria Math" panose="02040503050406030204" pitchFamily="18" charset="0"/>
                                </a:rPr>
                                <m:t>j</m:t>
                              </m:r>
                              <m:r>
                                <a:rPr lang="vi-VN" b="0" i="1" smtClean="0">
                                  <a:latin typeface="Cambria Math" panose="02040503050406030204" pitchFamily="18" charset="0"/>
                                </a:rPr>
                                <m:t>,</m:t>
                              </m:r>
                              <m:r>
                                <m:rPr>
                                  <m:sty m:val="p"/>
                                </m:rPr>
                                <a:rPr lang="vi-VN" i="1">
                                  <a:latin typeface="Cambria Math" panose="02040503050406030204" pitchFamily="18" charset="0"/>
                                </a:rPr>
                                <m:t>n</m:t>
                              </m:r>
                            </m:sub>
                          </m:sSub>
                        </m:e>
                      </m:nary>
                    </m:oMath>
                  </m:oMathPara>
                </a14:m>
                <a:endParaRPr lang="vi-VN" dirty="0"/>
              </a:p>
              <a:p>
                <a:pPr lvl="1"/>
                <a:r>
                  <a:rPr lang="vi-VN" b="1" dirty="0"/>
                  <a:t>“Câu trả lời đúng” </a:t>
                </a:r>
                <a:r>
                  <a:rPr lang="vi-VN" dirty="0"/>
                  <a:t>được hiểu là: nội dung trả lời khớp (</a:t>
                </a:r>
                <a:r>
                  <a:rPr lang="vi-VN" i="1" dirty="0"/>
                  <a:t>hoặc bao gồm</a:t>
                </a:r>
                <a:r>
                  <a:rPr lang="vi-VN" dirty="0"/>
                  <a:t>) thông tin xác thực có trong cơ sở dữ liệu.</a:t>
                </a:r>
              </a:p>
              <a:p>
                <a:pPr lvl="1"/>
                <a:r>
                  <a:rPr lang="vi-VN" b="1" dirty="0"/>
                  <a:t>“Câu trả lời sai”</a:t>
                </a:r>
                <a:r>
                  <a:rPr lang="vi-VN" dirty="0"/>
                  <a:t> được hiểu là: nội dung trả lời không có trong cơ sở dữ liệu, sai trọng tâm yêu cầu hoặc bịa đặt thông tin</a:t>
                </a:r>
              </a:p>
            </p:txBody>
          </p:sp>
        </mc:Choice>
        <mc:Fallback xmlns="">
          <p:sp>
            <p:nvSpPr>
              <p:cNvPr id="3" name="Content Placeholder 2">
                <a:extLst>
                  <a:ext uri="{FF2B5EF4-FFF2-40B4-BE49-F238E27FC236}">
                    <a16:creationId xmlns:a16="http://schemas.microsoft.com/office/drawing/2014/main" id="{8B06D146-3B26-864E-5F61-7B1C072768A2}"/>
                  </a:ext>
                </a:extLst>
              </p:cNvPr>
              <p:cNvSpPr>
                <a:spLocks noGrp="1" noRot="1" noChangeAspect="1" noMove="1" noResize="1" noEditPoints="1" noAdjustHandles="1" noChangeArrowheads="1" noChangeShapeType="1" noTextEdit="1"/>
              </p:cNvSpPr>
              <p:nvPr>
                <p:ph idx="1"/>
              </p:nvPr>
            </p:nvSpPr>
            <p:spPr>
              <a:blipFill>
                <a:blip r:embed="rId2"/>
                <a:stretch>
                  <a:fillRect l="-1043" t="-2203" r="-81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9B54D04-BB24-30B9-1F05-F25BF5453A4D}"/>
              </a:ext>
            </a:extLst>
          </p:cNvPr>
          <p:cNvSpPr>
            <a:spLocks noGrp="1"/>
          </p:cNvSpPr>
          <p:nvPr>
            <p:ph type="sldNum" sz="quarter" idx="12"/>
          </p:nvPr>
        </p:nvSpPr>
        <p:spPr/>
        <p:txBody>
          <a:bodyPr/>
          <a:lstStyle/>
          <a:p>
            <a:fld id="{4ED22EA6-6E07-498D-89D0-2FA887FD1E5C}" type="slidenum">
              <a:rPr lang="vi-VN" smtClean="0"/>
              <a:t>29</a:t>
            </a:fld>
            <a:endParaRPr lang="vi-VN"/>
          </a:p>
        </p:txBody>
      </p:sp>
    </p:spTree>
    <p:extLst>
      <p:ext uri="{BB962C8B-B14F-4D97-AF65-F5344CB8AC3E}">
        <p14:creationId xmlns:p14="http://schemas.microsoft.com/office/powerpoint/2010/main" val="139267901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3B83C-980B-51B9-916B-ED27038836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8DAD01-C53D-D7DC-6948-B31A7486EA1D}"/>
              </a:ext>
            </a:extLst>
          </p:cNvPr>
          <p:cNvSpPr>
            <a:spLocks noGrp="1"/>
          </p:cNvSpPr>
          <p:nvPr>
            <p:ph type="title"/>
          </p:nvPr>
        </p:nvSpPr>
        <p:spPr/>
        <p:txBody>
          <a:bodyPr>
            <a:normAutofit/>
          </a:bodyPr>
          <a:lstStyle/>
          <a:p>
            <a:r>
              <a:rPr lang="vi-VN"/>
              <a:t>V. Kết quả và đánh giá</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B37C206-993D-DE64-1B2F-92E736214F62}"/>
                  </a:ext>
                </a:extLst>
              </p:cNvPr>
              <p:cNvSpPr>
                <a:spLocks noGrp="1"/>
              </p:cNvSpPr>
              <p:nvPr>
                <p:ph idx="1"/>
              </p:nvPr>
            </p:nvSpPr>
            <p:spPr/>
            <p:txBody>
              <a:bodyPr/>
              <a:lstStyle/>
              <a:p>
                <a:r>
                  <a:rPr lang="vi-VN" b="1"/>
                  <a:t>Độ chính xác tích lũy (</a:t>
                </a:r>
                <a:r>
                  <a:rPr lang="vi-VN" b="1" i="1"/>
                  <a:t>Cumulative accuracy</a:t>
                </a:r>
                <a:r>
                  <a:rPr lang="vi-VN" b="1"/>
                  <a:t>)</a:t>
                </a:r>
                <a:r>
                  <a:rPr lang="vi-VN"/>
                  <a:t>:</a:t>
                </a:r>
              </a:p>
              <a:p>
                <a:pPr lvl="1"/>
                <a:r>
                  <a:rPr lang="vi-VN"/>
                  <a:t>Phương sai:</a:t>
                </a:r>
              </a:p>
              <a:p>
                <a:pPr marL="457200" lvl="1" indent="0">
                  <a:buNone/>
                </a:pPr>
                <a14:m>
                  <m:oMathPara xmlns:m="http://schemas.openxmlformats.org/officeDocument/2006/math">
                    <m:oMathParaPr>
                      <m:jc m:val="centerGroup"/>
                    </m:oMathParaPr>
                    <m:oMath xmlns:m="http://schemas.openxmlformats.org/officeDocument/2006/math">
                      <m:r>
                        <a:rPr lang="vi-VN" i="1">
                          <a:latin typeface="Cambria Math" panose="02040503050406030204" pitchFamily="18" charset="0"/>
                          <a:ea typeface="Cambria Math" panose="02040503050406030204" pitchFamily="18" charset="0"/>
                        </a:rPr>
                        <m:t>𝜎</m:t>
                      </m:r>
                      <m:sSub>
                        <m:sSubPr>
                          <m:ctrlPr>
                            <a:rPr lang="vi-VN" i="1">
                              <a:latin typeface="Cambria Math" panose="02040503050406030204" pitchFamily="18" charset="0"/>
                              <a:ea typeface="Cambria Math" panose="02040503050406030204" pitchFamily="18" charset="0"/>
                            </a:rPr>
                          </m:ctrlPr>
                        </m:sSubPr>
                        <m:e>
                          <m:r>
                            <m:rPr>
                              <m:sty m:val="p"/>
                            </m:rPr>
                            <a:rPr lang="vi-VN" i="1" smtClean="0">
                              <a:latin typeface="Cambria Math" panose="02040503050406030204" pitchFamily="18" charset="0"/>
                              <a:ea typeface="Cambria Math" panose="02040503050406030204" pitchFamily="18" charset="0"/>
                            </a:rPr>
                            <m:t>Acc</m:t>
                          </m:r>
                        </m:e>
                        <m:sub>
                          <m:r>
                            <m:rPr>
                              <m:sty m:val="p"/>
                            </m:rPr>
                            <a:rPr lang="vi-VN" i="1">
                              <a:latin typeface="Cambria Math" panose="02040503050406030204" pitchFamily="18" charset="0"/>
                              <a:ea typeface="Cambria Math" panose="02040503050406030204" pitchFamily="18" charset="0"/>
                            </a:rPr>
                            <m:t>n</m:t>
                          </m:r>
                        </m:sub>
                      </m:sSub>
                      <m:r>
                        <a:rPr lang="vi-VN" i="1">
                          <a:latin typeface="Cambria Math" panose="02040503050406030204" pitchFamily="18" charset="0"/>
                          <a:ea typeface="Cambria Math" panose="02040503050406030204" pitchFamily="18" charset="0"/>
                        </a:rPr>
                        <m:t>= </m:t>
                      </m:r>
                      <m:rad>
                        <m:radPr>
                          <m:degHide m:val="on"/>
                          <m:ctrlPr>
                            <a:rPr lang="vi-VN" i="1">
                              <a:latin typeface="Cambria Math" panose="02040503050406030204" pitchFamily="18" charset="0"/>
                              <a:ea typeface="Cambria Math" panose="02040503050406030204" pitchFamily="18" charset="0"/>
                            </a:rPr>
                          </m:ctrlPr>
                        </m:radPr>
                        <m:deg/>
                        <m:e>
                          <m:f>
                            <m:fPr>
                              <m:ctrlPr>
                                <a:rPr lang="vi-VN" i="1">
                                  <a:latin typeface="Cambria Math" panose="02040503050406030204" pitchFamily="18" charset="0"/>
                                  <a:ea typeface="Cambria Math" panose="02040503050406030204" pitchFamily="18" charset="0"/>
                                </a:rPr>
                              </m:ctrlPr>
                            </m:fPr>
                            <m:num>
                              <m:r>
                                <a:rPr lang="vi-VN" i="1">
                                  <a:latin typeface="Cambria Math" panose="02040503050406030204" pitchFamily="18" charset="0"/>
                                  <a:ea typeface="Cambria Math" panose="02040503050406030204" pitchFamily="18" charset="0"/>
                                </a:rPr>
                                <m:t>1</m:t>
                              </m:r>
                            </m:num>
                            <m:den>
                              <m:r>
                                <m:rPr>
                                  <m:sty m:val="p"/>
                                </m:rPr>
                                <a:rPr lang="vi-VN" i="1">
                                  <a:latin typeface="Cambria Math" panose="02040503050406030204" pitchFamily="18" charset="0"/>
                                  <a:ea typeface="Cambria Math" panose="02040503050406030204" pitchFamily="18" charset="0"/>
                                </a:rPr>
                                <m:t>S</m:t>
                              </m:r>
                              <m:r>
                                <a:rPr lang="vi-VN" i="1">
                                  <a:latin typeface="Cambria Math" panose="02040503050406030204" pitchFamily="18" charset="0"/>
                                  <a:ea typeface="Cambria Math" panose="02040503050406030204" pitchFamily="18" charset="0"/>
                                </a:rPr>
                                <m:t>−1</m:t>
                              </m:r>
                            </m:den>
                          </m:f>
                        </m:e>
                      </m:rad>
                      <m:nary>
                        <m:naryPr>
                          <m:chr m:val="∑"/>
                          <m:limLoc m:val="subSup"/>
                          <m:ctrlPr>
                            <a:rPr lang="vi-VN" i="1">
                              <a:latin typeface="Cambria Math" panose="02040503050406030204" pitchFamily="18" charset="0"/>
                              <a:ea typeface="Cambria Math" panose="02040503050406030204" pitchFamily="18" charset="0"/>
                            </a:rPr>
                          </m:ctrlPr>
                        </m:naryPr>
                        <m:sub>
                          <m:r>
                            <m:rPr>
                              <m:sty m:val="p"/>
                              <m:brk m:alnAt="25"/>
                            </m:rPr>
                            <a:rPr lang="vi-VN" i="1">
                              <a:latin typeface="Cambria Math" panose="02040503050406030204" pitchFamily="18" charset="0"/>
                              <a:ea typeface="Cambria Math" panose="02040503050406030204" pitchFamily="18" charset="0"/>
                            </a:rPr>
                            <m:t>j</m:t>
                          </m:r>
                          <m:r>
                            <a:rPr lang="vi-VN" i="1">
                              <a:latin typeface="Cambria Math" panose="02040503050406030204" pitchFamily="18" charset="0"/>
                              <a:ea typeface="Cambria Math" panose="02040503050406030204" pitchFamily="18" charset="0"/>
                            </a:rPr>
                            <m:t>=1</m:t>
                          </m:r>
                        </m:sub>
                        <m:sup>
                          <m:r>
                            <m:rPr>
                              <m:sty m:val="p"/>
                            </m:rPr>
                            <a:rPr lang="vi-VN" i="1">
                              <a:latin typeface="Cambria Math" panose="02040503050406030204" pitchFamily="18" charset="0"/>
                              <a:ea typeface="Cambria Math" panose="02040503050406030204" pitchFamily="18" charset="0"/>
                            </a:rPr>
                            <m:t>S</m:t>
                          </m:r>
                        </m:sup>
                        <m:e>
                          <m:sSup>
                            <m:sSupPr>
                              <m:ctrlPr>
                                <a:rPr lang="vi-VN" i="1">
                                  <a:latin typeface="Cambria Math" panose="02040503050406030204" pitchFamily="18" charset="0"/>
                                  <a:ea typeface="Cambria Math" panose="02040503050406030204" pitchFamily="18" charset="0"/>
                                </a:rPr>
                              </m:ctrlPr>
                            </m:sSupPr>
                            <m:e>
                              <m:r>
                                <a:rPr lang="vi-VN" i="1">
                                  <a:latin typeface="Cambria Math" panose="02040503050406030204" pitchFamily="18" charset="0"/>
                                  <a:ea typeface="Cambria Math" panose="02040503050406030204" pitchFamily="18" charset="0"/>
                                </a:rPr>
                                <m:t>(</m:t>
                              </m:r>
                              <m:sSub>
                                <m:sSubPr>
                                  <m:ctrlPr>
                                    <a:rPr lang="vi-VN" i="1">
                                      <a:latin typeface="Cambria Math" panose="02040503050406030204" pitchFamily="18" charset="0"/>
                                      <a:ea typeface="Cambria Math" panose="02040503050406030204" pitchFamily="18" charset="0"/>
                                    </a:rPr>
                                  </m:ctrlPr>
                                </m:sSubPr>
                                <m:e>
                                  <m:r>
                                    <m:rPr>
                                      <m:sty m:val="p"/>
                                    </m:rPr>
                                    <a:rPr lang="vi-VN" i="1">
                                      <a:latin typeface="Cambria Math" panose="02040503050406030204" pitchFamily="18" charset="0"/>
                                      <a:ea typeface="Cambria Math" panose="02040503050406030204" pitchFamily="18" charset="0"/>
                                    </a:rPr>
                                    <m:t>acc</m:t>
                                  </m:r>
                                </m:e>
                                <m:sub>
                                  <m:r>
                                    <m:rPr>
                                      <m:sty m:val="p"/>
                                    </m:rPr>
                                    <a:rPr lang="vi-VN" i="1">
                                      <a:latin typeface="Cambria Math" panose="02040503050406030204" pitchFamily="18" charset="0"/>
                                      <a:ea typeface="Cambria Math" panose="02040503050406030204" pitchFamily="18" charset="0"/>
                                    </a:rPr>
                                    <m:t>j</m:t>
                                  </m:r>
                                  <m:r>
                                    <a:rPr lang="vi-VN" i="1">
                                      <a:latin typeface="Cambria Math" panose="02040503050406030204" pitchFamily="18" charset="0"/>
                                      <a:ea typeface="Cambria Math" panose="02040503050406030204" pitchFamily="18" charset="0"/>
                                    </a:rPr>
                                    <m:t>,</m:t>
                                  </m:r>
                                  <m:r>
                                    <m:rPr>
                                      <m:sty m:val="p"/>
                                    </m:rPr>
                                    <a:rPr lang="vi-VN" i="1">
                                      <a:latin typeface="Cambria Math" panose="02040503050406030204" pitchFamily="18" charset="0"/>
                                      <a:ea typeface="Cambria Math" panose="02040503050406030204" pitchFamily="18" charset="0"/>
                                    </a:rPr>
                                    <m:t>n</m:t>
                                  </m:r>
                                </m:sub>
                              </m:sSub>
                              <m:r>
                                <a:rPr lang="vi-VN" i="1">
                                  <a:latin typeface="Cambria Math" panose="02040503050406030204" pitchFamily="18" charset="0"/>
                                  <a:ea typeface="Cambria Math" panose="02040503050406030204" pitchFamily="18" charset="0"/>
                                </a:rPr>
                                <m:t>−</m:t>
                              </m:r>
                              <m:sSub>
                                <m:sSubPr>
                                  <m:ctrlPr>
                                    <a:rPr lang="vi-VN" i="1">
                                      <a:latin typeface="Cambria Math" panose="02040503050406030204" pitchFamily="18" charset="0"/>
                                    </a:rPr>
                                  </m:ctrlPr>
                                </m:sSubPr>
                                <m:e>
                                  <m:r>
                                    <m:rPr>
                                      <m:sty m:val="p"/>
                                    </m:rPr>
                                    <a:rPr lang="vi-VN" i="1">
                                      <a:latin typeface="Cambria Math" panose="02040503050406030204" pitchFamily="18" charset="0"/>
                                    </a:rPr>
                                    <m:t>Acc</m:t>
                                  </m:r>
                                </m:e>
                                <m:sub>
                                  <m:r>
                                    <m:rPr>
                                      <m:sty m:val="p"/>
                                    </m:rPr>
                                    <a:rPr lang="vi-VN" i="1">
                                      <a:latin typeface="Cambria Math" panose="02040503050406030204" pitchFamily="18" charset="0"/>
                                    </a:rPr>
                                    <m:t>n</m:t>
                                  </m:r>
                                </m:sub>
                              </m:sSub>
                              <m:r>
                                <a:rPr lang="vi-VN" i="1">
                                  <a:latin typeface="Cambria Math" panose="02040503050406030204" pitchFamily="18" charset="0"/>
                                </a:rPr>
                                <m:t>)</m:t>
                              </m:r>
                            </m:e>
                            <m:sup>
                              <m:r>
                                <a:rPr lang="vi-VN" i="1">
                                  <a:latin typeface="Cambria Math" panose="02040503050406030204" pitchFamily="18" charset="0"/>
                                  <a:ea typeface="Cambria Math" panose="02040503050406030204" pitchFamily="18" charset="0"/>
                                </a:rPr>
                                <m:t>2</m:t>
                              </m:r>
                            </m:sup>
                          </m:sSup>
                        </m:e>
                      </m:nary>
                    </m:oMath>
                  </m:oMathPara>
                </a14:m>
                <a:endParaRPr lang="vi-VN"/>
              </a:p>
              <a:p>
                <a:pPr lvl="1"/>
                <a:endParaRPr lang="vi-VN"/>
              </a:p>
              <a:p>
                <a:pPr lvl="1"/>
                <a:endParaRPr lang="vi-VN"/>
              </a:p>
            </p:txBody>
          </p:sp>
        </mc:Choice>
        <mc:Fallback xmlns="">
          <p:sp>
            <p:nvSpPr>
              <p:cNvPr id="3" name="Content Placeholder 2">
                <a:extLst>
                  <a:ext uri="{FF2B5EF4-FFF2-40B4-BE49-F238E27FC236}">
                    <a16:creationId xmlns:a16="http://schemas.microsoft.com/office/drawing/2014/main" id="{5B37C206-993D-DE64-1B2F-92E736214F62}"/>
                  </a:ext>
                </a:extLst>
              </p:cNvPr>
              <p:cNvSpPr>
                <a:spLocks noGrp="1" noRot="1" noChangeAspect="1" noMove="1" noResize="1" noEditPoints="1" noAdjustHandles="1" noChangeArrowheads="1" noChangeShapeType="1" noTextEdit="1"/>
              </p:cNvSpPr>
              <p:nvPr>
                <p:ph idx="1"/>
              </p:nvPr>
            </p:nvSpPr>
            <p:spPr>
              <a:blipFill>
                <a:blip r:embed="rId2"/>
                <a:stretch>
                  <a:fillRect l="-1043" t="-2203"/>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C79EC42E-2BBC-A4E1-C8F7-3FFBD79ABB93}"/>
              </a:ext>
            </a:extLst>
          </p:cNvPr>
          <p:cNvSpPr>
            <a:spLocks noGrp="1"/>
          </p:cNvSpPr>
          <p:nvPr>
            <p:ph type="sldNum" sz="quarter" idx="12"/>
          </p:nvPr>
        </p:nvSpPr>
        <p:spPr/>
        <p:txBody>
          <a:bodyPr/>
          <a:lstStyle/>
          <a:p>
            <a:fld id="{4ED22EA6-6E07-498D-89D0-2FA887FD1E5C}" type="slidenum">
              <a:rPr lang="vi-VN" smtClean="0"/>
              <a:t>30</a:t>
            </a:fld>
            <a:endParaRPr lang="vi-VN"/>
          </a:p>
        </p:txBody>
      </p:sp>
    </p:spTree>
    <p:extLst>
      <p:ext uri="{BB962C8B-B14F-4D97-AF65-F5344CB8AC3E}">
        <p14:creationId xmlns:p14="http://schemas.microsoft.com/office/powerpoint/2010/main" val="33434882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61DDE-A078-B73D-58B1-057711F5A225}"/>
              </a:ext>
            </a:extLst>
          </p:cNvPr>
          <p:cNvSpPr>
            <a:spLocks noGrp="1"/>
          </p:cNvSpPr>
          <p:nvPr>
            <p:ph type="title"/>
          </p:nvPr>
        </p:nvSpPr>
        <p:spPr/>
        <p:txBody>
          <a:bodyPr>
            <a:normAutofit/>
          </a:bodyPr>
          <a:lstStyle/>
          <a:p>
            <a:r>
              <a:rPr lang="vi-VN"/>
              <a:t>V. Kết quả và đánh giá</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8178D2-3397-D18A-88AA-C8BC21572C89}"/>
                  </a:ext>
                </a:extLst>
              </p:cNvPr>
              <p:cNvSpPr>
                <a:spLocks noGrp="1"/>
              </p:cNvSpPr>
              <p:nvPr>
                <p:ph idx="1"/>
              </p:nvPr>
            </p:nvSpPr>
            <p:spPr/>
            <p:txBody>
              <a:bodyPr/>
              <a:lstStyle/>
              <a:p>
                <a:r>
                  <a:rPr lang="vi-VN" b="1" dirty="0"/>
                  <a:t>Độ chính xác </a:t>
                </a:r>
                <a:r>
                  <a:rPr lang="vi-VN" b="1" dirty="0" err="1"/>
                  <a:t>one-shot</a:t>
                </a:r>
                <a:r>
                  <a:rPr lang="vi-VN" dirty="0"/>
                  <a:t>:</a:t>
                </a:r>
              </a:p>
              <a:p>
                <a:pPr lvl="1"/>
                <a:r>
                  <a:rPr lang="vi-VN" dirty="0"/>
                  <a:t>Với </a:t>
                </a:r>
                <a14:m>
                  <m:oMath xmlns:m="http://schemas.openxmlformats.org/officeDocument/2006/math">
                    <m:r>
                      <m:rPr>
                        <m:sty m:val="p"/>
                      </m:rPr>
                      <a:rPr lang="vi-VN" i="1">
                        <a:latin typeface="Cambria Math" panose="02040503050406030204" pitchFamily="18" charset="0"/>
                      </a:rPr>
                      <m:t>M</m:t>
                    </m:r>
                    <m:r>
                      <a:rPr lang="vi-VN" b="0" i="1" smtClean="0">
                        <a:latin typeface="Cambria Math" panose="02040503050406030204" pitchFamily="18" charset="0"/>
                      </a:rPr>
                      <m:t>=</m:t>
                    </m:r>
                    <m:r>
                      <a:rPr lang="vi-VN" i="1">
                        <a:latin typeface="Cambria Math" panose="02040503050406030204" pitchFamily="18" charset="0"/>
                      </a:rPr>
                      <m:t>100</m:t>
                    </m:r>
                  </m:oMath>
                </a14:m>
                <a:r>
                  <a:rPr lang="vi-VN" dirty="0"/>
                  <a:t> truy vấn độc lập, </a:t>
                </a:r>
                <a:r>
                  <a:rPr lang="en-US" dirty="0" err="1"/>
                  <a:t>hệ</a:t>
                </a:r>
                <a:r>
                  <a:rPr lang="en-US" dirty="0"/>
                  <a:t> </a:t>
                </a:r>
                <a:r>
                  <a:rPr lang="en-US" dirty="0" err="1"/>
                  <a:t>thống</a:t>
                </a:r>
                <a:r>
                  <a:rPr lang="en-US" dirty="0"/>
                  <a:t> </a:t>
                </a:r>
                <a:r>
                  <a:rPr lang="en-US" dirty="0" err="1"/>
                  <a:t>trả</a:t>
                </a:r>
                <a:r>
                  <a:rPr lang="en-US" dirty="0"/>
                  <a:t> </a:t>
                </a:r>
                <a:r>
                  <a:rPr lang="en-US" dirty="0" err="1"/>
                  <a:t>lời</a:t>
                </a:r>
                <a:r>
                  <a:rPr lang="en-US" dirty="0"/>
                  <a:t> 1 </a:t>
                </a:r>
                <a:r>
                  <a:rPr lang="en-US" dirty="0" err="1"/>
                  <a:t>lần</a:t>
                </a:r>
                <a:r>
                  <a:rPr lang="en-US" dirty="0"/>
                  <a:t> </a:t>
                </a:r>
                <a:r>
                  <a:rPr lang="en-US" dirty="0" err="1"/>
                  <a:t>cho</a:t>
                </a:r>
                <a:r>
                  <a:rPr lang="en-US" dirty="0"/>
                  <a:t> </a:t>
                </a:r>
                <a:r>
                  <a:rPr lang="en-US" dirty="0" err="1"/>
                  <a:t>mỗi</a:t>
                </a:r>
                <a:r>
                  <a:rPr lang="en-US" dirty="0"/>
                  <a:t> </a:t>
                </a:r>
                <a:r>
                  <a:rPr lang="en-US" dirty="0" err="1"/>
                  <a:t>truy</a:t>
                </a:r>
                <a:r>
                  <a:rPr lang="en-US" dirty="0"/>
                  <a:t> </a:t>
                </a:r>
                <a:r>
                  <a:rPr lang="en-US" dirty="0" err="1"/>
                  <a:t>vấn</a:t>
                </a:r>
                <a:r>
                  <a:rPr lang="en-US" dirty="0"/>
                  <a:t>, </a:t>
                </a:r>
                <a:r>
                  <a:rPr lang="en-US" dirty="0" err="1"/>
                  <a:t>đánh</a:t>
                </a:r>
                <a:r>
                  <a:rPr lang="en-US" dirty="0"/>
                  <a:t> </a:t>
                </a:r>
                <a:r>
                  <a:rPr lang="en-US" dirty="0" err="1"/>
                  <a:t>giá</a:t>
                </a:r>
                <a:r>
                  <a:rPr lang="en-US" dirty="0"/>
                  <a:t> </a:t>
                </a:r>
                <a:r>
                  <a:rPr lang="en-US" dirty="0" err="1"/>
                  <a:t>viên</a:t>
                </a:r>
                <a:r>
                  <a:rPr lang="en-US" dirty="0"/>
                  <a:t> </a:t>
                </a:r>
                <a:r>
                  <a:rPr lang="en-US" dirty="0" err="1"/>
                  <a:t>gán</a:t>
                </a:r>
                <a:r>
                  <a:rPr lang="en-US" dirty="0"/>
                  <a:t> </a:t>
                </a:r>
                <a:r>
                  <a:rPr lang="en-US" dirty="0" err="1"/>
                  <a:t>điểm</a:t>
                </a:r>
                <a:r>
                  <a:rPr lang="en-US" dirty="0"/>
                  <a:t> </a:t>
                </a:r>
                <a:r>
                  <a:rPr lang="en-US" dirty="0" err="1"/>
                  <a:t>số</a:t>
                </a:r>
                <a:r>
                  <a:rPr lang="en-US" dirty="0"/>
                  <a:t> từ 1 đến 10 </a:t>
                </a:r>
                <a:r>
                  <a:rPr lang="en-US" dirty="0" err="1"/>
                  <a:t>cho</a:t>
                </a:r>
                <a:r>
                  <a:rPr lang="en-US" dirty="0"/>
                  <a:t> </a:t>
                </a:r>
                <a:r>
                  <a:rPr lang="en-US" dirty="0" err="1"/>
                  <a:t>từng</a:t>
                </a:r>
                <a:r>
                  <a:rPr lang="en-US" dirty="0"/>
                  <a:t> </a:t>
                </a:r>
                <a:r>
                  <a:rPr lang="en-US" dirty="0" err="1"/>
                  <a:t>phản</a:t>
                </a:r>
                <a:r>
                  <a:rPr lang="en-US" dirty="0"/>
                  <a:t> </a:t>
                </a:r>
                <a:r>
                  <a:rPr lang="en-US" dirty="0" err="1"/>
                  <a:t>hồi</a:t>
                </a:r>
                <a:r>
                  <a:rPr lang="en-US" dirty="0"/>
                  <a:t>.</a:t>
                </a:r>
                <a:endParaRPr lang="vi-VN" dirty="0"/>
              </a:p>
              <a:p>
                <a:pPr marL="457200" lvl="1" indent="0">
                  <a:buNone/>
                </a:pPr>
                <a:endParaRPr lang="vi-VN" dirty="0"/>
              </a:p>
              <a:p>
                <a:pPr marL="457200" lvl="1" indent="0">
                  <a:buNone/>
                </a:pPr>
                <a14:m>
                  <m:oMathPara xmlns:m="http://schemas.openxmlformats.org/officeDocument/2006/math">
                    <m:oMathParaPr>
                      <m:jc m:val="centerGroup"/>
                    </m:oMathParaPr>
                    <m:oMath xmlns:m="http://schemas.openxmlformats.org/officeDocument/2006/math">
                      <m:r>
                        <m:rPr>
                          <m:sty m:val="p"/>
                        </m:rPr>
                        <a:rPr lang="vi-VN" i="1" smtClean="0">
                          <a:latin typeface="Cambria Math" panose="02040503050406030204" pitchFamily="18" charset="0"/>
                        </a:rPr>
                        <m:t>OneShotAcc</m:t>
                      </m:r>
                      <m:r>
                        <a:rPr lang="vi-VN" b="0" i="1" smtClean="0">
                          <a:latin typeface="Cambria Math" panose="02040503050406030204" pitchFamily="18" charset="0"/>
                        </a:rPr>
                        <m:t>=</m:t>
                      </m:r>
                      <m:f>
                        <m:fPr>
                          <m:ctrlPr>
                            <a:rPr lang="vi-VN" b="0" i="1" smtClean="0">
                              <a:latin typeface="Cambria Math" panose="02040503050406030204" pitchFamily="18" charset="0"/>
                            </a:rPr>
                          </m:ctrlPr>
                        </m:fPr>
                        <m:num>
                          <m:r>
                            <a:rPr lang="vi-VN" i="1">
                              <a:latin typeface="Cambria Math" panose="02040503050406030204" pitchFamily="18" charset="0"/>
                            </a:rPr>
                            <m:t>1</m:t>
                          </m:r>
                        </m:num>
                        <m:den>
                          <m:r>
                            <m:rPr>
                              <m:sty m:val="p"/>
                            </m:rPr>
                            <a:rPr lang="vi-VN" i="1">
                              <a:latin typeface="Cambria Math" panose="02040503050406030204" pitchFamily="18" charset="0"/>
                            </a:rPr>
                            <m:t>M</m:t>
                          </m:r>
                        </m:den>
                      </m:f>
                      <m:nary>
                        <m:naryPr>
                          <m:chr m:val="∑"/>
                          <m:limLoc m:val="subSup"/>
                          <m:ctrlPr>
                            <a:rPr lang="vi-VN" b="0" i="1" smtClean="0">
                              <a:latin typeface="Cambria Math" panose="02040503050406030204" pitchFamily="18" charset="0"/>
                            </a:rPr>
                          </m:ctrlPr>
                        </m:naryPr>
                        <m:sub>
                          <m:r>
                            <m:rPr>
                              <m:sty m:val="p"/>
                              <m:brk m:alnAt="25"/>
                            </m:rPr>
                            <a:rPr lang="vi-VN" i="1">
                              <a:latin typeface="Cambria Math" panose="02040503050406030204" pitchFamily="18" charset="0"/>
                            </a:rPr>
                            <m:t>i</m:t>
                          </m:r>
                          <m:r>
                            <a:rPr lang="vi-VN" b="0" i="1" smtClean="0">
                              <a:latin typeface="Cambria Math" panose="02040503050406030204" pitchFamily="18" charset="0"/>
                            </a:rPr>
                            <m:t>=</m:t>
                          </m:r>
                          <m:r>
                            <a:rPr lang="vi-VN" i="1">
                              <a:latin typeface="Cambria Math" panose="02040503050406030204" pitchFamily="18" charset="0"/>
                            </a:rPr>
                            <m:t>1</m:t>
                          </m:r>
                        </m:sub>
                        <m:sup>
                          <m:r>
                            <m:rPr>
                              <m:sty m:val="p"/>
                            </m:rPr>
                            <a:rPr lang="vi-VN" i="1">
                              <a:latin typeface="Cambria Math" panose="02040503050406030204" pitchFamily="18" charset="0"/>
                            </a:rPr>
                            <m:t>M</m:t>
                          </m:r>
                        </m:sup>
                        <m:e>
                          <m:sSub>
                            <m:sSubPr>
                              <m:ctrlPr>
                                <a:rPr lang="vi-VN" b="0" i="1" smtClean="0">
                                  <a:latin typeface="Cambria Math" panose="02040503050406030204" pitchFamily="18" charset="0"/>
                                </a:rPr>
                              </m:ctrlPr>
                            </m:sSubPr>
                            <m:e>
                              <m:r>
                                <m:rPr>
                                  <m:sty m:val="p"/>
                                </m:rPr>
                                <a:rPr lang="vi-VN" i="1">
                                  <a:latin typeface="Cambria Math" panose="02040503050406030204" pitchFamily="18" charset="0"/>
                                </a:rPr>
                                <m:t>c</m:t>
                              </m:r>
                            </m:e>
                            <m:sub>
                              <m:r>
                                <m:rPr>
                                  <m:sty m:val="p"/>
                                </m:rPr>
                                <a:rPr lang="vi-VN" i="1">
                                  <a:latin typeface="Cambria Math" panose="02040503050406030204" pitchFamily="18" charset="0"/>
                                </a:rPr>
                                <m:t>i</m:t>
                              </m:r>
                            </m:sub>
                          </m:sSub>
                        </m:e>
                      </m:nary>
                    </m:oMath>
                  </m:oMathPara>
                </a14:m>
                <a:endParaRPr lang="vi-VN" dirty="0"/>
              </a:p>
            </p:txBody>
          </p:sp>
        </mc:Choice>
        <mc:Fallback xmlns="">
          <p:sp>
            <p:nvSpPr>
              <p:cNvPr id="3" name="Content Placeholder 2">
                <a:extLst>
                  <a:ext uri="{FF2B5EF4-FFF2-40B4-BE49-F238E27FC236}">
                    <a16:creationId xmlns:a16="http://schemas.microsoft.com/office/drawing/2014/main" id="{378178D2-3397-D18A-88AA-C8BC21572C89}"/>
                  </a:ext>
                </a:extLst>
              </p:cNvPr>
              <p:cNvSpPr>
                <a:spLocks noGrp="1" noRot="1" noChangeAspect="1" noMove="1" noResize="1" noEditPoints="1" noAdjustHandles="1" noChangeArrowheads="1" noChangeShapeType="1" noTextEdit="1"/>
              </p:cNvSpPr>
              <p:nvPr>
                <p:ph idx="1"/>
              </p:nvPr>
            </p:nvSpPr>
            <p:spPr>
              <a:blipFill>
                <a:blip r:embed="rId2"/>
                <a:stretch>
                  <a:fillRect l="-1043" t="-220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C4E8126-86EC-212C-7F34-99DD3A479313}"/>
              </a:ext>
            </a:extLst>
          </p:cNvPr>
          <p:cNvSpPr>
            <a:spLocks noGrp="1"/>
          </p:cNvSpPr>
          <p:nvPr>
            <p:ph type="sldNum" sz="quarter" idx="12"/>
          </p:nvPr>
        </p:nvSpPr>
        <p:spPr/>
        <p:txBody>
          <a:bodyPr/>
          <a:lstStyle/>
          <a:p>
            <a:fld id="{4ED22EA6-6E07-498D-89D0-2FA887FD1E5C}" type="slidenum">
              <a:rPr lang="vi-VN" smtClean="0"/>
              <a:t>31</a:t>
            </a:fld>
            <a:endParaRPr lang="vi-VN"/>
          </a:p>
        </p:txBody>
      </p:sp>
    </p:spTree>
    <p:extLst>
      <p:ext uri="{BB962C8B-B14F-4D97-AF65-F5344CB8AC3E}">
        <p14:creationId xmlns:p14="http://schemas.microsoft.com/office/powerpoint/2010/main" val="415978029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4AD92-8483-7AB3-D77D-A3A1D8169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EB8469-89C8-F3E8-2209-3EAF0DBE2CCD}"/>
              </a:ext>
            </a:extLst>
          </p:cNvPr>
          <p:cNvSpPr>
            <a:spLocks noGrp="1"/>
          </p:cNvSpPr>
          <p:nvPr>
            <p:ph type="title"/>
          </p:nvPr>
        </p:nvSpPr>
        <p:spPr/>
        <p:txBody>
          <a:bodyPr>
            <a:normAutofit/>
          </a:bodyPr>
          <a:lstStyle/>
          <a:p>
            <a:r>
              <a:rPr lang="vi-VN"/>
              <a:t>V. Kết quả và đánh giá</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8D9E34-403F-69B7-6996-449C905422AF}"/>
                  </a:ext>
                </a:extLst>
              </p:cNvPr>
              <p:cNvSpPr>
                <a:spLocks noGrp="1"/>
              </p:cNvSpPr>
              <p:nvPr>
                <p:ph idx="1"/>
              </p:nvPr>
            </p:nvSpPr>
            <p:spPr/>
            <p:txBody>
              <a:bodyPr/>
              <a:lstStyle/>
              <a:p>
                <a:r>
                  <a:rPr lang="vi-VN"/>
                  <a:t>Độ chính xác one-shot:</a:t>
                </a:r>
              </a:p>
              <a:p>
                <a:pPr lvl="1"/>
                <a:r>
                  <a:rPr lang="vi-VN"/>
                  <a:t>Độ lệch chuẩn:</a:t>
                </a:r>
              </a:p>
              <a:p>
                <a:pPr lvl="1"/>
                <a14:m>
                  <m:oMath xmlns:m="http://schemas.openxmlformats.org/officeDocument/2006/math">
                    <m:r>
                      <a:rPr lang="vi-VN">
                        <a:latin typeface="Cambria Math" panose="02040503050406030204" pitchFamily="18" charset="0"/>
                      </a:rPr>
                      <m:t>𝜎</m:t>
                    </m:r>
                    <m:r>
                      <m:rPr>
                        <m:sty m:val="p"/>
                      </m:rPr>
                      <a:rPr lang="vi-VN" smtClean="0">
                        <a:latin typeface="Cambria Math" panose="02040503050406030204" pitchFamily="18" charset="0"/>
                      </a:rPr>
                      <m:t>OneShotAcc</m:t>
                    </m:r>
                    <m:r>
                      <a:rPr lang="vi-VN">
                        <a:latin typeface="Cambria Math" panose="02040503050406030204" pitchFamily="18" charset="0"/>
                      </a:rPr>
                      <m:t>= </m:t>
                    </m:r>
                    <m:rad>
                      <m:radPr>
                        <m:degHide m:val="on"/>
                        <m:ctrlPr>
                          <a:rPr lang="vi-VN" i="1">
                            <a:latin typeface="Cambria Math" panose="02040503050406030204" pitchFamily="18" charset="0"/>
                          </a:rPr>
                        </m:ctrlPr>
                      </m:radPr>
                      <m:deg/>
                      <m:e>
                        <m:f>
                          <m:fPr>
                            <m:ctrlPr>
                              <a:rPr lang="vi-VN" i="1">
                                <a:latin typeface="Cambria Math" panose="02040503050406030204" pitchFamily="18" charset="0"/>
                              </a:rPr>
                            </m:ctrlPr>
                          </m:fPr>
                          <m:num>
                            <m:r>
                              <a:rPr lang="vi-VN">
                                <a:latin typeface="Cambria Math" panose="02040503050406030204" pitchFamily="18" charset="0"/>
                              </a:rPr>
                              <m:t>1</m:t>
                            </m:r>
                          </m:num>
                          <m:den>
                            <m:r>
                              <m:rPr>
                                <m:sty m:val="p"/>
                              </m:rPr>
                              <a:rPr lang="vi-VN">
                                <a:latin typeface="Cambria Math" panose="02040503050406030204" pitchFamily="18" charset="0"/>
                              </a:rPr>
                              <m:t>M</m:t>
                            </m:r>
                            <m:r>
                              <a:rPr lang="vi-VN">
                                <a:latin typeface="Cambria Math" panose="02040503050406030204" pitchFamily="18" charset="0"/>
                              </a:rPr>
                              <m:t>−1</m:t>
                            </m:r>
                          </m:den>
                        </m:f>
                      </m:e>
                    </m:rad>
                    <m:nary>
                      <m:naryPr>
                        <m:chr m:val="∑"/>
                        <m:limLoc m:val="subSup"/>
                        <m:ctrlPr>
                          <a:rPr lang="vi-VN" i="1">
                            <a:latin typeface="Cambria Math" panose="02040503050406030204" pitchFamily="18" charset="0"/>
                          </a:rPr>
                        </m:ctrlPr>
                      </m:naryPr>
                      <m:sub>
                        <m:r>
                          <m:rPr>
                            <m:sty m:val="p"/>
                            <m:brk m:alnAt="1"/>
                          </m:rPr>
                          <a:rPr lang="vi-VN">
                            <a:latin typeface="Cambria Math" panose="02040503050406030204" pitchFamily="18" charset="0"/>
                          </a:rPr>
                          <m:t>i</m:t>
                        </m:r>
                        <m:r>
                          <a:rPr lang="vi-VN">
                            <a:latin typeface="Cambria Math" panose="02040503050406030204" pitchFamily="18" charset="0"/>
                          </a:rPr>
                          <m:t>=1</m:t>
                        </m:r>
                      </m:sub>
                      <m:sup>
                        <m:r>
                          <m:rPr>
                            <m:sty m:val="p"/>
                          </m:rPr>
                          <a:rPr lang="vi-VN">
                            <a:latin typeface="Cambria Math" panose="02040503050406030204" pitchFamily="18" charset="0"/>
                          </a:rPr>
                          <m:t>S</m:t>
                        </m:r>
                      </m:sup>
                      <m:e>
                        <m:sSup>
                          <m:sSupPr>
                            <m:ctrlPr>
                              <a:rPr lang="vi-VN" i="1">
                                <a:latin typeface="Cambria Math" panose="02040503050406030204" pitchFamily="18" charset="0"/>
                              </a:rPr>
                            </m:ctrlPr>
                          </m:sSupPr>
                          <m:e>
                            <m:r>
                              <a:rPr lang="vi-VN">
                                <a:latin typeface="Cambria Math" panose="02040503050406030204" pitchFamily="18" charset="0"/>
                              </a:rPr>
                              <m:t>(</m:t>
                            </m:r>
                            <m:sSub>
                              <m:sSubPr>
                                <m:ctrlPr>
                                  <a:rPr lang="vi-VN" i="1" smtClean="0">
                                    <a:latin typeface="Cambria Math" panose="02040503050406030204" pitchFamily="18" charset="0"/>
                                  </a:rPr>
                                </m:ctrlPr>
                              </m:sSubPr>
                              <m:e>
                                <m:r>
                                  <m:rPr>
                                    <m:sty m:val="p"/>
                                  </m:rPr>
                                  <a:rPr lang="vi-VN">
                                    <a:latin typeface="Cambria Math" panose="02040503050406030204" pitchFamily="18" charset="0"/>
                                  </a:rPr>
                                  <m:t>c</m:t>
                                </m:r>
                              </m:e>
                              <m:sub>
                                <m:r>
                                  <m:rPr>
                                    <m:sty m:val="p"/>
                                  </m:rPr>
                                  <a:rPr lang="vi-VN">
                                    <a:latin typeface="Cambria Math" panose="02040503050406030204" pitchFamily="18" charset="0"/>
                                  </a:rPr>
                                  <m:t>i</m:t>
                                </m:r>
                              </m:sub>
                            </m:sSub>
                            <m:r>
                              <a:rPr lang="vi-VN">
                                <a:latin typeface="Cambria Math" panose="02040503050406030204" pitchFamily="18" charset="0"/>
                              </a:rPr>
                              <m:t>−</m:t>
                            </m:r>
                            <m:r>
                              <m:rPr>
                                <m:sty m:val="p"/>
                              </m:rPr>
                              <a:rPr lang="vi-VN">
                                <a:latin typeface="Cambria Math" panose="02040503050406030204" pitchFamily="18" charset="0"/>
                              </a:rPr>
                              <m:t>OneShotAcc</m:t>
                            </m:r>
                            <m:r>
                              <a:rPr lang="vi-VN">
                                <a:latin typeface="Cambria Math" panose="02040503050406030204" pitchFamily="18" charset="0"/>
                              </a:rPr>
                              <m:t>)</m:t>
                            </m:r>
                          </m:e>
                          <m:sup>
                            <m:r>
                              <a:rPr lang="vi-VN">
                                <a:latin typeface="Cambria Math" panose="02040503050406030204" pitchFamily="18" charset="0"/>
                              </a:rPr>
                              <m:t>2</m:t>
                            </m:r>
                          </m:sup>
                        </m:sSup>
                      </m:e>
                    </m:nary>
                  </m:oMath>
                </a14:m>
                <a:endParaRPr lang="vi-VN"/>
              </a:p>
              <a:p>
                <a:pPr lvl="1"/>
                <a:endParaRPr lang="vi-VN"/>
              </a:p>
            </p:txBody>
          </p:sp>
        </mc:Choice>
        <mc:Fallback xmlns="">
          <p:sp>
            <p:nvSpPr>
              <p:cNvPr id="3" name="Content Placeholder 2">
                <a:extLst>
                  <a:ext uri="{FF2B5EF4-FFF2-40B4-BE49-F238E27FC236}">
                    <a16:creationId xmlns:a16="http://schemas.microsoft.com/office/drawing/2014/main" id="{BD8D9E34-403F-69B7-6996-449C905422AF}"/>
                  </a:ext>
                </a:extLst>
              </p:cNvPr>
              <p:cNvSpPr>
                <a:spLocks noGrp="1" noRot="1" noChangeAspect="1" noMove="1" noResize="1" noEditPoints="1" noAdjustHandles="1" noChangeArrowheads="1" noChangeShapeType="1" noTextEdit="1"/>
              </p:cNvSpPr>
              <p:nvPr>
                <p:ph idx="1"/>
              </p:nvPr>
            </p:nvSpPr>
            <p:spPr>
              <a:blipFill>
                <a:blip r:embed="rId2"/>
                <a:stretch>
                  <a:fillRect l="-1043" t="-2203"/>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3929C89F-0B71-B17F-1A26-20DAF9C9EC23}"/>
              </a:ext>
            </a:extLst>
          </p:cNvPr>
          <p:cNvSpPr>
            <a:spLocks noGrp="1"/>
          </p:cNvSpPr>
          <p:nvPr>
            <p:ph type="sldNum" sz="quarter" idx="12"/>
          </p:nvPr>
        </p:nvSpPr>
        <p:spPr/>
        <p:txBody>
          <a:bodyPr/>
          <a:lstStyle/>
          <a:p>
            <a:fld id="{4ED22EA6-6E07-498D-89D0-2FA887FD1E5C}" type="slidenum">
              <a:rPr lang="vi-VN" smtClean="0"/>
              <a:t>32</a:t>
            </a:fld>
            <a:endParaRPr lang="vi-VN"/>
          </a:p>
        </p:txBody>
      </p:sp>
    </p:spTree>
    <p:extLst>
      <p:ext uri="{BB962C8B-B14F-4D97-AF65-F5344CB8AC3E}">
        <p14:creationId xmlns:p14="http://schemas.microsoft.com/office/powerpoint/2010/main" val="370427601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1B6C4-EC21-47D8-0AC2-1BA89E76B5B2}"/>
              </a:ext>
            </a:extLst>
          </p:cNvPr>
          <p:cNvSpPr>
            <a:spLocks noGrp="1"/>
          </p:cNvSpPr>
          <p:nvPr>
            <p:ph type="title"/>
          </p:nvPr>
        </p:nvSpPr>
        <p:spPr/>
        <p:txBody>
          <a:bodyPr>
            <a:normAutofit/>
          </a:bodyPr>
          <a:lstStyle/>
          <a:p>
            <a:r>
              <a:rPr lang="vi-VN"/>
              <a:t>V. Kết quả và đánh giá</a:t>
            </a:r>
          </a:p>
        </p:txBody>
      </p:sp>
      <p:graphicFrame>
        <p:nvGraphicFramePr>
          <p:cNvPr id="6" name="Chỗ dành sẵn cho Nội dung 5">
            <a:extLst>
              <a:ext uri="{FF2B5EF4-FFF2-40B4-BE49-F238E27FC236}">
                <a16:creationId xmlns:a16="http://schemas.microsoft.com/office/drawing/2014/main" id="{AC1759D8-3A99-6469-C2F1-B52F74AC9564}"/>
              </a:ext>
            </a:extLst>
          </p:cNvPr>
          <p:cNvGraphicFramePr>
            <a:graphicFrameLocks noGrp="1"/>
          </p:cNvGraphicFramePr>
          <p:nvPr>
            <p:ph idx="1"/>
            <p:extLst>
              <p:ext uri="{D42A27DB-BD31-4B8C-83A1-F6EECF244321}">
                <p14:modId xmlns:p14="http://schemas.microsoft.com/office/powerpoint/2010/main" val="3057695870"/>
              </p:ext>
            </p:extLst>
          </p:nvPr>
        </p:nvGraphicFramePr>
        <p:xfrm>
          <a:off x="838200" y="1930866"/>
          <a:ext cx="10515600" cy="19812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974202303"/>
                    </a:ext>
                  </a:extLst>
                </a:gridCol>
                <a:gridCol w="2103120">
                  <a:extLst>
                    <a:ext uri="{9D8B030D-6E8A-4147-A177-3AD203B41FA5}">
                      <a16:colId xmlns:a16="http://schemas.microsoft.com/office/drawing/2014/main" val="4041585590"/>
                    </a:ext>
                  </a:extLst>
                </a:gridCol>
                <a:gridCol w="2103120">
                  <a:extLst>
                    <a:ext uri="{9D8B030D-6E8A-4147-A177-3AD203B41FA5}">
                      <a16:colId xmlns:a16="http://schemas.microsoft.com/office/drawing/2014/main" val="417388301"/>
                    </a:ext>
                  </a:extLst>
                </a:gridCol>
                <a:gridCol w="2103120">
                  <a:extLst>
                    <a:ext uri="{9D8B030D-6E8A-4147-A177-3AD203B41FA5}">
                      <a16:colId xmlns:a16="http://schemas.microsoft.com/office/drawing/2014/main" val="1491150681"/>
                    </a:ext>
                  </a:extLst>
                </a:gridCol>
                <a:gridCol w="2103120">
                  <a:extLst>
                    <a:ext uri="{9D8B030D-6E8A-4147-A177-3AD203B41FA5}">
                      <a16:colId xmlns:a16="http://schemas.microsoft.com/office/drawing/2014/main" val="1487681724"/>
                    </a:ext>
                  </a:extLst>
                </a:gridCol>
              </a:tblGrid>
              <a:tr h="370840">
                <a:tc rowSpan="2">
                  <a:txBody>
                    <a:bodyPr/>
                    <a:lstStyle/>
                    <a:p>
                      <a:pPr algn="ctr"/>
                      <a:r>
                        <a:rPr lang="en-US" sz="2000" dirty="0" err="1">
                          <a:latin typeface="Times New Roman" panose="02020603050405020304" pitchFamily="18" charset="0"/>
                          <a:cs typeface="Times New Roman" panose="02020603050405020304" pitchFamily="18" charset="0"/>
                        </a:rPr>
                        <a:t>Mốc</a:t>
                      </a:r>
                      <a:endParaRPr lang="en-US" sz="2000" dirty="0">
                        <a:latin typeface="Times New Roman" panose="02020603050405020304" pitchFamily="18" charset="0"/>
                        <a:cs typeface="Times New Roman" panose="02020603050405020304" pitchFamily="18" charset="0"/>
                      </a:endParaRPr>
                    </a:p>
                  </a:txBody>
                  <a:tcPr/>
                </a:tc>
                <a:tc gridSpan="2">
                  <a:txBody>
                    <a:bodyPr/>
                    <a:lstStyle/>
                    <a:p>
                      <a:pPr algn="ctr"/>
                      <a:r>
                        <a:rPr lang="en-US" sz="2000" dirty="0" err="1">
                          <a:latin typeface="Times New Roman" panose="02020603050405020304" pitchFamily="18" charset="0"/>
                          <a:cs typeface="Times New Roman" panose="02020603050405020304" pitchFamily="18" charset="0"/>
                        </a:rPr>
                        <a:t>Độ</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thiện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cảm</a:t>
                      </a:r>
                      <a:endParaRPr lang="en-US" sz="2000" dirty="0">
                        <a:latin typeface="Times New Roman" panose="02020603050405020304" pitchFamily="18" charset="0"/>
                        <a:cs typeface="Times New Roman" panose="02020603050405020304" pitchFamily="18" charset="0"/>
                      </a:endParaRPr>
                    </a:p>
                  </a:txBody>
                  <a:tcPr/>
                </a:tc>
                <a:tc hMerge="1">
                  <a:txBody>
                    <a:bodyPr/>
                    <a:lstStyle/>
                    <a:p>
                      <a:endParaRPr lang="en-US" dirty="0"/>
                    </a:p>
                  </a:txBody>
                  <a:tcPr/>
                </a:tc>
                <a:tc gridSpan="2">
                  <a:txBody>
                    <a:bodyPr/>
                    <a:lstStyle/>
                    <a:p>
                      <a:pPr algn="ctr"/>
                      <a:r>
                        <a:rPr lang="en-US" sz="2000" dirty="0" err="1">
                          <a:latin typeface="Times New Roman" panose="02020603050405020304" pitchFamily="18" charset="0"/>
                          <a:cs typeface="Times New Roman" panose="02020603050405020304" pitchFamily="18" charset="0"/>
                        </a:rPr>
                        <a:t>Độ</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chính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xác</a:t>
                      </a:r>
                      <a:endParaRPr lang="en-US" sz="2000" dirty="0">
                        <a:latin typeface="Times New Roman" panose="02020603050405020304" pitchFamily="18" charset="0"/>
                        <a:cs typeface="Times New Roman" panose="02020603050405020304" pitchFamily="18" charset="0"/>
                      </a:endParaRPr>
                    </a:p>
                  </a:txBody>
                  <a:tcPr/>
                </a:tc>
                <a:tc hMerge="1">
                  <a:txBody>
                    <a:bodyPr/>
                    <a:lstStyle/>
                    <a:p>
                      <a:endParaRPr lang="en-US" dirty="0"/>
                    </a:p>
                  </a:txBody>
                  <a:tcPr/>
                </a:tc>
                <a:extLst>
                  <a:ext uri="{0D108BD9-81ED-4DB2-BD59-A6C34878D82A}">
                    <a16:rowId xmlns:a16="http://schemas.microsoft.com/office/drawing/2014/main" val="3428171097"/>
                  </a:ext>
                </a:extLst>
              </a:tr>
              <a:tr h="370840">
                <a:tc vMerge="1">
                  <a:txBody>
                    <a:bodyPr/>
                    <a:lstStyle/>
                    <a:p>
                      <a:endParaRPr lang="en-US" dirty="0"/>
                    </a:p>
                  </a:txBody>
                  <a:tcPr/>
                </a:tc>
                <a:tc>
                  <a:txBody>
                    <a:bodyPr/>
                    <a:lstStyle/>
                    <a:p>
                      <a:pPr algn="ctr"/>
                      <a:r>
                        <a:rPr lang="en-US" sz="2000" dirty="0">
                          <a:latin typeface="Times New Roman" panose="02020603050405020304" pitchFamily="18" charset="0"/>
                          <a:cs typeface="Times New Roman" panose="02020603050405020304" pitchFamily="18" charset="0"/>
                        </a:rPr>
                        <a:t>Trung </a:t>
                      </a:r>
                      <a:r>
                        <a:rPr lang="en-US" sz="2000" dirty="0" err="1">
                          <a:latin typeface="Times New Roman" panose="02020603050405020304" pitchFamily="18" charset="0"/>
                          <a:cs typeface="Times New Roman" panose="02020603050405020304" pitchFamily="18" charset="0"/>
                        </a:rPr>
                        <a:t>bình</a:t>
                      </a:r>
                      <a:endParaRPr lang="en-US"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err="1">
                          <a:latin typeface="Times New Roman" panose="02020603050405020304" pitchFamily="18" charset="0"/>
                          <a:cs typeface="Times New Roman" panose="02020603050405020304" pitchFamily="18" charset="0"/>
                        </a:rPr>
                        <a:t>Độ</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lệch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chuẩn</a:t>
                      </a:r>
                      <a:endParaRPr lang="en-US"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Trung </a:t>
                      </a:r>
                      <a:r>
                        <a:rPr lang="en-US" sz="2000" dirty="0" err="1">
                          <a:latin typeface="Times New Roman" panose="02020603050405020304" pitchFamily="18" charset="0"/>
                          <a:cs typeface="Times New Roman" panose="02020603050405020304" pitchFamily="18" charset="0"/>
                        </a:rPr>
                        <a:t>bình</a:t>
                      </a:r>
                      <a:endParaRPr lang="en-US"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err="1">
                          <a:latin typeface="Times New Roman" panose="02020603050405020304" pitchFamily="18" charset="0"/>
                          <a:cs typeface="Times New Roman" panose="02020603050405020304" pitchFamily="18" charset="0"/>
                        </a:rPr>
                        <a:t>Độ</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lệch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chuẩn</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45317419"/>
                  </a:ext>
                </a:extLst>
              </a:tr>
              <a:tr h="370840">
                <a:tc>
                  <a:txBody>
                    <a:bodyPr/>
                    <a:lstStyle/>
                    <a:p>
                      <a:pPr algn="ctr"/>
                      <a:r>
                        <a:rPr lang="en-US" sz="2000" dirty="0">
                          <a:latin typeface="Times New Roman" panose="02020603050405020304" pitchFamily="18" charset="0"/>
                          <a:cs typeface="Times New Roman" panose="02020603050405020304" pitchFamily="18" charset="0"/>
                        </a:rPr>
                        <a:t>2</a:t>
                      </a:r>
                    </a:p>
                  </a:txBody>
                  <a:tcPr/>
                </a:tc>
                <a:tc>
                  <a:txBody>
                    <a:bodyPr/>
                    <a:lstStyle/>
                    <a:p>
                      <a:pPr algn="ctr"/>
                      <a:r>
                        <a:rPr lang="en-US" sz="2000" dirty="0">
                          <a:latin typeface="Times New Roman" panose="02020603050405020304" pitchFamily="18" charset="0"/>
                          <a:cs typeface="Times New Roman" panose="02020603050405020304" pitchFamily="18" charset="0"/>
                        </a:rPr>
                        <a:t>8.7667</a:t>
                      </a:r>
                    </a:p>
                  </a:txBody>
                  <a:tcPr/>
                </a:tc>
                <a:tc>
                  <a:txBody>
                    <a:bodyPr/>
                    <a:lstStyle/>
                    <a:p>
                      <a:pPr algn="ctr"/>
                      <a:r>
                        <a:rPr lang="en-US" sz="2000" dirty="0">
                          <a:latin typeface="Times New Roman" panose="02020603050405020304" pitchFamily="18" charset="0"/>
                          <a:cs typeface="Times New Roman" panose="02020603050405020304" pitchFamily="18" charset="0"/>
                        </a:rPr>
                        <a:t>0.3278</a:t>
                      </a:r>
                    </a:p>
                  </a:txBody>
                  <a:tcPr/>
                </a:tc>
                <a:tc>
                  <a:txBody>
                    <a:bodyPr/>
                    <a:lstStyle/>
                    <a:p>
                      <a:pPr algn="ctr"/>
                      <a:r>
                        <a:rPr lang="en-US" sz="2000" dirty="0">
                          <a:latin typeface="Times New Roman" panose="02020603050405020304" pitchFamily="18" charset="0"/>
                          <a:cs typeface="Times New Roman" panose="02020603050405020304" pitchFamily="18" charset="0"/>
                        </a:rPr>
                        <a:t>8.6583</a:t>
                      </a:r>
                    </a:p>
                  </a:txBody>
                  <a:tcPr/>
                </a:tc>
                <a:tc>
                  <a:txBody>
                    <a:bodyPr/>
                    <a:lstStyle/>
                    <a:p>
                      <a:pPr algn="ctr"/>
                      <a:r>
                        <a:rPr lang="en-US" sz="2000" dirty="0">
                          <a:latin typeface="Times New Roman" panose="02020603050405020304" pitchFamily="18" charset="0"/>
                          <a:cs typeface="Times New Roman" panose="02020603050405020304" pitchFamily="18" charset="0"/>
                        </a:rPr>
                        <a:t>0.6581</a:t>
                      </a:r>
                    </a:p>
                  </a:txBody>
                  <a:tcPr/>
                </a:tc>
                <a:extLst>
                  <a:ext uri="{0D108BD9-81ED-4DB2-BD59-A6C34878D82A}">
                    <a16:rowId xmlns:a16="http://schemas.microsoft.com/office/drawing/2014/main" val="4203320636"/>
                  </a:ext>
                </a:extLst>
              </a:tr>
              <a:tr h="370840">
                <a:tc>
                  <a:txBody>
                    <a:bodyPr/>
                    <a:lstStyle/>
                    <a:p>
                      <a:pPr algn="ctr"/>
                      <a:r>
                        <a:rPr lang="en-US" sz="2000" dirty="0">
                          <a:latin typeface="Times New Roman" panose="02020603050405020304" pitchFamily="18" charset="0"/>
                          <a:cs typeface="Times New Roman" panose="02020603050405020304" pitchFamily="18" charset="0"/>
                        </a:rPr>
                        <a:t>5</a:t>
                      </a:r>
                    </a:p>
                  </a:txBody>
                  <a:tcPr/>
                </a:tc>
                <a:tc>
                  <a:txBody>
                    <a:bodyPr/>
                    <a:lstStyle/>
                    <a:p>
                      <a:pPr algn="ctr"/>
                      <a:r>
                        <a:rPr lang="en-US" sz="2000" dirty="0">
                          <a:latin typeface="Times New Roman" panose="02020603050405020304" pitchFamily="18" charset="0"/>
                          <a:cs typeface="Times New Roman" panose="02020603050405020304" pitchFamily="18" charset="0"/>
                        </a:rPr>
                        <a:t>8.6917</a:t>
                      </a:r>
                    </a:p>
                  </a:txBody>
                  <a:tcPr/>
                </a:tc>
                <a:tc>
                  <a:txBody>
                    <a:bodyPr/>
                    <a:lstStyle/>
                    <a:p>
                      <a:pPr algn="ctr"/>
                      <a:r>
                        <a:rPr lang="en-US" sz="2000" dirty="0">
                          <a:latin typeface="Times New Roman" panose="02020603050405020304" pitchFamily="18" charset="0"/>
                          <a:cs typeface="Times New Roman" panose="02020603050405020304" pitchFamily="18" charset="0"/>
                        </a:rPr>
                        <a:t>0.2516</a:t>
                      </a:r>
                    </a:p>
                  </a:txBody>
                  <a:tcPr/>
                </a:tc>
                <a:tc>
                  <a:txBody>
                    <a:bodyPr/>
                    <a:lstStyle/>
                    <a:p>
                      <a:pPr algn="ctr"/>
                      <a:r>
                        <a:rPr lang="en-US" sz="2000" dirty="0">
                          <a:latin typeface="Times New Roman" panose="02020603050405020304" pitchFamily="18" charset="0"/>
                          <a:cs typeface="Times New Roman" panose="02020603050405020304" pitchFamily="18" charset="0"/>
                        </a:rPr>
                        <a:t>8.1833</a:t>
                      </a:r>
                    </a:p>
                  </a:txBody>
                  <a:tcPr/>
                </a:tc>
                <a:tc>
                  <a:txBody>
                    <a:bodyPr/>
                    <a:lstStyle/>
                    <a:p>
                      <a:pPr algn="ctr"/>
                      <a:r>
                        <a:rPr lang="en-US" sz="2000" dirty="0">
                          <a:latin typeface="Times New Roman" panose="02020603050405020304" pitchFamily="18" charset="0"/>
                          <a:cs typeface="Times New Roman" panose="02020603050405020304" pitchFamily="18" charset="0"/>
                        </a:rPr>
                        <a:t>0.4777</a:t>
                      </a:r>
                    </a:p>
                  </a:txBody>
                  <a:tcPr/>
                </a:tc>
                <a:extLst>
                  <a:ext uri="{0D108BD9-81ED-4DB2-BD59-A6C34878D82A}">
                    <a16:rowId xmlns:a16="http://schemas.microsoft.com/office/drawing/2014/main" val="1383552061"/>
                  </a:ext>
                </a:extLst>
              </a:tr>
              <a:tr h="370840">
                <a:tc>
                  <a:txBody>
                    <a:bodyPr/>
                    <a:lstStyle/>
                    <a:p>
                      <a:pPr algn="ctr"/>
                      <a:r>
                        <a:rPr lang="en-US" sz="2000" dirty="0">
                          <a:latin typeface="Times New Roman" panose="02020603050405020304" pitchFamily="18" charset="0"/>
                          <a:cs typeface="Times New Roman" panose="02020603050405020304" pitchFamily="18" charset="0"/>
                        </a:rPr>
                        <a:t>10</a:t>
                      </a:r>
                    </a:p>
                  </a:txBody>
                  <a:tcPr/>
                </a:tc>
                <a:tc>
                  <a:txBody>
                    <a:bodyPr/>
                    <a:lstStyle/>
                    <a:p>
                      <a:pPr algn="ctr"/>
                      <a:r>
                        <a:rPr lang="en-US" sz="2000" dirty="0">
                          <a:latin typeface="Times New Roman" panose="02020603050405020304" pitchFamily="18" charset="0"/>
                          <a:cs typeface="Times New Roman" panose="02020603050405020304" pitchFamily="18" charset="0"/>
                        </a:rPr>
                        <a:t>9.0167</a:t>
                      </a:r>
                    </a:p>
                  </a:txBody>
                  <a:tcPr/>
                </a:tc>
                <a:tc>
                  <a:txBody>
                    <a:bodyPr/>
                    <a:lstStyle/>
                    <a:p>
                      <a:pPr algn="ctr"/>
                      <a:r>
                        <a:rPr lang="en-US" sz="2000" dirty="0">
                          <a:latin typeface="Times New Roman" panose="02020603050405020304" pitchFamily="18" charset="0"/>
                          <a:cs typeface="Times New Roman" panose="02020603050405020304" pitchFamily="18" charset="0"/>
                        </a:rPr>
                        <a:t>0.2702</a:t>
                      </a:r>
                    </a:p>
                  </a:txBody>
                  <a:tcPr/>
                </a:tc>
                <a:tc>
                  <a:txBody>
                    <a:bodyPr/>
                    <a:lstStyle/>
                    <a:p>
                      <a:pPr algn="ctr"/>
                      <a:r>
                        <a:rPr lang="en-US" sz="2000" dirty="0">
                          <a:latin typeface="Times New Roman" panose="02020603050405020304" pitchFamily="18" charset="0"/>
                          <a:cs typeface="Times New Roman" panose="02020603050405020304" pitchFamily="18" charset="0"/>
                        </a:rPr>
                        <a:t>8.5667</a:t>
                      </a:r>
                    </a:p>
                  </a:txBody>
                  <a:tcPr/>
                </a:tc>
                <a:tc>
                  <a:txBody>
                    <a:bodyPr/>
                    <a:lstStyle/>
                    <a:p>
                      <a:pPr algn="ctr"/>
                      <a:r>
                        <a:rPr lang="en-US" sz="2000" dirty="0">
                          <a:latin typeface="Times New Roman" panose="02020603050405020304" pitchFamily="18" charset="0"/>
                          <a:cs typeface="Times New Roman" panose="02020603050405020304" pitchFamily="18" charset="0"/>
                        </a:rPr>
                        <a:t>0.3212</a:t>
                      </a:r>
                    </a:p>
                  </a:txBody>
                  <a:tcPr/>
                </a:tc>
                <a:extLst>
                  <a:ext uri="{0D108BD9-81ED-4DB2-BD59-A6C34878D82A}">
                    <a16:rowId xmlns:a16="http://schemas.microsoft.com/office/drawing/2014/main" val="702600287"/>
                  </a:ext>
                </a:extLst>
              </a:tr>
            </a:tbl>
          </a:graphicData>
        </a:graphic>
      </p:graphicFrame>
      <p:sp>
        <p:nvSpPr>
          <p:cNvPr id="4" name="Slide Number Placeholder 3">
            <a:extLst>
              <a:ext uri="{FF2B5EF4-FFF2-40B4-BE49-F238E27FC236}">
                <a16:creationId xmlns:a16="http://schemas.microsoft.com/office/drawing/2014/main" id="{41D5FE31-4683-F374-1C1C-4EDE161E4287}"/>
              </a:ext>
            </a:extLst>
          </p:cNvPr>
          <p:cNvSpPr>
            <a:spLocks noGrp="1"/>
          </p:cNvSpPr>
          <p:nvPr>
            <p:ph type="sldNum" sz="quarter" idx="12"/>
          </p:nvPr>
        </p:nvSpPr>
        <p:spPr/>
        <p:txBody>
          <a:bodyPr/>
          <a:lstStyle/>
          <a:p>
            <a:fld id="{4ED22EA6-6E07-498D-89D0-2FA887FD1E5C}" type="slidenum">
              <a:rPr lang="vi-VN" smtClean="0"/>
              <a:t>33</a:t>
            </a:fld>
            <a:endParaRPr lang="vi-VN"/>
          </a:p>
        </p:txBody>
      </p:sp>
      <p:sp>
        <p:nvSpPr>
          <p:cNvPr id="7" name="Hộp Văn bản 6">
            <a:extLst>
              <a:ext uri="{FF2B5EF4-FFF2-40B4-BE49-F238E27FC236}">
                <a16:creationId xmlns:a16="http://schemas.microsoft.com/office/drawing/2014/main" id="{E4DC019A-EAA4-CB7E-763E-BFE0A4F5AD91}"/>
              </a:ext>
            </a:extLst>
          </p:cNvPr>
          <p:cNvSpPr txBox="1"/>
          <p:nvPr/>
        </p:nvSpPr>
        <p:spPr>
          <a:xfrm>
            <a:off x="838200" y="1323806"/>
            <a:ext cx="1986280" cy="477054"/>
          </a:xfrm>
          <a:prstGeom prst="rect">
            <a:avLst/>
          </a:prstGeom>
          <a:noFill/>
        </p:spPr>
        <p:txBody>
          <a:bodyPr wrap="square" rtlCol="0">
            <a:spAutoFit/>
          </a:bodyPr>
          <a:lstStyle/>
          <a:p>
            <a:pPr marL="285750" indent="-285750">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Multi-turn</a:t>
            </a:r>
          </a:p>
        </p:txBody>
      </p:sp>
      <p:sp>
        <p:nvSpPr>
          <p:cNvPr id="8" name="Hộp Văn bản 7">
            <a:extLst>
              <a:ext uri="{FF2B5EF4-FFF2-40B4-BE49-F238E27FC236}">
                <a16:creationId xmlns:a16="http://schemas.microsoft.com/office/drawing/2014/main" id="{E28F8243-F062-4B01-9039-B376607BFC2C}"/>
              </a:ext>
            </a:extLst>
          </p:cNvPr>
          <p:cNvSpPr txBox="1"/>
          <p:nvPr/>
        </p:nvSpPr>
        <p:spPr>
          <a:xfrm>
            <a:off x="838200" y="4355424"/>
            <a:ext cx="4373880" cy="1092607"/>
          </a:xfrm>
          <a:prstGeom prst="rect">
            <a:avLst/>
          </a:prstGeom>
          <a:noFill/>
        </p:spPr>
        <p:txBody>
          <a:bodyPr wrap="square" rtlCol="0">
            <a:spAutoFit/>
          </a:bodyPr>
          <a:lstStyle/>
          <a:p>
            <a:pPr marL="285750" indent="-285750">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One-shot</a:t>
            </a:r>
          </a:p>
          <a:p>
            <a:pPr marL="342900" indent="-342900">
              <a:buFontTx/>
              <a:buChar char="-"/>
            </a:pPr>
            <a:r>
              <a:rPr lang="en-US" sz="2000" dirty="0">
                <a:latin typeface="Times New Roman" panose="02020603050405020304" pitchFamily="18" charset="0"/>
                <a:cs typeface="Times New Roman" panose="02020603050405020304" pitchFamily="18" charset="0"/>
              </a:rPr>
              <a:t>Trung </a:t>
            </a:r>
            <a:r>
              <a:rPr lang="en-US" sz="2000" dirty="0" err="1">
                <a:latin typeface="Times New Roman" panose="02020603050405020304" pitchFamily="18" charset="0"/>
                <a:cs typeface="Times New Roman" panose="02020603050405020304" pitchFamily="18" charset="0"/>
              </a:rPr>
              <a:t>bình</a:t>
            </a:r>
            <a:r>
              <a:rPr lang="en-US" sz="2000" dirty="0">
                <a:latin typeface="Times New Roman" panose="02020603050405020304" pitchFamily="18" charset="0"/>
                <a:cs typeface="Times New Roman" panose="02020603050405020304" pitchFamily="18" charset="0"/>
              </a:rPr>
              <a:t>: 7.6825</a:t>
            </a:r>
          </a:p>
          <a:p>
            <a:pPr marL="342900" indent="-342900">
              <a:buFontTx/>
              <a:buChar char="-"/>
            </a:pPr>
            <a:r>
              <a:rPr lang="en-US" sz="2000" dirty="0" err="1">
                <a:latin typeface="Times New Roman" panose="02020603050405020304" pitchFamily="18" charset="0"/>
                <a:cs typeface="Times New Roman" panose="02020603050405020304" pitchFamily="18" charset="0"/>
              </a:rPr>
              <a:t>Độ</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lệch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chuẩn</a:t>
            </a:r>
            <a:r>
              <a:rPr lang="en-US" sz="2000" dirty="0">
                <a:latin typeface="Times New Roman" panose="02020603050405020304" pitchFamily="18" charset="0"/>
                <a:cs typeface="Times New Roman" panose="02020603050405020304" pitchFamily="18" charset="0"/>
              </a:rPr>
              <a:t>: 0.7478</a:t>
            </a:r>
          </a:p>
        </p:txBody>
      </p:sp>
    </p:spTree>
    <p:extLst>
      <p:ext uri="{BB962C8B-B14F-4D97-AF65-F5344CB8AC3E}">
        <p14:creationId xmlns:p14="http://schemas.microsoft.com/office/powerpoint/2010/main" val="330794228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8167CA2-6B0E-7A01-7577-870A1B4D99D6}"/>
              </a:ext>
            </a:extLst>
          </p:cNvPr>
          <p:cNvSpPr>
            <a:spLocks noGrp="1"/>
          </p:cNvSpPr>
          <p:nvPr>
            <p:ph type="title"/>
          </p:nvPr>
        </p:nvSpPr>
        <p:spPr/>
        <p:txBody>
          <a:bodyPr/>
          <a:lstStyle/>
          <a:p>
            <a:r>
              <a:rPr lang="vi-VN"/>
              <a:t>VI. Demo chatbot</a:t>
            </a:r>
          </a:p>
        </p:txBody>
      </p:sp>
      <p:sp>
        <p:nvSpPr>
          <p:cNvPr id="5" name="Text Placeholder 4">
            <a:extLst>
              <a:ext uri="{FF2B5EF4-FFF2-40B4-BE49-F238E27FC236}">
                <a16:creationId xmlns:a16="http://schemas.microsoft.com/office/drawing/2014/main" id="{E2F98F31-5A2A-8B53-0320-8EAC9013D1E9}"/>
              </a:ext>
            </a:extLst>
          </p:cNvPr>
          <p:cNvSpPr>
            <a:spLocks noGrp="1"/>
          </p:cNvSpPr>
          <p:nvPr>
            <p:ph type="body" idx="1"/>
          </p:nvPr>
        </p:nvSpPr>
        <p:spPr/>
        <p:txBody>
          <a:bodyPr/>
          <a:lstStyle/>
          <a:p>
            <a:endParaRPr lang="vi-VN"/>
          </a:p>
        </p:txBody>
      </p:sp>
      <p:sp>
        <p:nvSpPr>
          <p:cNvPr id="2" name="Slide Number Placeholder 1">
            <a:extLst>
              <a:ext uri="{FF2B5EF4-FFF2-40B4-BE49-F238E27FC236}">
                <a16:creationId xmlns:a16="http://schemas.microsoft.com/office/drawing/2014/main" id="{BC1FEDD9-C94B-BA6C-A249-BAC0A28CA4C8}"/>
              </a:ext>
            </a:extLst>
          </p:cNvPr>
          <p:cNvSpPr>
            <a:spLocks noGrp="1"/>
          </p:cNvSpPr>
          <p:nvPr>
            <p:ph type="sldNum" sz="quarter" idx="12"/>
          </p:nvPr>
        </p:nvSpPr>
        <p:spPr/>
        <p:txBody>
          <a:bodyPr/>
          <a:lstStyle/>
          <a:p>
            <a:fld id="{4ED22EA6-6E07-498D-89D0-2FA887FD1E5C}" type="slidenum">
              <a:rPr lang="vi-VN" smtClean="0"/>
              <a:t>34</a:t>
            </a:fld>
            <a:endParaRPr lang="vi-VN"/>
          </a:p>
        </p:txBody>
      </p:sp>
    </p:spTree>
    <p:extLst>
      <p:ext uri="{BB962C8B-B14F-4D97-AF65-F5344CB8AC3E}">
        <p14:creationId xmlns:p14="http://schemas.microsoft.com/office/powerpoint/2010/main" val="144631385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6A7A1-7C3B-D39D-C828-2D7A23BCDDDA}"/>
              </a:ext>
            </a:extLst>
          </p:cNvPr>
          <p:cNvSpPr>
            <a:spLocks noGrp="1"/>
          </p:cNvSpPr>
          <p:nvPr>
            <p:ph type="title"/>
          </p:nvPr>
        </p:nvSpPr>
        <p:spPr/>
        <p:txBody>
          <a:bodyPr>
            <a:normAutofit/>
          </a:bodyPr>
          <a:lstStyle/>
          <a:p>
            <a:r>
              <a:rPr lang="vi-VN"/>
              <a:t>VI. Demo chatbot</a:t>
            </a:r>
          </a:p>
        </p:txBody>
      </p:sp>
      <p:pic>
        <p:nvPicPr>
          <p:cNvPr id="5" name="Content Placeholder 4">
            <a:extLst>
              <a:ext uri="{FF2B5EF4-FFF2-40B4-BE49-F238E27FC236}">
                <a16:creationId xmlns:a16="http://schemas.microsoft.com/office/drawing/2014/main" id="{949B039D-8AC5-257F-A8A0-44CE57F08947}"/>
              </a:ext>
            </a:extLst>
          </p:cNvPr>
          <p:cNvPicPr>
            <a:picLocks noGrp="1" noChangeAspect="1"/>
          </p:cNvPicPr>
          <p:nvPr>
            <p:ph idx="1"/>
          </p:nvPr>
        </p:nvPicPr>
        <p:blipFill>
          <a:blip r:embed="rId2"/>
          <a:stretch>
            <a:fillRect/>
          </a:stretch>
        </p:blipFill>
        <p:spPr>
          <a:xfrm>
            <a:off x="3216717" y="1193800"/>
            <a:ext cx="5758566" cy="4983163"/>
          </a:xfrm>
          <a:prstGeom prst="rect">
            <a:avLst/>
          </a:prstGeom>
        </p:spPr>
      </p:pic>
      <p:sp>
        <p:nvSpPr>
          <p:cNvPr id="3" name="Slide Number Placeholder 2">
            <a:extLst>
              <a:ext uri="{FF2B5EF4-FFF2-40B4-BE49-F238E27FC236}">
                <a16:creationId xmlns:a16="http://schemas.microsoft.com/office/drawing/2014/main" id="{E2ECE10C-D058-4568-23FB-122380707ED7}"/>
              </a:ext>
            </a:extLst>
          </p:cNvPr>
          <p:cNvSpPr>
            <a:spLocks noGrp="1"/>
          </p:cNvSpPr>
          <p:nvPr>
            <p:ph type="sldNum" sz="quarter" idx="12"/>
          </p:nvPr>
        </p:nvSpPr>
        <p:spPr/>
        <p:txBody>
          <a:bodyPr/>
          <a:lstStyle/>
          <a:p>
            <a:fld id="{4ED22EA6-6E07-498D-89D0-2FA887FD1E5C}" type="slidenum">
              <a:rPr lang="vi-VN" smtClean="0"/>
              <a:t>35</a:t>
            </a:fld>
            <a:endParaRPr lang="vi-VN"/>
          </a:p>
        </p:txBody>
      </p:sp>
    </p:spTree>
    <p:extLst>
      <p:ext uri="{BB962C8B-B14F-4D97-AF65-F5344CB8AC3E}">
        <p14:creationId xmlns:p14="http://schemas.microsoft.com/office/powerpoint/2010/main" val="296224528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856</TotalTime>
  <Words>1595</Words>
  <Application>Microsoft Office PowerPoint</Application>
  <PresentationFormat>Widescreen</PresentationFormat>
  <Paragraphs>249</Paragraphs>
  <Slides>35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Aptos</vt:lpstr>
      <vt:lpstr>Arial</vt:lpstr>
      <vt:lpstr>Cambria Math</vt:lpstr>
      <vt:lpstr>Times New Roman</vt:lpstr>
      <vt:lpstr>Office Theme</vt:lpstr>
      <vt:lpstr>Chatbot Ẩm Thực</vt:lpstr>
      <vt:lpstr>Thông tin</vt:lpstr>
      <vt:lpstr>Thành viên nhóm</vt:lpstr>
      <vt:lpstr>Nội dung</vt:lpstr>
      <vt:lpstr>I. Giới thiệu bài toán</vt:lpstr>
      <vt:lpstr>I. Giới thiệu bài toán</vt:lpstr>
      <vt:lpstr>I. Giới thiệu bài toán</vt:lpstr>
      <vt:lpstr>II. Tổng quan dự án</vt:lpstr>
      <vt:lpstr>II. Tổng quan dự án</vt:lpstr>
      <vt:lpstr>II. Tổng quan </vt:lpstr>
      <vt:lpstr>III. Xử lý dữ liệu</vt:lpstr>
      <vt:lpstr>III. Xử lý dữ liệu</vt:lpstr>
      <vt:lpstr>III. Xử lý dữ liệu</vt:lpstr>
      <vt:lpstr>III. Xử lý dữ liệu</vt:lpstr>
      <vt:lpstr>III. Xử lý dữ liệu</vt:lpstr>
      <vt:lpstr>III. Xử lý dữ liệu</vt:lpstr>
      <vt:lpstr>IV. Hệ thống chatbot</vt:lpstr>
      <vt:lpstr>IV. Hệ thống chatbot</vt:lpstr>
      <vt:lpstr>IV. Hệ thống chatbot</vt:lpstr>
      <vt:lpstr>IV. Hệ thống chatbot</vt:lpstr>
      <vt:lpstr>IV. Hệ thống chatbot</vt:lpstr>
      <vt:lpstr>IV. Hệ thống chatbot</vt:lpstr>
      <vt:lpstr>IV. Hệ thống chatbot</vt:lpstr>
      <vt:lpstr>V. Kết quả và đánh giá</vt:lpstr>
      <vt:lpstr>V. Kết quả và đánh giá</vt:lpstr>
      <vt:lpstr>V. Kết quả và đánh giá</vt:lpstr>
      <vt:lpstr>V. Kết quả và đánh giá</vt:lpstr>
      <vt:lpstr>V. Kết quả và đánh giá</vt:lpstr>
      <vt:lpstr>V. Kết quả và đánh giá</vt:lpstr>
      <vt:lpstr>V. Kết quả và đánh giá</vt:lpstr>
      <vt:lpstr>V. Kết quả và đánh giá</vt:lpstr>
      <vt:lpstr>V. Kết quả và đánh giá</vt:lpstr>
      <vt:lpstr>V. Kết quả và đánh giá</vt:lpstr>
      <vt:lpstr>VI. Demo chatbot</vt:lpstr>
      <vt:lpstr>VI. Demo chatbot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Dang Hung</dc:creator>
  <cp:lastModifiedBy>Dang Hung</cp:lastModifiedBy>
  <cp:revision>7</cp:revision>
  <dcterms:created xsi:type="dcterms:W3CDTF">2025-11-29T10:14:34Z</dcterms:created>
  <dcterms:modified xsi:type="dcterms:W3CDTF">2025-11-30T15:33:32Z</dcterms:modified>
</cp:coreProperties>
</file>