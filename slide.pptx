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74" r:id="rId3"/>
    <p:sldId id="275" r:id="rId4"/>
    <p:sldId id="257" r:id="rId5"/>
    <p:sldId id="258" r:id="rId6"/>
    <p:sldId id="259" r:id="rId7"/>
    <p:sldId id="260" r:id="rId8"/>
    <p:sldId id="261" r:id="rId9"/>
    <p:sldId id="262" r:id="rId10"/>
    <p:sldId id="265" r:id="rId11"/>
    <p:sldId id="264" r:id="rId12"/>
    <p:sldId id="263" r:id="rId13"/>
    <p:sldId id="267" r:id="rId14"/>
    <p:sldId id="268" r:id="rId15"/>
    <p:sldId id="269" r:id="rId16"/>
    <p:sldId id="270" r:id="rId17"/>
    <p:sldId id="271" r:id="rId18"/>
    <p:sldId id="272" r:id="rId19"/>
    <p:sldId id="276" r:id="rId20"/>
    <p:sldId id="277" r:id="rId21"/>
    <p:sldId id="278" r:id="rId22"/>
    <p:sldId id="279" r:id="rId23"/>
    <p:sldId id="280" r:id="rId24"/>
    <p:sldId id="289" r:id="rId25"/>
    <p:sldId id="281" r:id="rId26"/>
    <p:sldId id="288" r:id="rId27"/>
    <p:sldId id="282" r:id="rId28"/>
    <p:sldId id="290" r:id="rId29"/>
    <p:sldId id="285" r:id="rId30"/>
    <p:sldId id="291" r:id="rId31"/>
    <p:sldId id="286" r:id="rId32"/>
    <p:sldId id="292" r:id="rId33"/>
    <p:sldId id="283" r:id="rId34"/>
    <p:sldId id="293" r:id="rId35"/>
    <p:sldId id="284" r:id="rId36"/>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996600"/>
    <a:srgbClr val="99CC00"/>
    <a:srgbClr val="006699"/>
    <a:srgbClr val="00FFFF"/>
    <a:srgbClr val="FF29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94660"/>
  </p:normalViewPr>
  <p:slideViewPr>
    <p:cSldViewPr snapToGrid="0">
      <p:cViewPr varScale="1">
        <p:scale>
          <a:sx n="103" d="100"/>
          <a:sy n="103" d="100"/>
        </p:scale>
        <p:origin x="114" y="4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A04C40-BD28-4243-928B-B59B34B35460}" type="datetimeFigureOut">
              <a:rPr lang="vi-VN" smtClean="0"/>
              <a:t>30/11/2025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779D7B-E594-4D86-A5E4-613FD71702B3}" type="slidenum">
              <a:rPr lang="vi-VN" smtClean="0"/>
              <a:t>‹#›</a:t>
            </a:fld>
            <a:endParaRPr lang="vi-VN"/>
          </a:p>
        </p:txBody>
      </p:sp>
    </p:spTree>
    <p:extLst>
      <p:ext uri="{BB962C8B-B14F-4D97-AF65-F5344CB8AC3E}">
        <p14:creationId xmlns:p14="http://schemas.microsoft.com/office/powerpoint/2010/main" val="730133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DF779D7B-E594-4D86-A5E4-613FD71702B3}" type="slidenum">
              <a:rPr lang="vi-VN" smtClean="0"/>
              <a:t>19</a:t>
            </a:fld>
            <a:endParaRPr lang="vi-VN"/>
          </a:p>
        </p:txBody>
      </p:sp>
    </p:spTree>
    <p:extLst>
      <p:ext uri="{BB962C8B-B14F-4D97-AF65-F5344CB8AC3E}">
        <p14:creationId xmlns:p14="http://schemas.microsoft.com/office/powerpoint/2010/main" val="12562367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5C9EB-CD2F-20A4-3706-E8AD697E0358}"/>
              </a:ext>
            </a:extLst>
          </p:cNvPr>
          <p:cNvSpPr>
            <a:spLocks noGrp="1"/>
          </p:cNvSpPr>
          <p:nvPr>
            <p:ph type="ctrTitle"/>
          </p:nvPr>
        </p:nvSpPr>
        <p:spPr>
          <a:xfrm>
            <a:off x="1524000" y="1122363"/>
            <a:ext cx="9144000" cy="2387600"/>
          </a:xfrm>
        </p:spPr>
        <p:txBody>
          <a:bodyPr anchor="b"/>
          <a:lstStyle>
            <a:lvl1pPr algn="ctr">
              <a:defRPr sz="6000" b="1"/>
            </a:lvl1pPr>
          </a:lstStyle>
          <a:p>
            <a:r>
              <a:rPr lang="en-US"/>
              <a:t>Click to edit Master title style</a:t>
            </a:r>
            <a:endParaRPr lang="vi-VN"/>
          </a:p>
        </p:txBody>
      </p:sp>
      <p:sp>
        <p:nvSpPr>
          <p:cNvPr id="3" name="Subtitle 2">
            <a:extLst>
              <a:ext uri="{FF2B5EF4-FFF2-40B4-BE49-F238E27FC236}">
                <a16:creationId xmlns:a16="http://schemas.microsoft.com/office/drawing/2014/main" id="{7D863A89-3CBA-1E6C-2273-9592212E9F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08B125E3-4733-F139-5B68-A5BD0E944F17}"/>
              </a:ext>
            </a:extLst>
          </p:cNvPr>
          <p:cNvSpPr>
            <a:spLocks noGrp="1"/>
          </p:cNvSpPr>
          <p:nvPr>
            <p:ph type="dt" sz="half" idx="10"/>
          </p:nvPr>
        </p:nvSpPr>
        <p:spPr/>
        <p:txBody>
          <a:bodyPr/>
          <a:lstStyle/>
          <a:p>
            <a:fld id="{D1BF5DF2-1316-4EFE-B506-44D0E7826730}" type="datetime1">
              <a:rPr lang="vi-VN" smtClean="0"/>
              <a:t>30/11/2025</a:t>
            </a:fld>
            <a:endParaRPr lang="vi-VN"/>
          </a:p>
        </p:txBody>
      </p:sp>
      <p:sp>
        <p:nvSpPr>
          <p:cNvPr id="5" name="Footer Placeholder 4">
            <a:extLst>
              <a:ext uri="{FF2B5EF4-FFF2-40B4-BE49-F238E27FC236}">
                <a16:creationId xmlns:a16="http://schemas.microsoft.com/office/drawing/2014/main" id="{D082A6F1-38AD-AB39-7B7A-C3BCEE63A9BE}"/>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682D98D-C16C-2111-F73A-03B0DA604932}"/>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4259174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E4BB7-A2E2-B128-D624-47416DEAC492}"/>
              </a:ext>
            </a:extLst>
          </p:cNvPr>
          <p:cNvSpPr>
            <a:spLocks noGrp="1"/>
          </p:cNvSpPr>
          <p:nvPr>
            <p:ph type="title"/>
          </p:nvPr>
        </p:nvSpPr>
        <p:spPr/>
        <p:txBody>
          <a:bodyPr/>
          <a:lstStyle>
            <a:lvl1pPr>
              <a:defRPr b="1"/>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7821069-E065-3079-BDF8-4048687032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93A35624-8C06-385E-7B84-DC5DB9D4B51B}"/>
              </a:ext>
            </a:extLst>
          </p:cNvPr>
          <p:cNvSpPr>
            <a:spLocks noGrp="1"/>
          </p:cNvSpPr>
          <p:nvPr>
            <p:ph type="dt" sz="half" idx="10"/>
          </p:nvPr>
        </p:nvSpPr>
        <p:spPr/>
        <p:txBody>
          <a:bodyPr/>
          <a:lstStyle/>
          <a:p>
            <a:fld id="{92F96A3F-CAA8-44F9-930A-A5C3BB12A00B}" type="datetime1">
              <a:rPr lang="vi-VN" smtClean="0"/>
              <a:t>30/11/2025</a:t>
            </a:fld>
            <a:endParaRPr lang="vi-VN"/>
          </a:p>
        </p:txBody>
      </p:sp>
      <p:sp>
        <p:nvSpPr>
          <p:cNvPr id="5" name="Footer Placeholder 4">
            <a:extLst>
              <a:ext uri="{FF2B5EF4-FFF2-40B4-BE49-F238E27FC236}">
                <a16:creationId xmlns:a16="http://schemas.microsoft.com/office/drawing/2014/main" id="{675524C3-759E-17F6-2E3E-D7CE6FCE1570}"/>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77E189F-466F-7938-65D0-3813C1ED6165}"/>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3975324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77D56-F60C-F2C7-BAF9-0BDF7D62FA34}"/>
              </a:ext>
            </a:extLst>
          </p:cNvPr>
          <p:cNvSpPr>
            <a:spLocks noGrp="1"/>
          </p:cNvSpPr>
          <p:nvPr>
            <p:ph type="title"/>
          </p:nvPr>
        </p:nvSpPr>
        <p:spPr>
          <a:xfrm>
            <a:off x="831850" y="1709738"/>
            <a:ext cx="10515600" cy="2852737"/>
          </a:xfrm>
        </p:spPr>
        <p:txBody>
          <a:bodyPr anchor="b"/>
          <a:lstStyle>
            <a:lvl1pPr>
              <a:defRPr sz="6000" b="1"/>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5299144E-64F1-7AB0-2D3A-980B67E3CD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F0350A1-799D-2454-577D-FAFE8446CBD8}"/>
              </a:ext>
            </a:extLst>
          </p:cNvPr>
          <p:cNvSpPr>
            <a:spLocks noGrp="1"/>
          </p:cNvSpPr>
          <p:nvPr>
            <p:ph type="dt" sz="half" idx="10"/>
          </p:nvPr>
        </p:nvSpPr>
        <p:spPr/>
        <p:txBody>
          <a:bodyPr/>
          <a:lstStyle/>
          <a:p>
            <a:fld id="{C00CA32E-BDE3-42B6-9E80-60BBD6582E19}" type="datetime1">
              <a:rPr lang="vi-VN" smtClean="0"/>
              <a:t>30/11/2025</a:t>
            </a:fld>
            <a:endParaRPr lang="vi-VN"/>
          </a:p>
        </p:txBody>
      </p:sp>
      <p:sp>
        <p:nvSpPr>
          <p:cNvPr id="5" name="Footer Placeholder 4">
            <a:extLst>
              <a:ext uri="{FF2B5EF4-FFF2-40B4-BE49-F238E27FC236}">
                <a16:creationId xmlns:a16="http://schemas.microsoft.com/office/drawing/2014/main" id="{0F7E41D2-7B36-8286-59BC-4591BE24F38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E48568B2-1CDB-6ABC-ED85-6E3AAF4DCE7A}"/>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1204160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C2F69-8E25-456E-B604-D1D531AE2182}"/>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3F9DC7C-5383-2976-CEB1-55C5F490ABB3}"/>
              </a:ext>
            </a:extLst>
          </p:cNvPr>
          <p:cNvSpPr>
            <a:spLocks noGrp="1"/>
          </p:cNvSpPr>
          <p:nvPr>
            <p:ph sz="half" idx="1"/>
          </p:nvPr>
        </p:nvSpPr>
        <p:spPr>
          <a:xfrm>
            <a:off x="838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BC51B79C-62FB-5724-7F98-50E6048DFD3F}"/>
              </a:ext>
            </a:extLst>
          </p:cNvPr>
          <p:cNvSpPr>
            <a:spLocks noGrp="1"/>
          </p:cNvSpPr>
          <p:nvPr>
            <p:ph sz="half" idx="2"/>
          </p:nvPr>
        </p:nvSpPr>
        <p:spPr>
          <a:xfrm>
            <a:off x="6172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BDB42C93-64E1-35D3-F23C-9D6C4840565C}"/>
              </a:ext>
            </a:extLst>
          </p:cNvPr>
          <p:cNvSpPr>
            <a:spLocks noGrp="1"/>
          </p:cNvSpPr>
          <p:nvPr>
            <p:ph type="dt" sz="half" idx="10"/>
          </p:nvPr>
        </p:nvSpPr>
        <p:spPr/>
        <p:txBody>
          <a:bodyPr/>
          <a:lstStyle/>
          <a:p>
            <a:fld id="{0259A9EF-F408-4EF9-9765-2A696B4DB90F}" type="datetime1">
              <a:rPr lang="vi-VN" smtClean="0"/>
              <a:t>30/11/2025</a:t>
            </a:fld>
            <a:endParaRPr lang="vi-VN"/>
          </a:p>
        </p:txBody>
      </p:sp>
      <p:sp>
        <p:nvSpPr>
          <p:cNvPr id="6" name="Footer Placeholder 5">
            <a:extLst>
              <a:ext uri="{FF2B5EF4-FFF2-40B4-BE49-F238E27FC236}">
                <a16:creationId xmlns:a16="http://schemas.microsoft.com/office/drawing/2014/main" id="{7F98F3B0-22E8-B542-6ECD-3299E1098974}"/>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922FB48-67EA-0E06-F743-F608576EB2C3}"/>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0911559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2340B8-F7E1-D0F3-E63E-DF77BCAE1492}"/>
              </a:ext>
            </a:extLst>
          </p:cNvPr>
          <p:cNvSpPr>
            <a:spLocks noGrp="1"/>
          </p:cNvSpPr>
          <p:nvPr>
            <p:ph type="title"/>
          </p:nvPr>
        </p:nvSpPr>
        <p:spPr>
          <a:xfrm>
            <a:off x="838200" y="365126"/>
            <a:ext cx="10515600" cy="828674"/>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5F289FB4-45F4-8BB9-DF15-A551783996DD}"/>
              </a:ext>
            </a:extLst>
          </p:cNvPr>
          <p:cNvSpPr>
            <a:spLocks noGrp="1"/>
          </p:cNvSpPr>
          <p:nvPr>
            <p:ph type="body" idx="1"/>
          </p:nvPr>
        </p:nvSpPr>
        <p:spPr>
          <a:xfrm>
            <a:off x="838200" y="1193800"/>
            <a:ext cx="10515600" cy="4983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82A62EA-FF14-0EB0-11C5-0AF603999E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8E9F20-23F7-44A2-8900-FFBAC831C044}" type="datetime1">
              <a:rPr lang="vi-VN" smtClean="0"/>
              <a:t>30/11/2025</a:t>
            </a:fld>
            <a:endParaRPr lang="vi-VN"/>
          </a:p>
        </p:txBody>
      </p:sp>
      <p:sp>
        <p:nvSpPr>
          <p:cNvPr id="5" name="Footer Placeholder 4">
            <a:extLst>
              <a:ext uri="{FF2B5EF4-FFF2-40B4-BE49-F238E27FC236}">
                <a16:creationId xmlns:a16="http://schemas.microsoft.com/office/drawing/2014/main" id="{8816B055-5FB7-AEB5-084B-2BC346E62A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Slide Number Placeholder 5">
            <a:extLst>
              <a:ext uri="{FF2B5EF4-FFF2-40B4-BE49-F238E27FC236}">
                <a16:creationId xmlns:a16="http://schemas.microsoft.com/office/drawing/2014/main" id="{743485B8-00D1-BFE2-1171-2D6EE42002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D22EA6-6E07-498D-89D0-2FA887FD1E5C}" type="slidenum">
              <a:rPr lang="vi-VN" smtClean="0"/>
              <a:t>‹#›</a:t>
            </a:fld>
            <a:endParaRPr lang="vi-VN"/>
          </a:p>
        </p:txBody>
      </p:sp>
      <p:sp>
        <p:nvSpPr>
          <p:cNvPr id="7" name="Rectangle 6">
            <a:extLst>
              <a:ext uri="{FF2B5EF4-FFF2-40B4-BE49-F238E27FC236}">
                <a16:creationId xmlns:a16="http://schemas.microsoft.com/office/drawing/2014/main" id="{ACC93C87-C713-0053-A38E-A9C88CAA3E42}"/>
              </a:ext>
            </a:extLst>
          </p:cNvPr>
          <p:cNvSpPr/>
          <p:nvPr userDrawn="1"/>
        </p:nvSpPr>
        <p:spPr>
          <a:xfrm>
            <a:off x="0" y="6176963"/>
            <a:ext cx="12192000" cy="681037"/>
          </a:xfrm>
          <a:prstGeom prst="rect">
            <a:avLst/>
          </a:prstGeom>
          <a:solidFill>
            <a:schemeClr val="accent1">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69626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90000"/>
        </a:lnSpc>
        <a:spcBef>
          <a:spcPct val="0"/>
        </a:spcBef>
        <a:buNone/>
        <a:defRPr sz="4400" b="1"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3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aianCao/FoodChatbot/blob/main/slide.pptx" TargetMode="External"/><Relationship Id="rId2" Type="http://schemas.openxmlformats.org/officeDocument/2006/relationships/hyperlink" Target="https://github.com/HaianCao/FoodChatbot/blob/main/LaTeX%20Template/main-vi.pdf" TargetMode="External"/><Relationship Id="rId1" Type="http://schemas.openxmlformats.org/officeDocument/2006/relationships/slideLayout" Target="../slideLayouts/slideLayout2.xml"/><Relationship Id="rId4" Type="http://schemas.openxmlformats.org/officeDocument/2006/relationships/hyperlink" Target="https://github.com/HaianCao/FoodChatbo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hyperlink" Target="https://therecipecritic.co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D86FE-1FD5-AB72-F677-C1745DFCE1A9}"/>
              </a:ext>
            </a:extLst>
          </p:cNvPr>
          <p:cNvSpPr>
            <a:spLocks noGrp="1"/>
          </p:cNvSpPr>
          <p:nvPr>
            <p:ph type="ctrTitle"/>
          </p:nvPr>
        </p:nvSpPr>
        <p:spPr/>
        <p:txBody>
          <a:bodyPr/>
          <a:lstStyle/>
          <a:p>
            <a:r>
              <a:rPr lang="vi-VN" b="1"/>
              <a:t>Chatbot Ẩm Thực</a:t>
            </a:r>
          </a:p>
        </p:txBody>
      </p:sp>
      <p:sp>
        <p:nvSpPr>
          <p:cNvPr id="3" name="Subtitle 2">
            <a:extLst>
              <a:ext uri="{FF2B5EF4-FFF2-40B4-BE49-F238E27FC236}">
                <a16:creationId xmlns:a16="http://schemas.microsoft.com/office/drawing/2014/main" id="{7DF5C7E1-F6C6-3641-3172-1443CFD9CD21}"/>
              </a:ext>
            </a:extLst>
          </p:cNvPr>
          <p:cNvSpPr>
            <a:spLocks noGrp="1"/>
          </p:cNvSpPr>
          <p:nvPr>
            <p:ph type="subTitle" idx="1"/>
          </p:nvPr>
        </p:nvSpPr>
        <p:spPr/>
        <p:txBody>
          <a:bodyPr/>
          <a:lstStyle/>
          <a:p>
            <a:endParaRPr lang="vi-VN"/>
          </a:p>
        </p:txBody>
      </p:sp>
      <p:sp>
        <p:nvSpPr>
          <p:cNvPr id="4" name="Slide Number Placeholder 3">
            <a:extLst>
              <a:ext uri="{FF2B5EF4-FFF2-40B4-BE49-F238E27FC236}">
                <a16:creationId xmlns:a16="http://schemas.microsoft.com/office/drawing/2014/main" id="{80B07CCA-539D-E6E8-9B2D-8FCC4F4DF534}"/>
              </a:ext>
            </a:extLst>
          </p:cNvPr>
          <p:cNvSpPr>
            <a:spLocks noGrp="1"/>
          </p:cNvSpPr>
          <p:nvPr>
            <p:ph type="sldNum" sz="quarter" idx="12"/>
          </p:nvPr>
        </p:nvSpPr>
        <p:spPr/>
        <p:txBody>
          <a:bodyPr/>
          <a:lstStyle/>
          <a:p>
            <a:fld id="{4ED22EA6-6E07-498D-89D0-2FA887FD1E5C}" type="slidenum">
              <a:rPr lang="vi-VN" smtClean="0"/>
              <a:t>1</a:t>
            </a:fld>
            <a:endParaRPr lang="vi-VN"/>
          </a:p>
        </p:txBody>
      </p:sp>
    </p:spTree>
    <p:extLst>
      <p:ext uri="{BB962C8B-B14F-4D97-AF65-F5344CB8AC3E}">
        <p14:creationId xmlns:p14="http://schemas.microsoft.com/office/powerpoint/2010/main" val="11143825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90A6-AE36-81A0-0419-ACE019268365}"/>
              </a:ext>
            </a:extLst>
          </p:cNvPr>
          <p:cNvSpPr>
            <a:spLocks noGrp="1"/>
          </p:cNvSpPr>
          <p:nvPr>
            <p:ph type="title"/>
          </p:nvPr>
        </p:nvSpPr>
        <p:spPr/>
        <p:txBody>
          <a:bodyPr>
            <a:normAutofit/>
          </a:bodyPr>
          <a:lstStyle/>
          <a:p>
            <a:r>
              <a:rPr lang="vi-VN"/>
              <a:t>Thông tin</a:t>
            </a:r>
          </a:p>
        </p:txBody>
      </p:sp>
      <p:sp>
        <p:nvSpPr>
          <p:cNvPr id="3" name="Content Placeholder 2">
            <a:extLst>
              <a:ext uri="{FF2B5EF4-FFF2-40B4-BE49-F238E27FC236}">
                <a16:creationId xmlns:a16="http://schemas.microsoft.com/office/drawing/2014/main" id="{235DA66D-15F4-5460-04D4-E67BFA92021E}"/>
              </a:ext>
            </a:extLst>
          </p:cNvPr>
          <p:cNvSpPr>
            <a:spLocks noGrp="1"/>
          </p:cNvSpPr>
          <p:nvPr>
            <p:ph idx="1"/>
          </p:nvPr>
        </p:nvSpPr>
        <p:spPr/>
        <p:txBody>
          <a:bodyPr>
            <a:normAutofit fontScale="77500" lnSpcReduction="20000"/>
          </a:bodyPr>
          <a:lstStyle/>
          <a:p>
            <a:r>
              <a:rPr lang="vi-VN" b="1" dirty="0"/>
              <a:t>Môn học:</a:t>
            </a:r>
            <a:r>
              <a:rPr lang="vi-VN" dirty="0"/>
              <a:t> MAT1207E - Nhập môn Trí tuệ Nhân tạo</a:t>
            </a:r>
          </a:p>
          <a:p>
            <a:r>
              <a:rPr lang="vi-VN" b="1" dirty="0"/>
              <a:t>Học kỳ:</a:t>
            </a:r>
            <a:r>
              <a:rPr lang="vi-VN" dirty="0"/>
              <a:t> Học kỳ 1 - 2025-2026</a:t>
            </a:r>
          </a:p>
          <a:p>
            <a:r>
              <a:rPr lang="vi-VN" b="1" dirty="0"/>
              <a:t>Trường:</a:t>
            </a:r>
            <a:r>
              <a:rPr lang="vi-VN" dirty="0"/>
              <a:t> VNU-HUS (Đại học Quốc gia Hà Nội - Trường Đại học Khoa học Tự nhiên)</a:t>
            </a:r>
          </a:p>
          <a:p>
            <a:r>
              <a:rPr lang="vi-VN" b="1" dirty="0"/>
              <a:t>Tiêu đề:</a:t>
            </a:r>
            <a:r>
              <a:rPr lang="vi-VN" dirty="0"/>
              <a:t> </a:t>
            </a:r>
            <a:r>
              <a:rPr lang="vi-VN" dirty="0" err="1"/>
              <a:t>Chatbot</a:t>
            </a:r>
            <a:r>
              <a:rPr lang="vi-VN" dirty="0"/>
              <a:t> ẩm thực</a:t>
            </a:r>
          </a:p>
          <a:p>
            <a:r>
              <a:rPr lang="vi-VN" b="1" dirty="0"/>
              <a:t>Ngày nộp:</a:t>
            </a:r>
            <a:r>
              <a:rPr lang="en-US" b="1" dirty="0"/>
              <a:t> 30/11/2025</a:t>
            </a:r>
            <a:endParaRPr lang="vi-VN" dirty="0"/>
          </a:p>
          <a:p>
            <a:r>
              <a:rPr lang="vi-VN" b="1" dirty="0"/>
              <a:t>Báo cáo PDF:</a:t>
            </a:r>
            <a:r>
              <a:rPr lang="vi-VN" dirty="0"/>
              <a:t> </a:t>
            </a:r>
            <a:r>
              <a:rPr lang="vi-VN" dirty="0" err="1">
                <a:hlinkClick r:id="rId2"/>
              </a:rPr>
              <a:t>Github</a:t>
            </a:r>
            <a:endParaRPr lang="vi-VN" dirty="0"/>
          </a:p>
          <a:p>
            <a:r>
              <a:rPr lang="vi-VN" b="1" dirty="0" err="1"/>
              <a:t>Slide</a:t>
            </a:r>
            <a:r>
              <a:rPr lang="vi-VN" b="1" dirty="0"/>
              <a:t> thuyết trình:</a:t>
            </a:r>
            <a:r>
              <a:rPr lang="vi-VN" dirty="0"/>
              <a:t> </a:t>
            </a:r>
            <a:r>
              <a:rPr lang="vi-VN" dirty="0" err="1">
                <a:hlinkClick r:id="rId3"/>
              </a:rPr>
              <a:t>Github</a:t>
            </a:r>
            <a:endParaRPr lang="en-US" dirty="0"/>
          </a:p>
          <a:p>
            <a:r>
              <a:rPr lang="vi-VN" b="1" dirty="0"/>
              <a:t>Kho lưu trữ:</a:t>
            </a:r>
            <a:r>
              <a:rPr lang="vi-VN" dirty="0"/>
              <a:t> </a:t>
            </a:r>
            <a:r>
              <a:rPr lang="vi-VN" dirty="0" err="1">
                <a:hlinkClick r:id="rId4"/>
              </a:rPr>
              <a:t>Github</a:t>
            </a:r>
            <a:endParaRPr lang="vi-VN" dirty="0"/>
          </a:p>
          <a:p>
            <a:endParaRPr lang="vi-VN" dirty="0"/>
          </a:p>
        </p:txBody>
      </p:sp>
      <p:sp>
        <p:nvSpPr>
          <p:cNvPr id="4" name="Slide Number Placeholder 3">
            <a:extLst>
              <a:ext uri="{FF2B5EF4-FFF2-40B4-BE49-F238E27FC236}">
                <a16:creationId xmlns:a16="http://schemas.microsoft.com/office/drawing/2014/main" id="{70340DDF-0571-5F91-C526-5784A2B98EF5}"/>
              </a:ext>
            </a:extLst>
          </p:cNvPr>
          <p:cNvSpPr>
            <a:spLocks noGrp="1"/>
          </p:cNvSpPr>
          <p:nvPr>
            <p:ph type="sldNum" sz="quarter" idx="12"/>
          </p:nvPr>
        </p:nvSpPr>
        <p:spPr/>
        <p:txBody>
          <a:bodyPr/>
          <a:lstStyle/>
          <a:p>
            <a:fld id="{4ED22EA6-6E07-498D-89D0-2FA887FD1E5C}" type="slidenum">
              <a:rPr lang="vi-VN" smtClean="0"/>
              <a:t>2</a:t>
            </a:fld>
            <a:endParaRPr lang="vi-VN"/>
          </a:p>
        </p:txBody>
      </p:sp>
    </p:spTree>
    <p:extLst>
      <p:ext uri="{BB962C8B-B14F-4D97-AF65-F5344CB8AC3E}">
        <p14:creationId xmlns:p14="http://schemas.microsoft.com/office/powerpoint/2010/main" val="22642349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A3490-3E4D-864F-7C99-0A2852DDA261}"/>
              </a:ext>
            </a:extLst>
          </p:cNvPr>
          <p:cNvSpPr>
            <a:spLocks noGrp="1"/>
          </p:cNvSpPr>
          <p:nvPr>
            <p:ph type="title"/>
          </p:nvPr>
        </p:nvSpPr>
        <p:spPr/>
        <p:txBody>
          <a:bodyPr>
            <a:normAutofit/>
          </a:bodyPr>
          <a:lstStyle/>
          <a:p>
            <a:r>
              <a:rPr lang="vi-VN"/>
              <a:t>Thành viên nhóm</a:t>
            </a:r>
          </a:p>
        </p:txBody>
      </p:sp>
      <p:graphicFrame>
        <p:nvGraphicFramePr>
          <p:cNvPr id="4" name="Content Placeholder 3">
            <a:extLst>
              <a:ext uri="{FF2B5EF4-FFF2-40B4-BE49-F238E27FC236}">
                <a16:creationId xmlns:a16="http://schemas.microsoft.com/office/drawing/2014/main" id="{05DB8F99-E416-EDB8-CD8B-BE2A9EF61B8C}"/>
              </a:ext>
            </a:extLst>
          </p:cNvPr>
          <p:cNvGraphicFramePr>
            <a:graphicFrameLocks noGrp="1"/>
          </p:cNvGraphicFramePr>
          <p:nvPr>
            <p:ph idx="1"/>
            <p:extLst>
              <p:ext uri="{D42A27DB-BD31-4B8C-83A1-F6EECF244321}">
                <p14:modId xmlns:p14="http://schemas.microsoft.com/office/powerpoint/2010/main" val="789938180"/>
              </p:ext>
            </p:extLst>
          </p:nvPr>
        </p:nvGraphicFramePr>
        <p:xfrm>
          <a:off x="838200" y="1193800"/>
          <a:ext cx="10515600" cy="3749040"/>
        </p:xfrm>
        <a:graphic>
          <a:graphicData uri="http://schemas.openxmlformats.org/drawingml/2006/table">
            <a:tbl>
              <a:tblPr>
                <a:tableStyleId>{793D81CF-94F2-401A-BA57-92F5A7B2D0C5}</a:tableStyleId>
              </a:tblPr>
              <a:tblGrid>
                <a:gridCol w="2628900">
                  <a:extLst>
                    <a:ext uri="{9D8B030D-6E8A-4147-A177-3AD203B41FA5}">
                      <a16:colId xmlns:a16="http://schemas.microsoft.com/office/drawing/2014/main" val="923927413"/>
                    </a:ext>
                  </a:extLst>
                </a:gridCol>
                <a:gridCol w="2628900">
                  <a:extLst>
                    <a:ext uri="{9D8B030D-6E8A-4147-A177-3AD203B41FA5}">
                      <a16:colId xmlns:a16="http://schemas.microsoft.com/office/drawing/2014/main" val="2236061479"/>
                    </a:ext>
                  </a:extLst>
                </a:gridCol>
                <a:gridCol w="2628900">
                  <a:extLst>
                    <a:ext uri="{9D8B030D-6E8A-4147-A177-3AD203B41FA5}">
                      <a16:colId xmlns:a16="http://schemas.microsoft.com/office/drawing/2014/main" val="4241240352"/>
                    </a:ext>
                  </a:extLst>
                </a:gridCol>
                <a:gridCol w="2628900">
                  <a:extLst>
                    <a:ext uri="{9D8B030D-6E8A-4147-A177-3AD203B41FA5}">
                      <a16:colId xmlns:a16="http://schemas.microsoft.com/office/drawing/2014/main" val="298532619"/>
                    </a:ext>
                  </a:extLst>
                </a:gridCol>
              </a:tblGrid>
              <a:tr h="624840">
                <a:tc>
                  <a:txBody>
                    <a:bodyPr/>
                    <a:lstStyle/>
                    <a:p>
                      <a:pPr algn="ctr">
                        <a:buNone/>
                      </a:pPr>
                      <a:r>
                        <a:rPr lang="vi-VN" b="1">
                          <a:effectLst/>
                        </a:rPr>
                        <a:t>Họ và tên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Mã sinh viên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Tên GitHub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Đóng góp</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9558300"/>
                  </a:ext>
                </a:extLst>
              </a:tr>
              <a:tr h="624840">
                <a:tc>
                  <a:txBody>
                    <a:bodyPr/>
                    <a:lstStyle/>
                    <a:p>
                      <a:pPr algn="ctr">
                        <a:buNone/>
                      </a:pPr>
                      <a:r>
                        <a:rPr lang="vi-VN">
                          <a:effectLst/>
                        </a:rPr>
                        <a:t>Cao Hải An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23001818</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HaianCao</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pipeline chatbot</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4841569"/>
                  </a:ext>
                </a:extLst>
              </a:tr>
              <a:tr h="624840">
                <a:tc>
                  <a:txBody>
                    <a:bodyPr/>
                    <a:lstStyle/>
                    <a:p>
                      <a:pPr algn="ctr">
                        <a:buNone/>
                      </a:pPr>
                      <a:r>
                        <a:rPr lang="vi-VN">
                          <a:effectLst/>
                        </a:rPr>
                        <a:t>Đặng Thế 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23001821</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DangTAnh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Thu thập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5957940"/>
                  </a:ext>
                </a:extLst>
              </a:tr>
              <a:tr h="624840">
                <a:tc>
                  <a:txBody>
                    <a:bodyPr/>
                    <a:lstStyle/>
                    <a:p>
                      <a:pPr algn="ctr">
                        <a:buNone/>
                      </a:pPr>
                      <a:r>
                        <a:rPr lang="vi-VN">
                          <a:effectLst/>
                        </a:rPr>
                        <a:t>Phạm Minh Cương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23001840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mcnb2005</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Phát triển giao diện web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875906"/>
                  </a:ext>
                </a:extLst>
              </a:tr>
              <a:tr h="624840">
                <a:tc>
                  <a:txBody>
                    <a:bodyPr/>
                    <a:lstStyle/>
                    <a:p>
                      <a:pPr algn="ctr">
                        <a:buNone/>
                      </a:pPr>
                      <a:r>
                        <a:rPr lang="vi-VN">
                          <a:effectLst/>
                        </a:rPr>
                        <a:t>Đỗ Minh Đức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23001864</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minhhhduc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module truy xuất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8984594"/>
                  </a:ext>
                </a:extLst>
              </a:tr>
              <a:tr h="624840">
                <a:tc>
                  <a:txBody>
                    <a:bodyPr/>
                    <a:lstStyle/>
                    <a:p>
                      <a:pPr algn="ctr">
                        <a:buNone/>
                      </a:pPr>
                      <a:r>
                        <a:rPr lang="vi-VN">
                          <a:effectLst/>
                        </a:rPr>
                        <a:t>Phạm Nhật Quang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23001920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NhatquangPham</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Tiền xử lý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4997368"/>
                  </a:ext>
                </a:extLst>
              </a:tr>
            </a:tbl>
          </a:graphicData>
        </a:graphic>
      </p:graphicFrame>
      <p:sp>
        <p:nvSpPr>
          <p:cNvPr id="3" name="Slide Number Placeholder 2">
            <a:extLst>
              <a:ext uri="{FF2B5EF4-FFF2-40B4-BE49-F238E27FC236}">
                <a16:creationId xmlns:a16="http://schemas.microsoft.com/office/drawing/2014/main" id="{AF213459-969B-99A3-6186-9362D15A6A3B}"/>
              </a:ext>
            </a:extLst>
          </p:cNvPr>
          <p:cNvSpPr>
            <a:spLocks noGrp="1"/>
          </p:cNvSpPr>
          <p:nvPr>
            <p:ph type="sldNum" sz="quarter" idx="12"/>
          </p:nvPr>
        </p:nvSpPr>
        <p:spPr/>
        <p:txBody>
          <a:bodyPr/>
          <a:lstStyle/>
          <a:p>
            <a:fld id="{4ED22EA6-6E07-498D-89D0-2FA887FD1E5C}" type="slidenum">
              <a:rPr lang="vi-VN" smtClean="0"/>
              <a:t>3</a:t>
            </a:fld>
            <a:endParaRPr lang="vi-VN"/>
          </a:p>
        </p:txBody>
      </p:sp>
    </p:spTree>
    <p:extLst>
      <p:ext uri="{BB962C8B-B14F-4D97-AF65-F5344CB8AC3E}">
        <p14:creationId xmlns:p14="http://schemas.microsoft.com/office/powerpoint/2010/main" val="15882809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78E567-B70B-0E11-1C02-89E4AB15CA90}"/>
              </a:ext>
            </a:extLst>
          </p:cNvPr>
          <p:cNvSpPr>
            <a:spLocks noGrp="1"/>
          </p:cNvSpPr>
          <p:nvPr>
            <p:ph type="title"/>
          </p:nvPr>
        </p:nvSpPr>
        <p:spPr/>
        <p:txBody>
          <a:bodyPr>
            <a:normAutofit/>
          </a:bodyPr>
          <a:lstStyle/>
          <a:p>
            <a:r>
              <a:rPr lang="vi-VN"/>
              <a:t>Nội dung</a:t>
            </a:r>
          </a:p>
        </p:txBody>
      </p:sp>
      <p:sp>
        <p:nvSpPr>
          <p:cNvPr id="5" name="Content Placeholder 4">
            <a:extLst>
              <a:ext uri="{FF2B5EF4-FFF2-40B4-BE49-F238E27FC236}">
                <a16:creationId xmlns:a16="http://schemas.microsoft.com/office/drawing/2014/main" id="{C8082702-813A-0A26-4DDD-C4AF5AFBB6A0}"/>
              </a:ext>
            </a:extLst>
          </p:cNvPr>
          <p:cNvSpPr>
            <a:spLocks noGrp="1"/>
          </p:cNvSpPr>
          <p:nvPr>
            <p:ph idx="1"/>
          </p:nvPr>
        </p:nvSpPr>
        <p:spPr/>
        <p:txBody>
          <a:bodyPr/>
          <a:lstStyle/>
          <a:p>
            <a:pPr marL="571500" indent="-571500">
              <a:buFont typeface="+mj-lt"/>
              <a:buAutoNum type="romanUcPeriod"/>
            </a:pPr>
            <a:r>
              <a:rPr lang="vi-VN"/>
              <a:t>Giới thiệu bài toán</a:t>
            </a:r>
          </a:p>
          <a:p>
            <a:pPr marL="571500" indent="-571500">
              <a:buFont typeface="+mj-lt"/>
              <a:buAutoNum type="romanUcPeriod"/>
            </a:pPr>
            <a:r>
              <a:rPr lang="vi-VN"/>
              <a:t>Tổng quan dự án</a:t>
            </a:r>
          </a:p>
          <a:p>
            <a:pPr marL="571500" indent="-571500">
              <a:buFont typeface="+mj-lt"/>
              <a:buAutoNum type="romanUcPeriod"/>
            </a:pPr>
            <a:r>
              <a:rPr lang="vi-VN"/>
              <a:t>Xử lý dữ liệu</a:t>
            </a:r>
          </a:p>
          <a:p>
            <a:pPr marL="571500" indent="-571500">
              <a:buFont typeface="+mj-lt"/>
              <a:buAutoNum type="romanUcPeriod"/>
            </a:pPr>
            <a:r>
              <a:rPr lang="vi-VN"/>
              <a:t>Hệ thống chatbot</a:t>
            </a:r>
          </a:p>
          <a:p>
            <a:pPr marL="571500" indent="-571500">
              <a:buFont typeface="+mj-lt"/>
              <a:buAutoNum type="romanUcPeriod"/>
            </a:pPr>
            <a:r>
              <a:rPr lang="vi-VN"/>
              <a:t>Kết quả và đánh giá</a:t>
            </a:r>
          </a:p>
          <a:p>
            <a:pPr marL="571500" indent="-571500">
              <a:buFont typeface="+mj-lt"/>
              <a:buAutoNum type="romanUcPeriod"/>
            </a:pPr>
            <a:r>
              <a:rPr lang="vi-VN"/>
              <a:t>Demo chatbot</a:t>
            </a:r>
          </a:p>
        </p:txBody>
      </p:sp>
      <p:sp>
        <p:nvSpPr>
          <p:cNvPr id="2" name="Slide Number Placeholder 1">
            <a:extLst>
              <a:ext uri="{FF2B5EF4-FFF2-40B4-BE49-F238E27FC236}">
                <a16:creationId xmlns:a16="http://schemas.microsoft.com/office/drawing/2014/main" id="{78754410-70EE-5842-2061-7BB65E0275C2}"/>
              </a:ext>
            </a:extLst>
          </p:cNvPr>
          <p:cNvSpPr>
            <a:spLocks noGrp="1"/>
          </p:cNvSpPr>
          <p:nvPr>
            <p:ph type="sldNum" sz="quarter" idx="12"/>
          </p:nvPr>
        </p:nvSpPr>
        <p:spPr/>
        <p:txBody>
          <a:bodyPr/>
          <a:lstStyle/>
          <a:p>
            <a:fld id="{4ED22EA6-6E07-498D-89D0-2FA887FD1E5C}" type="slidenum">
              <a:rPr lang="vi-VN" smtClean="0"/>
              <a:t>4</a:t>
            </a:fld>
            <a:endParaRPr lang="vi-VN"/>
          </a:p>
        </p:txBody>
      </p:sp>
    </p:spTree>
    <p:extLst>
      <p:ext uri="{BB962C8B-B14F-4D97-AF65-F5344CB8AC3E}">
        <p14:creationId xmlns:p14="http://schemas.microsoft.com/office/powerpoint/2010/main" val="276134950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Effect transition="in" filter="fade">
                                      <p:cBhvr>
                                        <p:cTn id="19" dur="500"/>
                                        <p:tgtEl>
                                          <p:spTgt spid="5">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6AF57-F788-56C9-0B67-723CFEE864DF}"/>
              </a:ext>
            </a:extLst>
          </p:cNvPr>
          <p:cNvSpPr>
            <a:spLocks noGrp="1"/>
          </p:cNvSpPr>
          <p:nvPr>
            <p:ph type="title"/>
          </p:nvPr>
        </p:nvSpPr>
        <p:spPr/>
        <p:txBody>
          <a:bodyPr/>
          <a:lstStyle/>
          <a:p>
            <a:r>
              <a:rPr lang="vi-VN"/>
              <a:t>I. Giới thiệu bài toán</a:t>
            </a:r>
          </a:p>
        </p:txBody>
      </p:sp>
      <p:sp>
        <p:nvSpPr>
          <p:cNvPr id="5" name="Text Placeholder 4">
            <a:extLst>
              <a:ext uri="{FF2B5EF4-FFF2-40B4-BE49-F238E27FC236}">
                <a16:creationId xmlns:a16="http://schemas.microsoft.com/office/drawing/2014/main" id="{BC145286-C8F2-6C67-B93A-8FA1D37DCBD1}"/>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C4DB4B84-A1BC-C65E-FBB2-20F2AD02EA06}"/>
              </a:ext>
            </a:extLst>
          </p:cNvPr>
          <p:cNvSpPr>
            <a:spLocks noGrp="1"/>
          </p:cNvSpPr>
          <p:nvPr>
            <p:ph type="sldNum" sz="quarter" idx="12"/>
          </p:nvPr>
        </p:nvSpPr>
        <p:spPr/>
        <p:txBody>
          <a:bodyPr/>
          <a:lstStyle/>
          <a:p>
            <a:fld id="{4ED22EA6-6E07-498D-89D0-2FA887FD1E5C}" type="slidenum">
              <a:rPr lang="vi-VN" smtClean="0"/>
              <a:t>5</a:t>
            </a:fld>
            <a:endParaRPr lang="vi-VN"/>
          </a:p>
        </p:txBody>
      </p:sp>
    </p:spTree>
    <p:extLst>
      <p:ext uri="{BB962C8B-B14F-4D97-AF65-F5344CB8AC3E}">
        <p14:creationId xmlns:p14="http://schemas.microsoft.com/office/powerpoint/2010/main" val="22209701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B3AB754-2DB6-DA97-3832-C8A2D61F8EFC}"/>
              </a:ext>
            </a:extLst>
          </p:cNvPr>
          <p:cNvSpPr>
            <a:spLocks noGrp="1"/>
          </p:cNvSpPr>
          <p:nvPr>
            <p:ph type="title"/>
          </p:nvPr>
        </p:nvSpPr>
        <p:spPr/>
        <p:txBody>
          <a:bodyPr>
            <a:normAutofit/>
          </a:bodyPr>
          <a:lstStyle/>
          <a:p>
            <a:r>
              <a:rPr lang="vi-VN"/>
              <a:t>I. Giới thiệu bài toán</a:t>
            </a:r>
          </a:p>
        </p:txBody>
      </p:sp>
      <p:sp>
        <p:nvSpPr>
          <p:cNvPr id="5" name="Content Placeholder 4">
            <a:extLst>
              <a:ext uri="{FF2B5EF4-FFF2-40B4-BE49-F238E27FC236}">
                <a16:creationId xmlns:a16="http://schemas.microsoft.com/office/drawing/2014/main" id="{9314A38F-11BF-DFC1-6B22-808F8FF347B9}"/>
              </a:ext>
            </a:extLst>
          </p:cNvPr>
          <p:cNvSpPr>
            <a:spLocks noGrp="1"/>
          </p:cNvSpPr>
          <p:nvPr>
            <p:ph idx="1"/>
          </p:nvPr>
        </p:nvSpPr>
        <p:spPr/>
        <p:txBody>
          <a:bodyPr/>
          <a:lstStyle/>
          <a:p>
            <a:r>
              <a:rPr lang="vi-VN" b="1"/>
              <a:t>Bối cảnh</a:t>
            </a:r>
            <a:r>
              <a:rPr lang="vi-VN"/>
              <a:t>: Ngày nay, người dùng ngày càng có xu hướng tìm kiếm giải pháp nhanh, chính xác và mang tính cá nhân hóa. Trong đó việc lựa chọn món ăn và tìm kiếm công thức nấu nướng là những nhu cầu phổ biến.</a:t>
            </a:r>
          </a:p>
          <a:p>
            <a:r>
              <a:rPr lang="vi-VN" b="1"/>
              <a:t>Thách thức</a:t>
            </a:r>
            <a:r>
              <a:rPr lang="vi-VN"/>
              <a:t>:</a:t>
            </a:r>
          </a:p>
          <a:p>
            <a:pPr lvl="1"/>
            <a:r>
              <a:rPr lang="vi-VN"/>
              <a:t>Dữ liệu bị phân tán</a:t>
            </a:r>
          </a:p>
          <a:p>
            <a:pPr lvl="1"/>
            <a:r>
              <a:rPr lang="vi-VN"/>
              <a:t>Chất lượng không đồng đều</a:t>
            </a:r>
          </a:p>
          <a:p>
            <a:pPr lvl="1"/>
            <a:r>
              <a:rPr lang="vi-VN"/>
              <a:t>Khó phù hợp với điều kiện thực tế</a:t>
            </a:r>
          </a:p>
        </p:txBody>
      </p:sp>
      <p:sp>
        <p:nvSpPr>
          <p:cNvPr id="2" name="Slide Number Placeholder 1">
            <a:extLst>
              <a:ext uri="{FF2B5EF4-FFF2-40B4-BE49-F238E27FC236}">
                <a16:creationId xmlns:a16="http://schemas.microsoft.com/office/drawing/2014/main" id="{1D63465E-DDC1-1BCF-9EB6-42F89053D50F}"/>
              </a:ext>
            </a:extLst>
          </p:cNvPr>
          <p:cNvSpPr>
            <a:spLocks noGrp="1"/>
          </p:cNvSpPr>
          <p:nvPr>
            <p:ph type="sldNum" sz="quarter" idx="12"/>
          </p:nvPr>
        </p:nvSpPr>
        <p:spPr/>
        <p:txBody>
          <a:bodyPr/>
          <a:lstStyle/>
          <a:p>
            <a:fld id="{4ED22EA6-6E07-498D-89D0-2FA887FD1E5C}" type="slidenum">
              <a:rPr lang="vi-VN" smtClean="0"/>
              <a:t>6</a:t>
            </a:fld>
            <a:endParaRPr lang="vi-VN"/>
          </a:p>
        </p:txBody>
      </p:sp>
    </p:spTree>
    <p:extLst>
      <p:ext uri="{BB962C8B-B14F-4D97-AF65-F5344CB8AC3E}">
        <p14:creationId xmlns:p14="http://schemas.microsoft.com/office/powerpoint/2010/main" val="21538542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Effect transition="in" filter="fade">
                                      <p:cBhvr>
                                        <p:cTn id="11" dur="500"/>
                                        <p:tgtEl>
                                          <p:spTgt spid="5">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animEffect transition="in" filter="fade">
                                      <p:cBhvr>
                                        <p:cTn id="14" dur="500"/>
                                        <p:tgtEl>
                                          <p:spTgt spid="5">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500"/>
                                        <p:tgtEl>
                                          <p:spTgt spid="5">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F606-93C7-EC7A-7AA5-2BC08CF014EB}"/>
              </a:ext>
            </a:extLst>
          </p:cNvPr>
          <p:cNvSpPr>
            <a:spLocks noGrp="1"/>
          </p:cNvSpPr>
          <p:nvPr>
            <p:ph type="title"/>
          </p:nvPr>
        </p:nvSpPr>
        <p:spPr/>
        <p:txBody>
          <a:bodyPr>
            <a:normAutofit/>
          </a:bodyPr>
          <a:lstStyle/>
          <a:p>
            <a:r>
              <a:rPr lang="vi-VN"/>
              <a:t>I. Giới thiệu bài toán</a:t>
            </a:r>
          </a:p>
        </p:txBody>
      </p:sp>
      <p:sp>
        <p:nvSpPr>
          <p:cNvPr id="3" name="Content Placeholder 2">
            <a:extLst>
              <a:ext uri="{FF2B5EF4-FFF2-40B4-BE49-F238E27FC236}">
                <a16:creationId xmlns:a16="http://schemas.microsoft.com/office/drawing/2014/main" id="{4D9D3425-9FDF-26CA-098D-DB7B87F192A5}"/>
              </a:ext>
            </a:extLst>
          </p:cNvPr>
          <p:cNvSpPr>
            <a:spLocks noGrp="1"/>
          </p:cNvSpPr>
          <p:nvPr>
            <p:ph idx="1"/>
          </p:nvPr>
        </p:nvSpPr>
        <p:spPr/>
        <p:txBody>
          <a:bodyPr/>
          <a:lstStyle/>
          <a:p>
            <a:r>
              <a:rPr lang="vi-VN" b="1"/>
              <a:t>Mục tiêu</a:t>
            </a:r>
            <a:r>
              <a:rPr lang="vi-VN"/>
              <a:t>: Xây dựng một hệ thống chatbot ẩm thực thông minh có khả năng cung cấp thông tin toàn diện.</a:t>
            </a:r>
          </a:p>
          <a:p>
            <a:r>
              <a:rPr lang="vi-VN" b="1"/>
              <a:t>Yêu cầu</a:t>
            </a:r>
            <a:r>
              <a:rPr lang="vi-VN"/>
              <a:t>: </a:t>
            </a:r>
          </a:p>
          <a:p>
            <a:pPr lvl="1"/>
            <a:r>
              <a:rPr lang="vi-VN"/>
              <a:t>Chính xác và nhanh chóng</a:t>
            </a:r>
          </a:p>
          <a:p>
            <a:pPr lvl="1"/>
            <a:r>
              <a:rPr lang="vi-VN"/>
              <a:t>Trả lời tự nhiên, mạch lạc và đáng tin cậy</a:t>
            </a:r>
          </a:p>
          <a:p>
            <a:pPr lvl="1"/>
            <a:r>
              <a:rPr lang="vi-VN"/>
              <a:t>Cá nhân hóa</a:t>
            </a:r>
          </a:p>
        </p:txBody>
      </p:sp>
      <p:sp>
        <p:nvSpPr>
          <p:cNvPr id="4" name="Slide Number Placeholder 3">
            <a:extLst>
              <a:ext uri="{FF2B5EF4-FFF2-40B4-BE49-F238E27FC236}">
                <a16:creationId xmlns:a16="http://schemas.microsoft.com/office/drawing/2014/main" id="{56A646C7-C7AF-B9E5-9FBD-C914E8F27869}"/>
              </a:ext>
            </a:extLst>
          </p:cNvPr>
          <p:cNvSpPr>
            <a:spLocks noGrp="1"/>
          </p:cNvSpPr>
          <p:nvPr>
            <p:ph type="sldNum" sz="quarter" idx="12"/>
          </p:nvPr>
        </p:nvSpPr>
        <p:spPr/>
        <p:txBody>
          <a:bodyPr/>
          <a:lstStyle/>
          <a:p>
            <a:fld id="{4ED22EA6-6E07-498D-89D0-2FA887FD1E5C}" type="slidenum">
              <a:rPr lang="vi-VN" smtClean="0"/>
              <a:t>7</a:t>
            </a:fld>
            <a:endParaRPr lang="vi-VN"/>
          </a:p>
        </p:txBody>
      </p:sp>
    </p:spTree>
    <p:extLst>
      <p:ext uri="{BB962C8B-B14F-4D97-AF65-F5344CB8AC3E}">
        <p14:creationId xmlns:p14="http://schemas.microsoft.com/office/powerpoint/2010/main" val="3700850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50A3C9-3BFD-D010-6477-9115EA1F0CA1}"/>
              </a:ext>
            </a:extLst>
          </p:cNvPr>
          <p:cNvSpPr>
            <a:spLocks noGrp="1"/>
          </p:cNvSpPr>
          <p:nvPr>
            <p:ph type="title"/>
          </p:nvPr>
        </p:nvSpPr>
        <p:spPr/>
        <p:txBody>
          <a:bodyPr/>
          <a:lstStyle/>
          <a:p>
            <a:r>
              <a:rPr lang="vi-VN"/>
              <a:t>II. Tổng quan dự án</a:t>
            </a:r>
          </a:p>
        </p:txBody>
      </p:sp>
      <p:sp>
        <p:nvSpPr>
          <p:cNvPr id="5" name="Text Placeholder 4">
            <a:extLst>
              <a:ext uri="{FF2B5EF4-FFF2-40B4-BE49-F238E27FC236}">
                <a16:creationId xmlns:a16="http://schemas.microsoft.com/office/drawing/2014/main" id="{7B9C6940-7F49-2812-E283-0108708D771D}"/>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80110AFD-5477-3C32-5F5C-283026D6E3B2}"/>
              </a:ext>
            </a:extLst>
          </p:cNvPr>
          <p:cNvSpPr>
            <a:spLocks noGrp="1"/>
          </p:cNvSpPr>
          <p:nvPr>
            <p:ph type="sldNum" sz="quarter" idx="12"/>
          </p:nvPr>
        </p:nvSpPr>
        <p:spPr/>
        <p:txBody>
          <a:bodyPr/>
          <a:lstStyle/>
          <a:p>
            <a:fld id="{4ED22EA6-6E07-498D-89D0-2FA887FD1E5C}" type="slidenum">
              <a:rPr lang="vi-VN" smtClean="0"/>
              <a:t>8</a:t>
            </a:fld>
            <a:endParaRPr lang="vi-VN"/>
          </a:p>
        </p:txBody>
      </p:sp>
    </p:spTree>
    <p:extLst>
      <p:ext uri="{BB962C8B-B14F-4D97-AF65-F5344CB8AC3E}">
        <p14:creationId xmlns:p14="http://schemas.microsoft.com/office/powerpoint/2010/main" val="16388524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A8FE9C-CAE1-B1A6-B45B-629AC957AE74}"/>
              </a:ext>
            </a:extLst>
          </p:cNvPr>
          <p:cNvSpPr>
            <a:spLocks noGrp="1"/>
          </p:cNvSpPr>
          <p:nvPr>
            <p:ph type="title"/>
          </p:nvPr>
        </p:nvSpPr>
        <p:spPr/>
        <p:txBody>
          <a:bodyPr>
            <a:normAutofit/>
          </a:bodyPr>
          <a:lstStyle/>
          <a:p>
            <a:r>
              <a:rPr lang="vi-VN"/>
              <a:t>II. Tổng quan dự án</a:t>
            </a:r>
          </a:p>
        </p:txBody>
      </p:sp>
      <p:sp>
        <p:nvSpPr>
          <p:cNvPr id="5" name="Content Placeholder 4">
            <a:extLst>
              <a:ext uri="{FF2B5EF4-FFF2-40B4-BE49-F238E27FC236}">
                <a16:creationId xmlns:a16="http://schemas.microsoft.com/office/drawing/2014/main" id="{9D951E52-0288-4859-0260-9D52DE4BEBE9}"/>
              </a:ext>
            </a:extLst>
          </p:cNvPr>
          <p:cNvSpPr>
            <a:spLocks noGrp="1"/>
          </p:cNvSpPr>
          <p:nvPr>
            <p:ph idx="1"/>
          </p:nvPr>
        </p:nvSpPr>
        <p:spPr/>
        <p:txBody>
          <a:bodyPr/>
          <a:lstStyle/>
          <a:p>
            <a:r>
              <a:rPr lang="vi-VN"/>
              <a:t>Dự án chatbot ẩm thực được xây dựng dựa trên sự kết hợp giữa:</a:t>
            </a:r>
          </a:p>
          <a:p>
            <a:pPr lvl="1"/>
            <a:r>
              <a:rPr lang="vi-VN"/>
              <a:t>­</a:t>
            </a:r>
            <a:r>
              <a:rPr lang="vi-VN">
                <a:solidFill>
                  <a:schemeClr val="accent2">
                    <a:lumMod val="75000"/>
                  </a:schemeClr>
                </a:solidFill>
              </a:rPr>
              <a:t>Mô hình ngôn ngữ lớn </a:t>
            </a:r>
            <a:r>
              <a:rPr lang="vi-VN"/>
              <a:t>(</a:t>
            </a:r>
            <a:r>
              <a:rPr lang="vi-VN" i="1">
                <a:solidFill>
                  <a:schemeClr val="accent2">
                    <a:lumMod val="75000"/>
                  </a:schemeClr>
                </a:solidFill>
              </a:rPr>
              <a:t>Large Language Model – LLM</a:t>
            </a:r>
            <a:r>
              <a:rPr lang="vi-VN"/>
              <a:t>)</a:t>
            </a:r>
          </a:p>
          <a:p>
            <a:pPr lvl="1"/>
            <a:r>
              <a:rPr lang="vi-VN"/>
              <a:t>Kiến trúc </a:t>
            </a:r>
            <a:r>
              <a:rPr lang="vi-VN">
                <a:solidFill>
                  <a:schemeClr val="tx2">
                    <a:lumMod val="75000"/>
                    <a:lumOff val="25000"/>
                  </a:schemeClr>
                </a:solidFill>
              </a:rPr>
              <a:t>Retrieval-Augmented Generation </a:t>
            </a:r>
            <a:r>
              <a:rPr lang="vi-VN"/>
              <a:t>(</a:t>
            </a:r>
            <a:r>
              <a:rPr lang="vi-VN" i="1">
                <a:solidFill>
                  <a:schemeClr val="tx2">
                    <a:lumMod val="75000"/>
                    <a:lumOff val="25000"/>
                  </a:schemeClr>
                </a:solidFill>
              </a:rPr>
              <a:t>RAG</a:t>
            </a:r>
            <a:r>
              <a:rPr lang="vi-VN"/>
              <a:t>)</a:t>
            </a:r>
          </a:p>
          <a:p>
            <a:pPr lvl="1"/>
            <a:r>
              <a:rPr lang="vi-VN"/>
              <a:t>­</a:t>
            </a:r>
            <a:r>
              <a:rPr lang="vi-VN">
                <a:solidFill>
                  <a:schemeClr val="accent6">
                    <a:lumMod val="75000"/>
                  </a:schemeClr>
                </a:solidFill>
              </a:rPr>
              <a:t>Cơ sở dữ liệu vector</a:t>
            </a:r>
          </a:p>
          <a:p>
            <a:pPr>
              <a:buFont typeface="Arial" panose="020B0604020202020204" pitchFamily="34" charset="0"/>
              <a:buChar char="→"/>
            </a:pPr>
            <a:r>
              <a:rPr lang="vi-VN"/>
              <a:t>Khắc phục hạn chế về tính cập nhật của mô hình ngôn ngữ đơn thuần, đồng thời duy trì chất lượng ngôn ngữ tự nhiên và khả năng gợi ý chính xác theo bối cảnh.</a:t>
            </a:r>
          </a:p>
        </p:txBody>
      </p:sp>
      <p:sp>
        <p:nvSpPr>
          <p:cNvPr id="2" name="Slide Number Placeholder 1">
            <a:extLst>
              <a:ext uri="{FF2B5EF4-FFF2-40B4-BE49-F238E27FC236}">
                <a16:creationId xmlns:a16="http://schemas.microsoft.com/office/drawing/2014/main" id="{052B9AE1-6DA4-401A-A6E9-3EDA0330A6E4}"/>
              </a:ext>
            </a:extLst>
          </p:cNvPr>
          <p:cNvSpPr>
            <a:spLocks noGrp="1"/>
          </p:cNvSpPr>
          <p:nvPr>
            <p:ph type="sldNum" sz="quarter" idx="12"/>
          </p:nvPr>
        </p:nvSpPr>
        <p:spPr/>
        <p:txBody>
          <a:bodyPr/>
          <a:lstStyle/>
          <a:p>
            <a:fld id="{4ED22EA6-6E07-498D-89D0-2FA887FD1E5C}" type="slidenum">
              <a:rPr lang="vi-VN" smtClean="0"/>
              <a:t>9</a:t>
            </a:fld>
            <a:endParaRPr lang="vi-VN"/>
          </a:p>
        </p:txBody>
      </p:sp>
    </p:spTree>
    <p:extLst>
      <p:ext uri="{BB962C8B-B14F-4D97-AF65-F5344CB8AC3E}">
        <p14:creationId xmlns:p14="http://schemas.microsoft.com/office/powerpoint/2010/main" val="15818597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4C86-62CB-39B4-A02E-BB60E120F45E}"/>
              </a:ext>
            </a:extLst>
          </p:cNvPr>
          <p:cNvSpPr>
            <a:spLocks noGrp="1"/>
          </p:cNvSpPr>
          <p:nvPr>
            <p:ph type="title"/>
          </p:nvPr>
        </p:nvSpPr>
        <p:spPr/>
        <p:txBody>
          <a:bodyPr>
            <a:normAutofit/>
          </a:bodyPr>
          <a:lstStyle/>
          <a:p>
            <a:r>
              <a:rPr lang="vi-VN"/>
              <a:t>II. Tổng quan </a:t>
            </a:r>
          </a:p>
        </p:txBody>
      </p:sp>
      <p:sp>
        <p:nvSpPr>
          <p:cNvPr id="3" name="Content Placeholder 2">
            <a:extLst>
              <a:ext uri="{FF2B5EF4-FFF2-40B4-BE49-F238E27FC236}">
                <a16:creationId xmlns:a16="http://schemas.microsoft.com/office/drawing/2014/main" id="{79FB7FE2-068B-73CF-B35A-C475FF79C662}"/>
              </a:ext>
            </a:extLst>
          </p:cNvPr>
          <p:cNvSpPr>
            <a:spLocks noGrp="1"/>
          </p:cNvSpPr>
          <p:nvPr>
            <p:ph idx="1"/>
          </p:nvPr>
        </p:nvSpPr>
        <p:spPr/>
        <p:txBody>
          <a:bodyPr/>
          <a:lstStyle/>
          <a:p>
            <a:r>
              <a:rPr lang="vi-VN" b="1"/>
              <a:t>Quy trình xử lý dữ liệu</a:t>
            </a:r>
            <a:r>
              <a:rPr lang="vi-VN"/>
              <a:t>:</a:t>
            </a:r>
          </a:p>
          <a:p>
            <a:pPr marL="914400" lvl="1" indent="-457200">
              <a:buFont typeface="+mj-lt"/>
              <a:buAutoNum type="arabicPeriod"/>
            </a:pPr>
            <a:r>
              <a:rPr lang="vi-VN"/>
              <a:t>Thu thập (sử dụng crawler)</a:t>
            </a:r>
          </a:p>
          <a:p>
            <a:pPr marL="914400" lvl="1" indent="-457200">
              <a:buFont typeface="+mj-lt"/>
              <a:buAutoNum type="arabicPeriod"/>
            </a:pPr>
            <a:r>
              <a:rPr lang="vi-VN"/>
              <a:t>Tiền xử lý</a:t>
            </a:r>
          </a:p>
          <a:p>
            <a:pPr marL="914400" lvl="1" indent="-457200">
              <a:buFont typeface="+mj-lt"/>
              <a:buAutoNum type="arabicPeriod"/>
            </a:pPr>
            <a:r>
              <a:rPr lang="vi-VN"/>
              <a:t>Nhúng và thêm vào cơ sở dữ liệu </a:t>
            </a:r>
            <a:r>
              <a:rPr lang="vi-VN" b="1">
                <a:solidFill>
                  <a:schemeClr val="accent6">
                    <a:lumMod val="75000"/>
                  </a:schemeClr>
                </a:solidFill>
              </a:rPr>
              <a:t>ChromaDB</a:t>
            </a:r>
          </a:p>
          <a:p>
            <a:r>
              <a:rPr lang="vi-VN" b="1"/>
              <a:t>Luồng phục vụ</a:t>
            </a:r>
            <a:r>
              <a:rPr lang="vi-VN"/>
              <a:t>: </a:t>
            </a:r>
          </a:p>
          <a:p>
            <a:pPr marL="457200" lvl="1" indent="0">
              <a:buNone/>
            </a:pPr>
            <a:r>
              <a:rPr lang="vi-VN"/>
              <a:t>Người dùng</a:t>
            </a:r>
          </a:p>
          <a:p>
            <a:pPr lvl="1">
              <a:buFont typeface="Arial" panose="020B0604020202020204" pitchFamily="34" charset="0"/>
              <a:buChar char="→"/>
            </a:pPr>
            <a:r>
              <a:rPr lang="vi-VN"/>
              <a:t>Web UI / API</a:t>
            </a:r>
          </a:p>
          <a:p>
            <a:pPr lvl="1">
              <a:buFont typeface="Arial" panose="020B0604020202020204" pitchFamily="34" charset="0"/>
              <a:buChar char="→"/>
            </a:pPr>
            <a:r>
              <a:rPr lang="vi-VN"/>
              <a:t>Chatbot</a:t>
            </a:r>
          </a:p>
          <a:p>
            <a:pPr lvl="1">
              <a:buFont typeface="Arial" panose="020B0604020202020204" pitchFamily="34" charset="0"/>
              <a:buChar char="→"/>
            </a:pPr>
            <a:r>
              <a:rPr lang="vi-VN"/>
              <a:t>­</a:t>
            </a:r>
            <a:r>
              <a:rPr lang="vi-VN" b="1">
                <a:solidFill>
                  <a:schemeClr val="accent6">
                    <a:lumMod val="75000"/>
                  </a:schemeClr>
                </a:solidFill>
              </a:rPr>
              <a:t>ChromaDBManager</a:t>
            </a:r>
            <a:r>
              <a:rPr lang="vi-VN"/>
              <a:t> và </a:t>
            </a:r>
            <a:r>
              <a:rPr lang="vi-VN" b="1">
                <a:solidFill>
                  <a:schemeClr val="accent2">
                    <a:lumMod val="75000"/>
                  </a:schemeClr>
                </a:solidFill>
              </a:rPr>
              <a:t>GeminiClient</a:t>
            </a:r>
          </a:p>
        </p:txBody>
      </p:sp>
      <p:sp>
        <p:nvSpPr>
          <p:cNvPr id="4" name="Slide Number Placeholder 3">
            <a:extLst>
              <a:ext uri="{FF2B5EF4-FFF2-40B4-BE49-F238E27FC236}">
                <a16:creationId xmlns:a16="http://schemas.microsoft.com/office/drawing/2014/main" id="{82C40393-380B-6ECE-B7F5-B8BA121C706E}"/>
              </a:ext>
            </a:extLst>
          </p:cNvPr>
          <p:cNvSpPr>
            <a:spLocks noGrp="1"/>
          </p:cNvSpPr>
          <p:nvPr>
            <p:ph type="sldNum" sz="quarter" idx="12"/>
          </p:nvPr>
        </p:nvSpPr>
        <p:spPr/>
        <p:txBody>
          <a:bodyPr/>
          <a:lstStyle/>
          <a:p>
            <a:fld id="{4ED22EA6-6E07-498D-89D0-2FA887FD1E5C}" type="slidenum">
              <a:rPr lang="vi-VN" smtClean="0"/>
              <a:t>10</a:t>
            </a:fld>
            <a:endParaRPr lang="vi-VN"/>
          </a:p>
        </p:txBody>
      </p:sp>
    </p:spTree>
    <p:extLst>
      <p:ext uri="{BB962C8B-B14F-4D97-AF65-F5344CB8AC3E}">
        <p14:creationId xmlns:p14="http://schemas.microsoft.com/office/powerpoint/2010/main" val="3836882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fade">
                                      <p:cBhvr>
                                        <p:cTn id="26" dur="500"/>
                                        <p:tgtEl>
                                          <p:spTgt spid="3">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404B7C-752B-9D9B-0556-A4A9327EB234}"/>
              </a:ext>
            </a:extLst>
          </p:cNvPr>
          <p:cNvSpPr>
            <a:spLocks noGrp="1"/>
          </p:cNvSpPr>
          <p:nvPr>
            <p:ph type="title"/>
          </p:nvPr>
        </p:nvSpPr>
        <p:spPr/>
        <p:txBody>
          <a:bodyPr/>
          <a:lstStyle/>
          <a:p>
            <a:r>
              <a:rPr lang="vi-VN"/>
              <a:t>III. Xử lý dữ liệu</a:t>
            </a:r>
          </a:p>
        </p:txBody>
      </p:sp>
      <p:sp>
        <p:nvSpPr>
          <p:cNvPr id="5" name="Text Placeholder 4">
            <a:extLst>
              <a:ext uri="{FF2B5EF4-FFF2-40B4-BE49-F238E27FC236}">
                <a16:creationId xmlns:a16="http://schemas.microsoft.com/office/drawing/2014/main" id="{CC14FF5B-D4B0-2B83-9F05-3AC22BAD3118}"/>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E5070595-E991-D61F-965B-38FB855A2B05}"/>
              </a:ext>
            </a:extLst>
          </p:cNvPr>
          <p:cNvSpPr>
            <a:spLocks noGrp="1"/>
          </p:cNvSpPr>
          <p:nvPr>
            <p:ph type="sldNum" sz="quarter" idx="12"/>
          </p:nvPr>
        </p:nvSpPr>
        <p:spPr/>
        <p:txBody>
          <a:bodyPr/>
          <a:lstStyle/>
          <a:p>
            <a:fld id="{4ED22EA6-6E07-498D-89D0-2FA887FD1E5C}" type="slidenum">
              <a:rPr lang="vi-VN" smtClean="0"/>
              <a:t>11</a:t>
            </a:fld>
            <a:endParaRPr lang="vi-VN"/>
          </a:p>
        </p:txBody>
      </p:sp>
    </p:spTree>
    <p:extLst>
      <p:ext uri="{BB962C8B-B14F-4D97-AF65-F5344CB8AC3E}">
        <p14:creationId xmlns:p14="http://schemas.microsoft.com/office/powerpoint/2010/main" val="26524191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AB34-4873-4C08-36A0-33779B06ECF5}"/>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FCD086AB-2D44-0F24-5D87-BA040659E2F1}"/>
              </a:ext>
            </a:extLst>
          </p:cNvPr>
          <p:cNvSpPr>
            <a:spLocks noGrp="1"/>
          </p:cNvSpPr>
          <p:nvPr>
            <p:ph idx="1"/>
          </p:nvPr>
        </p:nvSpPr>
        <p:spPr/>
        <p:txBody>
          <a:bodyPr/>
          <a:lstStyle/>
          <a:p>
            <a:r>
              <a:rPr lang="vi-VN" dirty="0"/>
              <a:t>Dữ liệu được thu thập từ </a:t>
            </a:r>
            <a:r>
              <a:rPr lang="vi-VN" i="1" dirty="0">
                <a:hlinkClick r:id="rId2"/>
              </a:rPr>
              <a:t>therecipecritic.com</a:t>
            </a:r>
            <a:r>
              <a:rPr lang="vi-VN" i="1" dirty="0"/>
              <a:t> </a:t>
            </a:r>
            <a:r>
              <a:rPr lang="vi-VN" dirty="0"/>
              <a:t>sử dụng </a:t>
            </a:r>
            <a:r>
              <a:rPr lang="vi-VN" dirty="0" err="1"/>
              <a:t>Selenium</a:t>
            </a:r>
            <a:r>
              <a:rPr lang="vi-VN" dirty="0"/>
              <a:t> với </a:t>
            </a:r>
            <a:r>
              <a:rPr lang="vi-VN" dirty="0" err="1"/>
              <a:t>driver</a:t>
            </a:r>
            <a:r>
              <a:rPr lang="vi-VN" dirty="0"/>
              <a:t> </a:t>
            </a:r>
            <a:r>
              <a:rPr lang="vi-VN" dirty="0" err="1"/>
              <a:t>Chrome</a:t>
            </a:r>
            <a:r>
              <a:rPr lang="vi-VN" dirty="0"/>
              <a:t>.</a:t>
            </a:r>
          </a:p>
          <a:p>
            <a:r>
              <a:rPr lang="vi-VN" dirty="0"/>
              <a:t>Gồm </a:t>
            </a:r>
            <a:r>
              <a:rPr lang="en-US" dirty="0"/>
              <a:t>3</a:t>
            </a:r>
            <a:r>
              <a:rPr lang="vi-VN" dirty="0"/>
              <a:t> giai đoạn chính:</a:t>
            </a:r>
          </a:p>
          <a:p>
            <a:pPr marL="914400" lvl="1" indent="-457200">
              <a:buFont typeface="+mj-lt"/>
              <a:buAutoNum type="arabicPeriod"/>
            </a:pPr>
            <a:r>
              <a:rPr lang="vi-VN" dirty="0"/>
              <a:t>Thu thập đường dẫn danh mục</a:t>
            </a:r>
          </a:p>
          <a:p>
            <a:pPr marL="914400" lvl="1" indent="-457200">
              <a:buFont typeface="+mj-lt"/>
              <a:buAutoNum type="arabicPeriod"/>
            </a:pPr>
            <a:r>
              <a:rPr lang="vi-VN" dirty="0"/>
              <a:t>Thu thập đường dẫn của từng công thức.</a:t>
            </a:r>
            <a:endParaRPr lang="en-US" dirty="0"/>
          </a:p>
          <a:p>
            <a:pPr marL="914400" lvl="1" indent="-457200">
              <a:buFont typeface="+mj-lt"/>
              <a:buAutoNum type="arabicPeriod"/>
            </a:pPr>
            <a:r>
              <a:rPr lang="en-US" dirty="0"/>
              <a:t>Thu </a:t>
            </a:r>
            <a:r>
              <a:rPr lang="en-US" dirty="0" err="1"/>
              <a:t>thập</a:t>
            </a:r>
            <a:r>
              <a:rPr lang="en-US" dirty="0"/>
              <a:t> </a:t>
            </a:r>
            <a:r>
              <a:rPr lang="en-US" dirty="0" err="1"/>
              <a:t>công</a:t>
            </a:r>
            <a:r>
              <a:rPr lang="en-US" dirty="0"/>
              <a:t> </a:t>
            </a:r>
            <a:r>
              <a:rPr lang="en-US" dirty="0" err="1"/>
              <a:t>thức</a:t>
            </a:r>
            <a:r>
              <a:rPr lang="en-US" dirty="0"/>
              <a:t> chi </a:t>
            </a:r>
            <a:r>
              <a:rPr lang="en-US" dirty="0" err="1"/>
              <a:t>tiết</a:t>
            </a:r>
            <a:r>
              <a:rPr lang="en-US" dirty="0"/>
              <a:t> của </a:t>
            </a:r>
            <a:r>
              <a:rPr lang="en-US" dirty="0" err="1"/>
              <a:t>từng</a:t>
            </a:r>
            <a:r>
              <a:rPr lang="en-US" dirty="0"/>
              <a:t> </a:t>
            </a:r>
            <a:r>
              <a:rPr lang="en-US" dirty="0" err="1"/>
              <a:t>công</a:t>
            </a:r>
            <a:r>
              <a:rPr lang="en-US" dirty="0"/>
              <a:t> </a:t>
            </a:r>
            <a:r>
              <a:rPr lang="en-US" dirty="0" err="1"/>
              <a:t>thức</a:t>
            </a:r>
            <a:r>
              <a:rPr lang="en-US" dirty="0"/>
              <a:t>.</a:t>
            </a:r>
            <a:endParaRPr lang="vi-VN" dirty="0"/>
          </a:p>
        </p:txBody>
      </p:sp>
      <p:sp>
        <p:nvSpPr>
          <p:cNvPr id="4" name="Slide Number Placeholder 3">
            <a:extLst>
              <a:ext uri="{FF2B5EF4-FFF2-40B4-BE49-F238E27FC236}">
                <a16:creationId xmlns:a16="http://schemas.microsoft.com/office/drawing/2014/main" id="{7C300204-26FE-C3CA-05D8-2EFE7E47D4F1}"/>
              </a:ext>
            </a:extLst>
          </p:cNvPr>
          <p:cNvSpPr>
            <a:spLocks noGrp="1"/>
          </p:cNvSpPr>
          <p:nvPr>
            <p:ph type="sldNum" sz="quarter" idx="12"/>
          </p:nvPr>
        </p:nvSpPr>
        <p:spPr/>
        <p:txBody>
          <a:bodyPr/>
          <a:lstStyle/>
          <a:p>
            <a:fld id="{4ED22EA6-6E07-498D-89D0-2FA887FD1E5C}" type="slidenum">
              <a:rPr lang="vi-VN" smtClean="0"/>
              <a:t>12</a:t>
            </a:fld>
            <a:endParaRPr lang="vi-VN"/>
          </a:p>
        </p:txBody>
      </p:sp>
    </p:spTree>
    <p:extLst>
      <p:ext uri="{BB962C8B-B14F-4D97-AF65-F5344CB8AC3E}">
        <p14:creationId xmlns:p14="http://schemas.microsoft.com/office/powerpoint/2010/main" val="103222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ABCE-3EEE-1584-781F-CD52E84B0472}"/>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25ED016C-BA11-7BB5-2214-D1DA0C39B87C}"/>
              </a:ext>
            </a:extLst>
          </p:cNvPr>
          <p:cNvSpPr>
            <a:spLocks noGrp="1"/>
          </p:cNvSpPr>
          <p:nvPr>
            <p:ph idx="1"/>
          </p:nvPr>
        </p:nvSpPr>
        <p:spPr/>
        <p:txBody>
          <a:bodyPr/>
          <a:lstStyle/>
          <a:p>
            <a:r>
              <a:rPr lang="vi-VN"/>
              <a:t>Các thông tin được thu thập bao gồm các trường:</a:t>
            </a:r>
          </a:p>
          <a:p>
            <a:pPr lvl="1"/>
            <a:r>
              <a:rPr lang="vi-VN"/>
              <a:t>Mô tả</a:t>
            </a:r>
          </a:p>
          <a:p>
            <a:pPr lvl="1"/>
            <a:r>
              <a:rPr lang="vi-VN"/>
              <a:t>Metadata (</a:t>
            </a:r>
            <a:r>
              <a:rPr lang="vi-VN" i="1"/>
              <a:t>Thời gian nấu, thời gian chuẩn bị, ...</a:t>
            </a:r>
            <a:r>
              <a:rPr lang="vi-VN"/>
              <a:t>)</a:t>
            </a:r>
          </a:p>
          <a:p>
            <a:pPr lvl="1"/>
            <a:r>
              <a:rPr lang="vi-VN"/>
              <a:t>Nguyên liệu</a:t>
            </a:r>
          </a:p>
          <a:p>
            <a:pPr lvl="1"/>
            <a:r>
              <a:rPr lang="vi-VN"/>
              <a:t>Các bước chế biến</a:t>
            </a:r>
          </a:p>
          <a:p>
            <a:pPr lvl="1"/>
            <a:r>
              <a:rPr lang="vi-VN"/>
              <a:t>Thông tin dinh dưỡng</a:t>
            </a:r>
          </a:p>
          <a:p>
            <a:pPr lvl="1"/>
            <a:r>
              <a:rPr lang="vi-VN"/>
              <a:t>Bình luận</a:t>
            </a:r>
          </a:p>
          <a:p>
            <a:endParaRPr lang="vi-VN"/>
          </a:p>
        </p:txBody>
      </p:sp>
      <p:sp>
        <p:nvSpPr>
          <p:cNvPr id="4" name="Slide Number Placeholder 3">
            <a:extLst>
              <a:ext uri="{FF2B5EF4-FFF2-40B4-BE49-F238E27FC236}">
                <a16:creationId xmlns:a16="http://schemas.microsoft.com/office/drawing/2014/main" id="{5A30FD96-D318-2AE7-8AB5-CC374C2B4828}"/>
              </a:ext>
            </a:extLst>
          </p:cNvPr>
          <p:cNvSpPr>
            <a:spLocks noGrp="1"/>
          </p:cNvSpPr>
          <p:nvPr>
            <p:ph type="sldNum" sz="quarter" idx="12"/>
          </p:nvPr>
        </p:nvSpPr>
        <p:spPr/>
        <p:txBody>
          <a:bodyPr/>
          <a:lstStyle/>
          <a:p>
            <a:fld id="{4ED22EA6-6E07-498D-89D0-2FA887FD1E5C}" type="slidenum">
              <a:rPr lang="vi-VN" smtClean="0"/>
              <a:t>13</a:t>
            </a:fld>
            <a:endParaRPr lang="vi-VN"/>
          </a:p>
        </p:txBody>
      </p:sp>
    </p:spTree>
    <p:extLst>
      <p:ext uri="{BB962C8B-B14F-4D97-AF65-F5344CB8AC3E}">
        <p14:creationId xmlns:p14="http://schemas.microsoft.com/office/powerpoint/2010/main" val="264431453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63B8C-6A74-0ADD-3412-2DF709B64E08}"/>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89E0701B-7B6E-B7D7-C771-E324A72E36CF}"/>
              </a:ext>
            </a:extLst>
          </p:cNvPr>
          <p:cNvSpPr>
            <a:spLocks noGrp="1"/>
          </p:cNvSpPr>
          <p:nvPr>
            <p:ph idx="1"/>
          </p:nvPr>
        </p:nvSpPr>
        <p:spPr/>
        <p:txBody>
          <a:bodyPr/>
          <a:lstStyle/>
          <a:p>
            <a:r>
              <a:rPr lang="vi-VN" b="1"/>
              <a:t>Tiền xử lý dữ liệu</a:t>
            </a:r>
            <a:r>
              <a:rPr lang="vi-VN"/>
              <a:t>:</a:t>
            </a:r>
          </a:p>
          <a:p>
            <a:pPr lvl="1"/>
            <a:r>
              <a:rPr lang="vi-VN"/>
              <a:t>Làm sạch dữ liệu:</a:t>
            </a:r>
          </a:p>
          <a:p>
            <a:pPr lvl="2"/>
            <a:r>
              <a:rPr lang="vi-VN"/>
              <a:t>Thay thế các ký tự đặc biệt (</a:t>
            </a:r>
            <a:r>
              <a:rPr lang="vi-VN" i="1"/>
              <a:t>ví dụ: ◦, ®, ©, ½, ...</a:t>
            </a:r>
            <a:r>
              <a:rPr lang="vi-VN"/>
              <a:t>)</a:t>
            </a:r>
          </a:p>
          <a:p>
            <a:pPr lvl="2"/>
            <a:r>
              <a:rPr lang="vi-VN"/>
              <a:t>Loại bỏ ký tự không hiển thị, emoji, khoảng trắng thừa</a:t>
            </a:r>
          </a:p>
          <a:p>
            <a:pPr lvl="2"/>
            <a:r>
              <a:rPr lang="vi-VN"/>
              <a:t>Chuẩn hóa khoảng trắng và xuống dòng, đảm bảo text liền mạch</a:t>
            </a:r>
          </a:p>
          <a:p>
            <a:pPr lvl="1"/>
            <a:r>
              <a:rPr lang="vi-VN"/>
              <a:t>Chuẩn hóa dữ liệu các trường</a:t>
            </a:r>
          </a:p>
          <a:p>
            <a:pPr lvl="1"/>
            <a:r>
              <a:rPr lang="vi-VN"/>
              <a:t>Gộp dữ liệu của các công thức vào một file định dạng .json</a:t>
            </a:r>
          </a:p>
        </p:txBody>
      </p:sp>
      <p:sp>
        <p:nvSpPr>
          <p:cNvPr id="4" name="Slide Number Placeholder 3">
            <a:extLst>
              <a:ext uri="{FF2B5EF4-FFF2-40B4-BE49-F238E27FC236}">
                <a16:creationId xmlns:a16="http://schemas.microsoft.com/office/drawing/2014/main" id="{F4C7FA8A-7198-4DF5-8874-9EDC35A16D3B}"/>
              </a:ext>
            </a:extLst>
          </p:cNvPr>
          <p:cNvSpPr>
            <a:spLocks noGrp="1"/>
          </p:cNvSpPr>
          <p:nvPr>
            <p:ph type="sldNum" sz="quarter" idx="12"/>
          </p:nvPr>
        </p:nvSpPr>
        <p:spPr/>
        <p:txBody>
          <a:bodyPr/>
          <a:lstStyle/>
          <a:p>
            <a:fld id="{4ED22EA6-6E07-498D-89D0-2FA887FD1E5C}" type="slidenum">
              <a:rPr lang="vi-VN" smtClean="0"/>
              <a:t>14</a:t>
            </a:fld>
            <a:endParaRPr lang="vi-VN"/>
          </a:p>
        </p:txBody>
      </p:sp>
    </p:spTree>
    <p:extLst>
      <p:ext uri="{BB962C8B-B14F-4D97-AF65-F5344CB8AC3E}">
        <p14:creationId xmlns:p14="http://schemas.microsoft.com/office/powerpoint/2010/main" val="402713979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6615D-D8E3-65C8-0435-6AA91AD02904}"/>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4D5C7EE5-90CA-F888-CE91-A77FED520459}"/>
              </a:ext>
            </a:extLst>
          </p:cNvPr>
          <p:cNvSpPr>
            <a:spLocks noGrp="1"/>
          </p:cNvSpPr>
          <p:nvPr>
            <p:ph idx="1"/>
          </p:nvPr>
        </p:nvSpPr>
        <p:spPr/>
        <p:txBody>
          <a:bodyPr/>
          <a:lstStyle/>
          <a:p>
            <a:r>
              <a:rPr lang="vi-VN" b="1"/>
              <a:t>­</a:t>
            </a:r>
            <a:r>
              <a:rPr lang="vi-VN" b="1">
                <a:solidFill>
                  <a:schemeClr val="accent6">
                    <a:lumMod val="75000"/>
                  </a:schemeClr>
                </a:solidFill>
              </a:rPr>
              <a:t>ChromaDB</a:t>
            </a:r>
            <a:r>
              <a:rPr lang="vi-VN"/>
              <a:t> là một cơ sở dữ liệu vector dùng để lưu trữ và truy vấn các vector embedding.</a:t>
            </a:r>
          </a:p>
          <a:p>
            <a:r>
              <a:rPr lang="vi-VN" b="1"/>
              <a:t>Mục tiêu</a:t>
            </a:r>
            <a:r>
              <a:rPr lang="vi-VN"/>
              <a:t>: Hỗ trợ tìm kiếm ngữ nghĩa (</a:t>
            </a:r>
            <a:r>
              <a:rPr lang="vi-VN" i="1"/>
              <a:t>semantic search</a:t>
            </a:r>
            <a:r>
              <a:rPr lang="vi-VN"/>
              <a:t>), truy xuất nhanh các đoạn văn bản có nội dung giống nhau/liên quan bằng các so sánh các embedding.</a:t>
            </a:r>
          </a:p>
          <a:p>
            <a:r>
              <a:rPr lang="vi-VN"/>
              <a:t>Dữ liệu sau tiền xử lý sẽ được nhúng và lưu vào cơ sở dữ liệu </a:t>
            </a:r>
            <a:r>
              <a:rPr lang="vi-VN" b="1">
                <a:solidFill>
                  <a:schemeClr val="accent6">
                    <a:lumMod val="75000"/>
                  </a:schemeClr>
                </a:solidFill>
              </a:rPr>
              <a:t>ChromaDB</a:t>
            </a:r>
            <a:r>
              <a:rPr lang="vi-VN"/>
              <a:t>.</a:t>
            </a:r>
          </a:p>
        </p:txBody>
      </p:sp>
      <p:sp>
        <p:nvSpPr>
          <p:cNvPr id="4" name="Slide Number Placeholder 3">
            <a:extLst>
              <a:ext uri="{FF2B5EF4-FFF2-40B4-BE49-F238E27FC236}">
                <a16:creationId xmlns:a16="http://schemas.microsoft.com/office/drawing/2014/main" id="{57AA58B8-D99B-0157-8164-3BB9B3CDBCC5}"/>
              </a:ext>
            </a:extLst>
          </p:cNvPr>
          <p:cNvSpPr>
            <a:spLocks noGrp="1"/>
          </p:cNvSpPr>
          <p:nvPr>
            <p:ph type="sldNum" sz="quarter" idx="12"/>
          </p:nvPr>
        </p:nvSpPr>
        <p:spPr/>
        <p:txBody>
          <a:bodyPr/>
          <a:lstStyle/>
          <a:p>
            <a:fld id="{4ED22EA6-6E07-498D-89D0-2FA887FD1E5C}" type="slidenum">
              <a:rPr lang="vi-VN" smtClean="0"/>
              <a:t>15</a:t>
            </a:fld>
            <a:endParaRPr lang="vi-VN"/>
          </a:p>
        </p:txBody>
      </p:sp>
    </p:spTree>
    <p:extLst>
      <p:ext uri="{BB962C8B-B14F-4D97-AF65-F5344CB8AC3E}">
        <p14:creationId xmlns:p14="http://schemas.microsoft.com/office/powerpoint/2010/main" val="10219958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8AB6F-9ED9-16B2-5D6E-471AACEC3D29}"/>
              </a:ext>
            </a:extLst>
          </p:cNvPr>
          <p:cNvSpPr>
            <a:spLocks noGrp="1"/>
          </p:cNvSpPr>
          <p:nvPr>
            <p:ph type="title"/>
          </p:nvPr>
        </p:nvSpPr>
        <p:spPr/>
        <p:txBody>
          <a:bodyPr>
            <a:normAutofit/>
          </a:bodyPr>
          <a:lstStyle/>
          <a:p>
            <a:r>
              <a:rPr lang="vi-VN"/>
              <a:t>III. Xử lý dữ liệu</a:t>
            </a:r>
          </a:p>
        </p:txBody>
      </p:sp>
      <p:pic>
        <p:nvPicPr>
          <p:cNvPr id="7" name="Content Placeholder 6">
            <a:extLst>
              <a:ext uri="{FF2B5EF4-FFF2-40B4-BE49-F238E27FC236}">
                <a16:creationId xmlns:a16="http://schemas.microsoft.com/office/drawing/2014/main" id="{5A380B46-6628-6B8B-D69C-B8B83A13CDB7}"/>
              </a:ext>
            </a:extLst>
          </p:cNvPr>
          <p:cNvPicPr>
            <a:picLocks noGrp="1" noChangeAspect="1"/>
          </p:cNvPicPr>
          <p:nvPr>
            <p:ph idx="1"/>
          </p:nvPr>
        </p:nvPicPr>
        <p:blipFill>
          <a:blip r:embed="rId2"/>
          <a:stretch>
            <a:fillRect/>
          </a:stretch>
        </p:blipFill>
        <p:spPr>
          <a:xfrm>
            <a:off x="1680546" y="1690688"/>
            <a:ext cx="8830907" cy="4258269"/>
          </a:xfrm>
          <a:prstGeom prst="rect">
            <a:avLst/>
          </a:prstGeom>
        </p:spPr>
      </p:pic>
      <p:sp>
        <p:nvSpPr>
          <p:cNvPr id="3" name="Slide Number Placeholder 2">
            <a:extLst>
              <a:ext uri="{FF2B5EF4-FFF2-40B4-BE49-F238E27FC236}">
                <a16:creationId xmlns:a16="http://schemas.microsoft.com/office/drawing/2014/main" id="{D45F9156-77FD-D46C-DAB7-7E0A10506E0D}"/>
              </a:ext>
            </a:extLst>
          </p:cNvPr>
          <p:cNvSpPr>
            <a:spLocks noGrp="1"/>
          </p:cNvSpPr>
          <p:nvPr>
            <p:ph type="sldNum" sz="quarter" idx="12"/>
          </p:nvPr>
        </p:nvSpPr>
        <p:spPr/>
        <p:txBody>
          <a:bodyPr/>
          <a:lstStyle/>
          <a:p>
            <a:fld id="{4ED22EA6-6E07-498D-89D0-2FA887FD1E5C}" type="slidenum">
              <a:rPr lang="vi-VN" smtClean="0"/>
              <a:t>16</a:t>
            </a:fld>
            <a:endParaRPr lang="vi-VN"/>
          </a:p>
        </p:txBody>
      </p:sp>
    </p:spTree>
    <p:extLst>
      <p:ext uri="{BB962C8B-B14F-4D97-AF65-F5344CB8AC3E}">
        <p14:creationId xmlns:p14="http://schemas.microsoft.com/office/powerpoint/2010/main" val="156377505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7D6D067-8603-11AA-EAB5-67570795D758}"/>
              </a:ext>
            </a:extLst>
          </p:cNvPr>
          <p:cNvSpPr>
            <a:spLocks noGrp="1"/>
          </p:cNvSpPr>
          <p:nvPr>
            <p:ph type="title"/>
          </p:nvPr>
        </p:nvSpPr>
        <p:spPr/>
        <p:txBody>
          <a:bodyPr/>
          <a:lstStyle/>
          <a:p>
            <a:r>
              <a:rPr lang="vi-VN"/>
              <a:t>IV. Hệ thống chatbot</a:t>
            </a:r>
          </a:p>
        </p:txBody>
      </p:sp>
      <p:sp>
        <p:nvSpPr>
          <p:cNvPr id="5" name="Text Placeholder 4">
            <a:extLst>
              <a:ext uri="{FF2B5EF4-FFF2-40B4-BE49-F238E27FC236}">
                <a16:creationId xmlns:a16="http://schemas.microsoft.com/office/drawing/2014/main" id="{79C1E8A1-5C45-7621-6459-97D0C1E58E1A}"/>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70C779EF-AED1-1F0B-97B3-68811B9EA501}"/>
              </a:ext>
            </a:extLst>
          </p:cNvPr>
          <p:cNvSpPr>
            <a:spLocks noGrp="1"/>
          </p:cNvSpPr>
          <p:nvPr>
            <p:ph type="sldNum" sz="quarter" idx="12"/>
          </p:nvPr>
        </p:nvSpPr>
        <p:spPr/>
        <p:txBody>
          <a:bodyPr/>
          <a:lstStyle/>
          <a:p>
            <a:fld id="{4ED22EA6-6E07-498D-89D0-2FA887FD1E5C}" type="slidenum">
              <a:rPr lang="vi-VN" smtClean="0"/>
              <a:t>17</a:t>
            </a:fld>
            <a:endParaRPr lang="vi-VN"/>
          </a:p>
        </p:txBody>
      </p:sp>
    </p:spTree>
    <p:extLst>
      <p:ext uri="{BB962C8B-B14F-4D97-AF65-F5344CB8AC3E}">
        <p14:creationId xmlns:p14="http://schemas.microsoft.com/office/powerpoint/2010/main" val="16799216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07F7EFD-D82F-B17F-34F7-935EE49CF110}"/>
              </a:ext>
            </a:extLst>
          </p:cNvPr>
          <p:cNvSpPr>
            <a:spLocks noGrp="1"/>
          </p:cNvSpPr>
          <p:nvPr>
            <p:ph type="title"/>
          </p:nvPr>
        </p:nvSpPr>
        <p:spPr/>
        <p:txBody>
          <a:bodyPr>
            <a:normAutofit/>
          </a:bodyPr>
          <a:lstStyle/>
          <a:p>
            <a:r>
              <a:rPr lang="vi-VN"/>
              <a:t>IV. Hệ thống chatbot</a:t>
            </a:r>
          </a:p>
        </p:txBody>
      </p:sp>
      <p:sp>
        <p:nvSpPr>
          <p:cNvPr id="5" name="Content Placeholder 4">
            <a:extLst>
              <a:ext uri="{FF2B5EF4-FFF2-40B4-BE49-F238E27FC236}">
                <a16:creationId xmlns:a16="http://schemas.microsoft.com/office/drawing/2014/main" id="{3BD622C6-9DFD-134F-2AAB-2A361FBE4AF5}"/>
              </a:ext>
            </a:extLst>
          </p:cNvPr>
          <p:cNvSpPr>
            <a:spLocks noGrp="1"/>
          </p:cNvSpPr>
          <p:nvPr>
            <p:ph idx="1"/>
          </p:nvPr>
        </p:nvSpPr>
        <p:spPr/>
        <p:txBody>
          <a:bodyPr/>
          <a:lstStyle/>
          <a:p>
            <a:r>
              <a:rPr lang="vi-VN"/>
              <a:t>­</a:t>
            </a:r>
            <a:r>
              <a:rPr lang="vi-VN" b="1">
                <a:solidFill>
                  <a:schemeClr val="tx2">
                    <a:lumMod val="75000"/>
                    <a:lumOff val="25000"/>
                  </a:schemeClr>
                </a:solidFill>
              </a:rPr>
              <a:t>Retrieval-Augmented Generation</a:t>
            </a:r>
            <a:r>
              <a:rPr lang="vi-VN" b="1"/>
              <a:t> </a:t>
            </a:r>
            <a:r>
              <a:rPr lang="vi-VN"/>
              <a:t>(</a:t>
            </a:r>
            <a:r>
              <a:rPr lang="vi-VN" b="1" i="1">
                <a:solidFill>
                  <a:schemeClr val="tx2">
                    <a:lumMod val="75000"/>
                    <a:lumOff val="25000"/>
                  </a:schemeClr>
                </a:solidFill>
              </a:rPr>
              <a:t>RAG</a:t>
            </a:r>
            <a:r>
              <a:rPr lang="vi-VN"/>
              <a:t>) là kỹ thuật kết hợp tìm kiếm ngữ nghĩa (</a:t>
            </a:r>
            <a:r>
              <a:rPr lang="vi-VN" i="1"/>
              <a:t>retrieval</a:t>
            </a:r>
            <a:r>
              <a:rPr lang="vi-VN"/>
              <a:t>) trên một </a:t>
            </a:r>
            <a:r>
              <a:rPr lang="vi-VN">
                <a:solidFill>
                  <a:schemeClr val="accent6">
                    <a:lumMod val="75000"/>
                  </a:schemeClr>
                </a:solidFill>
              </a:rPr>
              <a:t>kho tri thức </a:t>
            </a:r>
            <a:r>
              <a:rPr lang="vi-VN"/>
              <a:t>(</a:t>
            </a:r>
            <a:r>
              <a:rPr lang="vi-VN" i="1">
                <a:solidFill>
                  <a:schemeClr val="accent6">
                    <a:lumMod val="75000"/>
                  </a:schemeClr>
                </a:solidFill>
              </a:rPr>
              <a:t>vector DB</a:t>
            </a:r>
            <a:r>
              <a:rPr lang="vi-VN"/>
              <a:t>) với </a:t>
            </a:r>
            <a:r>
              <a:rPr lang="vi-VN">
                <a:solidFill>
                  <a:schemeClr val="accent2">
                    <a:lumMod val="75000"/>
                  </a:schemeClr>
                </a:solidFill>
              </a:rPr>
              <a:t>mô hình sinh ngôn ngữ</a:t>
            </a:r>
            <a:r>
              <a:rPr lang="vi-VN"/>
              <a:t>.</a:t>
            </a:r>
          </a:p>
        </p:txBody>
      </p:sp>
      <p:pic>
        <p:nvPicPr>
          <p:cNvPr id="7" name="Picture 6">
            <a:extLst>
              <a:ext uri="{FF2B5EF4-FFF2-40B4-BE49-F238E27FC236}">
                <a16:creationId xmlns:a16="http://schemas.microsoft.com/office/drawing/2014/main" id="{3B4ADBAA-1EAB-3798-1E91-254498678811}"/>
              </a:ext>
            </a:extLst>
          </p:cNvPr>
          <p:cNvPicPr>
            <a:picLocks noChangeAspect="1"/>
          </p:cNvPicPr>
          <p:nvPr/>
        </p:nvPicPr>
        <p:blipFill>
          <a:blip r:embed="rId2"/>
          <a:stretch>
            <a:fillRect/>
          </a:stretch>
        </p:blipFill>
        <p:spPr>
          <a:xfrm>
            <a:off x="838200" y="3370364"/>
            <a:ext cx="10515600" cy="2744964"/>
          </a:xfrm>
          <a:prstGeom prst="rect">
            <a:avLst/>
          </a:prstGeom>
        </p:spPr>
      </p:pic>
      <p:sp>
        <p:nvSpPr>
          <p:cNvPr id="2" name="Slide Number Placeholder 1">
            <a:extLst>
              <a:ext uri="{FF2B5EF4-FFF2-40B4-BE49-F238E27FC236}">
                <a16:creationId xmlns:a16="http://schemas.microsoft.com/office/drawing/2014/main" id="{B7ACDA04-85F1-2CBF-1225-808E22BE127D}"/>
              </a:ext>
            </a:extLst>
          </p:cNvPr>
          <p:cNvSpPr>
            <a:spLocks noGrp="1"/>
          </p:cNvSpPr>
          <p:nvPr>
            <p:ph type="sldNum" sz="quarter" idx="12"/>
          </p:nvPr>
        </p:nvSpPr>
        <p:spPr/>
        <p:txBody>
          <a:bodyPr/>
          <a:lstStyle/>
          <a:p>
            <a:fld id="{4ED22EA6-6E07-498D-89D0-2FA887FD1E5C}" type="slidenum">
              <a:rPr lang="vi-VN" smtClean="0"/>
              <a:t>18</a:t>
            </a:fld>
            <a:endParaRPr lang="vi-VN"/>
          </a:p>
        </p:txBody>
      </p:sp>
    </p:spTree>
    <p:extLst>
      <p:ext uri="{BB962C8B-B14F-4D97-AF65-F5344CB8AC3E}">
        <p14:creationId xmlns:p14="http://schemas.microsoft.com/office/powerpoint/2010/main" val="144625397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B586C-06DF-3D34-1853-FF81947292A8}"/>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A8621EBF-AC97-C74D-996A-97791DEE3CAE}"/>
              </a:ext>
            </a:extLst>
          </p:cNvPr>
          <p:cNvSpPr>
            <a:spLocks noGrp="1"/>
          </p:cNvSpPr>
          <p:nvPr>
            <p:ph sz="half" idx="1"/>
          </p:nvPr>
        </p:nvSpPr>
        <p:spPr/>
        <p:txBody>
          <a:bodyPr/>
          <a:lstStyle/>
          <a:p>
            <a:r>
              <a:rPr lang="vi-VN"/>
              <a:t>Kiến trúc transformer</a:t>
            </a:r>
          </a:p>
        </p:txBody>
      </p:sp>
      <p:pic>
        <p:nvPicPr>
          <p:cNvPr id="14" name="Content Placeholder 13">
            <a:extLst>
              <a:ext uri="{FF2B5EF4-FFF2-40B4-BE49-F238E27FC236}">
                <a16:creationId xmlns:a16="http://schemas.microsoft.com/office/drawing/2014/main" id="{1F429AA5-4415-1342-81D3-26356C7A309A}"/>
              </a:ext>
            </a:extLst>
          </p:cNvPr>
          <p:cNvPicPr>
            <a:picLocks noGrp="1" noChangeAspect="1"/>
          </p:cNvPicPr>
          <p:nvPr>
            <p:ph sz="half" idx="2"/>
          </p:nvPr>
        </p:nvPicPr>
        <p:blipFill>
          <a:blip r:embed="rId3"/>
          <a:stretch>
            <a:fillRect/>
          </a:stretch>
        </p:blipFill>
        <p:spPr>
          <a:xfrm>
            <a:off x="6951755" y="1193800"/>
            <a:ext cx="3622490" cy="4983163"/>
          </a:xfrm>
          <a:prstGeom prst="rect">
            <a:avLst/>
          </a:prstGeom>
        </p:spPr>
      </p:pic>
      <p:sp>
        <p:nvSpPr>
          <p:cNvPr id="4" name="Slide Number Placeholder 3">
            <a:extLst>
              <a:ext uri="{FF2B5EF4-FFF2-40B4-BE49-F238E27FC236}">
                <a16:creationId xmlns:a16="http://schemas.microsoft.com/office/drawing/2014/main" id="{ABEA6F6E-9D94-D423-2E3D-51F41AA8052F}"/>
              </a:ext>
            </a:extLst>
          </p:cNvPr>
          <p:cNvSpPr>
            <a:spLocks noGrp="1"/>
          </p:cNvSpPr>
          <p:nvPr>
            <p:ph type="sldNum" sz="quarter" idx="12"/>
          </p:nvPr>
        </p:nvSpPr>
        <p:spPr/>
        <p:txBody>
          <a:bodyPr/>
          <a:lstStyle/>
          <a:p>
            <a:fld id="{4ED22EA6-6E07-498D-89D0-2FA887FD1E5C}" type="slidenum">
              <a:rPr lang="vi-VN" smtClean="0"/>
              <a:t>19</a:t>
            </a:fld>
            <a:endParaRPr lang="vi-VN"/>
          </a:p>
        </p:txBody>
      </p:sp>
    </p:spTree>
    <p:extLst>
      <p:ext uri="{BB962C8B-B14F-4D97-AF65-F5344CB8AC3E}">
        <p14:creationId xmlns:p14="http://schemas.microsoft.com/office/powerpoint/2010/main" val="38315433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701595-AA4B-C956-75AC-AE0B8757ECD6}"/>
              </a:ext>
            </a:extLst>
          </p:cNvPr>
          <p:cNvSpPr>
            <a:spLocks noGrp="1"/>
          </p:cNvSpPr>
          <p:nvPr>
            <p:ph type="title"/>
          </p:nvPr>
        </p:nvSpPr>
        <p:spPr/>
        <p:txBody>
          <a:bodyPr>
            <a:normAutofit/>
          </a:bodyPr>
          <a:lstStyle/>
          <a:p>
            <a:r>
              <a:rPr lang="vi-VN"/>
              <a:t>IV. Hệ thống chatbot</a:t>
            </a:r>
          </a:p>
        </p:txBody>
      </p:sp>
      <p:sp>
        <p:nvSpPr>
          <p:cNvPr id="6" name="Content Placeholder 5">
            <a:extLst>
              <a:ext uri="{FF2B5EF4-FFF2-40B4-BE49-F238E27FC236}">
                <a16:creationId xmlns:a16="http://schemas.microsoft.com/office/drawing/2014/main" id="{0A6868C0-DB4E-B375-616C-BFFC1984BE7C}"/>
              </a:ext>
            </a:extLst>
          </p:cNvPr>
          <p:cNvSpPr>
            <a:spLocks noGrp="1"/>
          </p:cNvSpPr>
          <p:nvPr>
            <p:ph idx="1"/>
          </p:nvPr>
        </p:nvSpPr>
        <p:spPr/>
        <p:txBody>
          <a:bodyPr/>
          <a:lstStyle/>
          <a:p>
            <a:r>
              <a:rPr lang="vi-VN"/>
              <a:t>Cải tiến kiến trúc trong </a:t>
            </a:r>
            <a:r>
              <a:rPr lang="vi-VN" b="1">
                <a:solidFill>
                  <a:schemeClr val="accent2">
                    <a:lumMod val="75000"/>
                  </a:schemeClr>
                </a:solidFill>
              </a:rPr>
              <a:t>gemini-2.5-flash-lite</a:t>
            </a:r>
            <a:r>
              <a:rPr lang="vi-VN"/>
              <a:t>:</a:t>
            </a:r>
          </a:p>
          <a:p>
            <a:pPr lvl="1"/>
            <a:r>
              <a:rPr lang="vi-VN"/>
              <a:t>Mixture-of-Experts (</a:t>
            </a:r>
            <a:r>
              <a:rPr lang="vi-VN" i="1"/>
              <a:t>MoE</a:t>
            </a:r>
            <a:r>
              <a:rPr lang="vi-VN"/>
              <a:t>) thưa</a:t>
            </a:r>
          </a:p>
          <a:p>
            <a:pPr lvl="1"/>
            <a:r>
              <a:rPr lang="vi-VN"/>
              <a:t>Grouped-Query Attention (</a:t>
            </a:r>
            <a:r>
              <a:rPr lang="vi-VN" i="1"/>
              <a:t>GQA</a:t>
            </a:r>
            <a:r>
              <a:rPr lang="vi-VN"/>
              <a:t>)</a:t>
            </a:r>
          </a:p>
          <a:p>
            <a:pPr lvl="1"/>
            <a:r>
              <a:rPr lang="vi-VN"/>
              <a:t>Rotary Positional Embeddings (</a:t>
            </a:r>
            <a:r>
              <a:rPr lang="vi-VN" i="1"/>
              <a:t>RoPE</a:t>
            </a:r>
            <a:r>
              <a:rPr lang="vi-VN"/>
              <a:t>)</a:t>
            </a:r>
          </a:p>
          <a:p>
            <a:pPr lvl="1"/>
            <a:r>
              <a:rPr lang="vi-VN"/>
              <a:t>Hàm kích hoạt và Chuẩn hóa</a:t>
            </a:r>
          </a:p>
        </p:txBody>
      </p:sp>
      <p:sp>
        <p:nvSpPr>
          <p:cNvPr id="2" name="Slide Number Placeholder 1">
            <a:extLst>
              <a:ext uri="{FF2B5EF4-FFF2-40B4-BE49-F238E27FC236}">
                <a16:creationId xmlns:a16="http://schemas.microsoft.com/office/drawing/2014/main" id="{8317B46D-75FD-4881-C224-D0DCADBB1083}"/>
              </a:ext>
            </a:extLst>
          </p:cNvPr>
          <p:cNvSpPr>
            <a:spLocks noGrp="1"/>
          </p:cNvSpPr>
          <p:nvPr>
            <p:ph type="sldNum" sz="quarter" idx="12"/>
          </p:nvPr>
        </p:nvSpPr>
        <p:spPr/>
        <p:txBody>
          <a:bodyPr/>
          <a:lstStyle/>
          <a:p>
            <a:fld id="{4ED22EA6-6E07-498D-89D0-2FA887FD1E5C}" type="slidenum">
              <a:rPr lang="vi-VN" smtClean="0"/>
              <a:t>20</a:t>
            </a:fld>
            <a:endParaRPr lang="vi-VN"/>
          </a:p>
        </p:txBody>
      </p:sp>
    </p:spTree>
    <p:extLst>
      <p:ext uri="{BB962C8B-B14F-4D97-AF65-F5344CB8AC3E}">
        <p14:creationId xmlns:p14="http://schemas.microsoft.com/office/powerpoint/2010/main" val="18046839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Effect transition="in" filter="fade">
                                      <p:cBhvr>
                                        <p:cTn id="13" dur="500"/>
                                        <p:tgtEl>
                                          <p:spTgt spid="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3" end="3"/>
                                            </p:txEl>
                                          </p:spTgt>
                                        </p:tgtEl>
                                        <p:attrNameLst>
                                          <p:attrName>style.visibility</p:attrName>
                                        </p:attrNameLst>
                                      </p:cBhvr>
                                      <p:to>
                                        <p:strVal val="visible"/>
                                      </p:to>
                                    </p:set>
                                    <p:animEffect transition="in" filter="fade">
                                      <p:cBhvr>
                                        <p:cTn id="16" dur="500"/>
                                        <p:tgtEl>
                                          <p:spTgt spid="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animEffect transition="in" filter="fade">
                                      <p:cBhvr>
                                        <p:cTn id="19"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F3DC4-2107-7EFC-1A2B-B53ACD33037D}"/>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52FE8697-A460-57AE-69CA-C92AC32E88A3}"/>
              </a:ext>
            </a:extLst>
          </p:cNvPr>
          <p:cNvSpPr>
            <a:spLocks noGrp="1"/>
          </p:cNvSpPr>
          <p:nvPr>
            <p:ph idx="1"/>
          </p:nvPr>
        </p:nvSpPr>
        <p:spPr/>
        <p:txBody>
          <a:bodyPr/>
          <a:lstStyle/>
          <a:p>
            <a:r>
              <a:rPr lang="vi-VN" b="1"/>
              <a:t>­</a:t>
            </a:r>
            <a:r>
              <a:rPr lang="vi-VN" b="1">
                <a:solidFill>
                  <a:schemeClr val="accent6">
                    <a:lumMod val="75000"/>
                  </a:schemeClr>
                </a:solidFill>
              </a:rPr>
              <a:t>Cơ sở dữ liệu vector </a:t>
            </a:r>
            <a:r>
              <a:rPr lang="vi-VN" b="1"/>
              <a:t>và nhúng từ</a:t>
            </a:r>
            <a:r>
              <a:rPr lang="vi-VN"/>
              <a:t>:</a:t>
            </a:r>
          </a:p>
          <a:p>
            <a:pPr lvl="1"/>
            <a:r>
              <a:rPr lang="vi-VN"/>
              <a:t>Nhúng từ: Đưa một dạng văn bản về không gian vector d chiều</a:t>
            </a:r>
          </a:p>
          <a:p>
            <a:pPr lvl="1"/>
            <a:r>
              <a:rPr lang="vi-VN"/>
              <a:t>Cơ sở dữ liệu vector: Lưu trữ các vector nhúng từ kèm metadata</a:t>
            </a:r>
          </a:p>
          <a:p>
            <a:r>
              <a:rPr lang="vi-VN" b="1"/>
              <a:t>­</a:t>
            </a:r>
            <a:r>
              <a:rPr lang="vi-VN" b="1">
                <a:solidFill>
                  <a:schemeClr val="accent6">
                    <a:lumMod val="75000"/>
                  </a:schemeClr>
                </a:solidFill>
              </a:rPr>
              <a:t>ChromaDB</a:t>
            </a:r>
            <a:r>
              <a:rPr lang="vi-VN"/>
              <a:t>:</a:t>
            </a:r>
          </a:p>
          <a:p>
            <a:pPr lvl="1"/>
            <a:r>
              <a:rPr lang="vi-VN"/>
              <a:t>Nhúng từ mặc định sử dụng mô hình </a:t>
            </a:r>
            <a:r>
              <a:rPr lang="vi-VN" b="1"/>
              <a:t>all-MiniLM-L6-v2</a:t>
            </a:r>
            <a:r>
              <a:rPr lang="vi-VN"/>
              <a:t> tạo ra vector 384 chiều</a:t>
            </a:r>
          </a:p>
          <a:p>
            <a:pPr lvl="1"/>
            <a:r>
              <a:rPr lang="vi-VN"/>
              <a:t>Metadata lưu trữ các thông tin hỗ trợ lọc chuyên sâu</a:t>
            </a:r>
          </a:p>
          <a:p>
            <a:endParaRPr lang="vi-VN"/>
          </a:p>
        </p:txBody>
      </p:sp>
      <p:sp>
        <p:nvSpPr>
          <p:cNvPr id="4" name="Slide Number Placeholder 3">
            <a:extLst>
              <a:ext uri="{FF2B5EF4-FFF2-40B4-BE49-F238E27FC236}">
                <a16:creationId xmlns:a16="http://schemas.microsoft.com/office/drawing/2014/main" id="{17C0035E-28C5-126C-4AD9-8A7A630F3C4C}"/>
              </a:ext>
            </a:extLst>
          </p:cNvPr>
          <p:cNvSpPr>
            <a:spLocks noGrp="1"/>
          </p:cNvSpPr>
          <p:nvPr>
            <p:ph type="sldNum" sz="quarter" idx="12"/>
          </p:nvPr>
        </p:nvSpPr>
        <p:spPr/>
        <p:txBody>
          <a:bodyPr/>
          <a:lstStyle/>
          <a:p>
            <a:fld id="{4ED22EA6-6E07-498D-89D0-2FA887FD1E5C}" type="slidenum">
              <a:rPr lang="vi-VN" smtClean="0"/>
              <a:t>21</a:t>
            </a:fld>
            <a:endParaRPr lang="vi-VN"/>
          </a:p>
        </p:txBody>
      </p:sp>
    </p:spTree>
    <p:extLst>
      <p:ext uri="{BB962C8B-B14F-4D97-AF65-F5344CB8AC3E}">
        <p14:creationId xmlns:p14="http://schemas.microsoft.com/office/powerpoint/2010/main" val="1862191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5597B-ABA3-5C10-3453-87819930D6F1}"/>
              </a:ext>
            </a:extLst>
          </p:cNvPr>
          <p:cNvSpPr>
            <a:spLocks noGrp="1"/>
          </p:cNvSpPr>
          <p:nvPr>
            <p:ph type="title"/>
          </p:nvPr>
        </p:nvSpPr>
        <p:spPr/>
        <p:txBody>
          <a:bodyPr>
            <a:normAutofit/>
          </a:bodyPr>
          <a:lstStyle/>
          <a:p>
            <a:r>
              <a:rPr lang="vi-VN"/>
              <a:t>IV. Hệ thống chatbot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B9B06-0CA7-8AA4-33A8-C4EC91099981}"/>
                  </a:ext>
                </a:extLst>
              </p:cNvPr>
              <p:cNvSpPr>
                <a:spLocks noGrp="1"/>
              </p:cNvSpPr>
              <p:nvPr>
                <p:ph idx="1"/>
              </p:nvPr>
            </p:nvSpPr>
            <p:spPr/>
            <p:txBody>
              <a:bodyPr/>
              <a:lstStyle/>
              <a:p>
                <a:r>
                  <a:rPr lang="vi-VN" b="1"/>
                  <a:t>Truy xuất dữ liệu</a:t>
                </a:r>
                <a:r>
                  <a:rPr lang="vi-VN"/>
                  <a:t>: sử dụng độ tương đồng cosine</a:t>
                </a:r>
              </a:p>
              <a:p>
                <a:pPr marL="0" indent="0" algn="ctr">
                  <a:buNone/>
                </a:pPr>
                <a14:m>
                  <m:oMath xmlns:m="http://schemas.openxmlformats.org/officeDocument/2006/math">
                    <m:r>
                      <m:rPr>
                        <m:sty m:val="p"/>
                      </m:rPr>
                      <a:rPr lang="vi-VN" i="1" smtClean="0">
                        <a:latin typeface="Cambria Math" panose="02040503050406030204" pitchFamily="18" charset="0"/>
                      </a:rPr>
                      <m:t>Cosine</m:t>
                    </m:r>
                    <m:d>
                      <m:dPr>
                        <m:ctrlPr>
                          <a:rPr lang="vi-VN" i="1" smtClean="0">
                            <a:latin typeface="Cambria Math" panose="02040503050406030204" pitchFamily="18" charset="0"/>
                          </a:rPr>
                        </m:ctrlPr>
                      </m:dPr>
                      <m:e>
                        <m:r>
                          <m:rPr>
                            <m:sty m:val="p"/>
                          </m:rPr>
                          <a:rPr lang="vi-VN" i="1">
                            <a:latin typeface="Cambria Math" panose="02040503050406030204" pitchFamily="18" charset="0"/>
                          </a:rPr>
                          <m:t>u</m:t>
                        </m:r>
                        <m:r>
                          <a:rPr lang="vi-VN" b="0" i="1" smtClean="0">
                            <a:latin typeface="Cambria Math" panose="02040503050406030204" pitchFamily="18" charset="0"/>
                          </a:rPr>
                          <m:t>,</m:t>
                        </m:r>
                        <m:r>
                          <m:rPr>
                            <m:sty m:val="p"/>
                          </m:rPr>
                          <a:rPr lang="vi-VN" i="1">
                            <a:latin typeface="Cambria Math" panose="02040503050406030204" pitchFamily="18" charset="0"/>
                          </a:rPr>
                          <m:t>v</m:t>
                        </m:r>
                      </m:e>
                    </m:d>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u</m:t>
                        </m:r>
                        <m:r>
                          <a:rPr lang="vi-VN"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num>
                      <m:den>
                        <m:r>
                          <a:rPr lang="vi-VN" b="0" i="1" smtClean="0">
                            <a:latin typeface="Cambria Math" panose="02040503050406030204" pitchFamily="18" charset="0"/>
                          </a:rPr>
                          <m:t>||</m:t>
                        </m:r>
                        <m:r>
                          <m:rPr>
                            <m:sty m:val="p"/>
                          </m:rPr>
                          <a:rPr lang="vi-VN" i="1">
                            <a:latin typeface="Cambria Math" panose="02040503050406030204" pitchFamily="18" charset="0"/>
                          </a:rPr>
                          <m:t>u</m:t>
                        </m:r>
                        <m:r>
                          <a:rPr lang="vi-VN" b="0" i="1" smtClean="0">
                            <a:latin typeface="Cambria Math" panose="02040503050406030204" pitchFamily="18" charset="0"/>
                          </a:rPr>
                          <m:t>||</m:t>
                        </m:r>
                        <m:r>
                          <a:rPr lang="vi-VN" b="0"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r>
                          <a:rPr lang="vi-VN" b="0" i="1" smtClean="0">
                            <a:latin typeface="Cambria Math" panose="02040503050406030204" pitchFamily="18" charset="0"/>
                            <a:ea typeface="Cambria Math" panose="02040503050406030204" pitchFamily="18" charset="0"/>
                          </a:rPr>
                          <m:t>||</m:t>
                        </m:r>
                      </m:den>
                    </m:f>
                    <m:r>
                      <a:rPr lang="vi-VN" b="0" i="1" smtClean="0">
                        <a:latin typeface="Cambria Math" panose="02040503050406030204" pitchFamily="18" charset="0"/>
                      </a:rPr>
                      <m:t>=</m:t>
                    </m:r>
                    <m:f>
                      <m:fPr>
                        <m:ctrlPr>
                          <a:rPr lang="vi-VN" b="0" i="1" smtClean="0">
                            <a:latin typeface="Cambria Math" panose="02040503050406030204" pitchFamily="18" charset="0"/>
                          </a:rPr>
                        </m:ctrlPr>
                      </m:fPr>
                      <m:num>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Sub>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Sub>
                          </m:e>
                        </m:nary>
                      </m:num>
                      <m:den>
                        <m:rad>
                          <m:radPr>
                            <m:degHide m:val="on"/>
                            <m:ctrlPr>
                              <a:rPr lang="vi-VN" b="0" i="1" smtClean="0">
                                <a:latin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r>
                          <a:rPr lang="vi-VN" b="0" i="1" smtClean="0">
                            <a:latin typeface="Cambria Math" panose="02040503050406030204" pitchFamily="18" charset="0"/>
                            <a:ea typeface="Cambria Math" panose="02040503050406030204" pitchFamily="18" charset="0"/>
                          </a:rPr>
                          <m:t>∙</m:t>
                        </m:r>
                        <m:rad>
                          <m:radPr>
                            <m:degHide m:val="on"/>
                            <m:ctrlPr>
                              <a:rPr lang="vi-VN" b="0" i="1" smtClean="0">
                                <a:latin typeface="Cambria Math" panose="02040503050406030204" pitchFamily="18" charset="0"/>
                                <a:ea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den>
                    </m:f>
                  </m:oMath>
                </a14:m>
                <a:r>
                  <a:rPr lang="vi-VN"/>
                  <a:t> </a:t>
                </a:r>
              </a:p>
            </p:txBody>
          </p:sp>
        </mc:Choice>
        <mc:Fallback xmlns="">
          <p:sp>
            <p:nvSpPr>
              <p:cNvPr id="3" name="Content Placeholder 2">
                <a:extLst>
                  <a:ext uri="{FF2B5EF4-FFF2-40B4-BE49-F238E27FC236}">
                    <a16:creationId xmlns:a16="http://schemas.microsoft.com/office/drawing/2014/main" id="{4EBB9B06-0CA7-8AA4-33A8-C4EC9109998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13895525-6976-1494-EAE0-EAB7E28358B5}"/>
              </a:ext>
            </a:extLst>
          </p:cNvPr>
          <p:cNvSpPr>
            <a:spLocks noGrp="1"/>
          </p:cNvSpPr>
          <p:nvPr>
            <p:ph type="sldNum" sz="quarter" idx="12"/>
          </p:nvPr>
        </p:nvSpPr>
        <p:spPr/>
        <p:txBody>
          <a:bodyPr/>
          <a:lstStyle/>
          <a:p>
            <a:fld id="{4ED22EA6-6E07-498D-89D0-2FA887FD1E5C}" type="slidenum">
              <a:rPr lang="vi-VN" smtClean="0"/>
              <a:t>22</a:t>
            </a:fld>
            <a:endParaRPr lang="vi-VN"/>
          </a:p>
        </p:txBody>
      </p:sp>
    </p:spTree>
    <p:extLst>
      <p:ext uri="{BB962C8B-B14F-4D97-AF65-F5344CB8AC3E}">
        <p14:creationId xmlns:p14="http://schemas.microsoft.com/office/powerpoint/2010/main" val="14997825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493F-F33B-3517-18B3-CAC2D71F48D4}"/>
              </a:ext>
            </a:extLst>
          </p:cNvPr>
          <p:cNvSpPr>
            <a:spLocks noGrp="1"/>
          </p:cNvSpPr>
          <p:nvPr>
            <p:ph type="title"/>
          </p:nvPr>
        </p:nvSpPr>
        <p:spPr/>
        <p:txBody>
          <a:bodyPr>
            <a:normAutofit/>
          </a:bodyPr>
          <a:lstStyle/>
          <a:p>
            <a:r>
              <a:rPr lang="vi-VN"/>
              <a:t>IV. Hệ thống chatbot</a:t>
            </a:r>
          </a:p>
        </p:txBody>
      </p:sp>
      <p:sp>
        <p:nvSpPr>
          <p:cNvPr id="7" name="Content Placeholder 6">
            <a:extLst>
              <a:ext uri="{FF2B5EF4-FFF2-40B4-BE49-F238E27FC236}">
                <a16:creationId xmlns:a16="http://schemas.microsoft.com/office/drawing/2014/main" id="{B263B091-E383-6830-ED80-82DC0E142FC0}"/>
              </a:ext>
            </a:extLst>
          </p:cNvPr>
          <p:cNvSpPr>
            <a:spLocks noGrp="1"/>
          </p:cNvSpPr>
          <p:nvPr>
            <p:ph idx="1"/>
          </p:nvPr>
        </p:nvSpPr>
        <p:spPr/>
        <p:txBody>
          <a:bodyPr/>
          <a:lstStyle/>
          <a:p>
            <a:r>
              <a:rPr lang="vi-VN" b="1"/>
              <a:t>Quy trình tổng thể</a:t>
            </a:r>
            <a:r>
              <a:rPr lang="vi-VN"/>
              <a:t>:</a:t>
            </a:r>
          </a:p>
          <a:p>
            <a:pPr marL="971550" lvl="1" indent="-514350">
              <a:buFont typeface="+mj-lt"/>
              <a:buAutoNum type="arabicPeriod"/>
            </a:pPr>
            <a:r>
              <a:rPr lang="vi-VN"/>
              <a:t>Nhận truy vấn </a:t>
            </a:r>
            <a:r>
              <a:rPr lang="vi-VN" b="1">
                <a:solidFill>
                  <a:schemeClr val="tx2">
                    <a:lumMod val="75000"/>
                    <a:lumOff val="25000"/>
                  </a:schemeClr>
                </a:solidFill>
              </a:rPr>
              <a:t>Q</a:t>
            </a:r>
          </a:p>
          <a:p>
            <a:pPr marL="971550" lvl="1" indent="-514350">
              <a:buFont typeface="+mj-lt"/>
              <a:buAutoNum type="arabicPeriod"/>
            </a:pPr>
            <a:r>
              <a:rPr lang="vi-VN"/>
              <a:t>Chuẩn hóa và dịch truy vấn </a:t>
            </a:r>
            <a:r>
              <a:rPr lang="vi-VN" b="1">
                <a:solidFill>
                  <a:schemeClr val="tx2">
                    <a:lumMod val="75000"/>
                    <a:lumOff val="25000"/>
                  </a:schemeClr>
                </a:solidFill>
              </a:rPr>
              <a:t>Q</a:t>
            </a:r>
            <a:r>
              <a:rPr lang="vi-VN">
                <a:solidFill>
                  <a:schemeClr val="tx2">
                    <a:lumMod val="75000"/>
                    <a:lumOff val="25000"/>
                  </a:schemeClr>
                </a:solidFill>
              </a:rPr>
              <a:t> </a:t>
            </a:r>
            <a:r>
              <a:rPr lang="vi-VN"/>
              <a:t>về tiếng anh → </a:t>
            </a:r>
            <a:r>
              <a:rPr lang="vi-VN" b="1">
                <a:solidFill>
                  <a:schemeClr val="accent6">
                    <a:lumMod val="75000"/>
                  </a:schemeClr>
                </a:solidFill>
              </a:rPr>
              <a:t>Q’</a:t>
            </a:r>
          </a:p>
          <a:p>
            <a:pPr marL="971550" lvl="1" indent="-514350">
              <a:buFont typeface="+mj-lt"/>
              <a:buAutoNum type="arabicPeriod"/>
            </a:pPr>
            <a:r>
              <a:rPr lang="vi-VN"/>
              <a:t>Lọc ra những từ khóa</a:t>
            </a:r>
            <a:r>
              <a:rPr lang="en-US"/>
              <a:t>, </a:t>
            </a:r>
            <a:r>
              <a:rPr lang="vi-VN"/>
              <a:t>sở thích,... từ truy vấn </a:t>
            </a:r>
            <a:r>
              <a:rPr lang="vi-VN" b="1">
                <a:solidFill>
                  <a:schemeClr val="accent6">
                    <a:lumMod val="75000"/>
                  </a:schemeClr>
                </a:solidFill>
              </a:rPr>
              <a:t>Q’</a:t>
            </a:r>
            <a:r>
              <a:rPr lang="vi-VN"/>
              <a:t> → </a:t>
            </a:r>
            <a:r>
              <a:rPr lang="vi-VN" b="1"/>
              <a:t>S</a:t>
            </a:r>
          </a:p>
          <a:p>
            <a:pPr marL="971550" lvl="1" indent="-514350">
              <a:buFont typeface="+mj-lt"/>
              <a:buAutoNum type="arabicPeriod"/>
            </a:pPr>
            <a:r>
              <a:rPr lang="vi-VN"/>
              <a:t>Trích xuất từ khóa lọc thông số dinh dưỡng từ truy vấn </a:t>
            </a:r>
            <a:r>
              <a:rPr lang="vi-VN" b="1">
                <a:solidFill>
                  <a:schemeClr val="accent6">
                    <a:lumMod val="75000"/>
                  </a:schemeClr>
                </a:solidFill>
              </a:rPr>
              <a:t>Q’</a:t>
            </a:r>
            <a:r>
              <a:rPr lang="vi-VN"/>
              <a:t> → </a:t>
            </a:r>
            <a:r>
              <a:rPr lang="vi-VN" b="1"/>
              <a:t>F </a:t>
            </a:r>
          </a:p>
          <a:p>
            <a:pPr marL="971550" lvl="1" indent="-514350">
              <a:buFont typeface="+mj-lt"/>
              <a:buAutoNum type="arabicPeriod"/>
            </a:pPr>
            <a:r>
              <a:rPr lang="vi-VN"/>
              <a:t>Sinh embedding truy vấn từ </a:t>
            </a:r>
            <a:r>
              <a:rPr lang="vi-VN" b="1">
                <a:solidFill>
                  <a:schemeClr val="accent6">
                    <a:lumMod val="75000"/>
                  </a:schemeClr>
                </a:solidFill>
              </a:rPr>
              <a:t>Q’</a:t>
            </a:r>
            <a:r>
              <a:rPr lang="vi-VN">
                <a:solidFill>
                  <a:schemeClr val="accent6">
                    <a:lumMod val="75000"/>
                  </a:schemeClr>
                </a:solidFill>
              </a:rPr>
              <a:t> </a:t>
            </a:r>
            <a:r>
              <a:rPr lang="vi-VN"/>
              <a:t>→ vector</a:t>
            </a:r>
            <a:r>
              <a:rPr lang="vi-VN">
                <a:solidFill>
                  <a:schemeClr val="accent5">
                    <a:lumMod val="75000"/>
                  </a:schemeClr>
                </a:solidFill>
              </a:rPr>
              <a:t> </a:t>
            </a:r>
            <a:r>
              <a:rPr lang="vi-VN" b="1">
                <a:solidFill>
                  <a:srgbClr val="FFC000"/>
                </a:solidFill>
              </a:rPr>
              <a:t>V</a:t>
            </a:r>
          </a:p>
          <a:p>
            <a:pPr marL="971550" lvl="1" indent="-514350">
              <a:buFont typeface="+mj-lt"/>
              <a:buAutoNum type="arabicPeriod"/>
            </a:pPr>
            <a:r>
              <a:rPr lang="vi-VN"/>
              <a:t>Truy xuất top-k đoạn liên quan từ vector </a:t>
            </a:r>
            <a:r>
              <a:rPr lang="vi-VN" b="1">
                <a:solidFill>
                  <a:srgbClr val="FFC000"/>
                </a:solidFill>
              </a:rPr>
              <a:t>V </a:t>
            </a:r>
            <a:r>
              <a:rPr lang="vi-VN"/>
              <a:t>và </a:t>
            </a:r>
            <a:r>
              <a:rPr lang="vi-VN" b="1"/>
              <a:t>F</a:t>
            </a:r>
            <a:r>
              <a:rPr lang="vi-VN">
                <a:solidFill>
                  <a:schemeClr val="accent5">
                    <a:lumMod val="75000"/>
                  </a:schemeClr>
                </a:solidFill>
              </a:rPr>
              <a:t> </a:t>
            </a:r>
            <a:r>
              <a:rPr lang="vi-VN"/>
              <a:t>→ ngữ cảnh </a:t>
            </a:r>
            <a:r>
              <a:rPr lang="vi-VN" b="1">
                <a:solidFill>
                  <a:schemeClr val="accent2">
                    <a:lumMod val="75000"/>
                  </a:schemeClr>
                </a:solidFill>
              </a:rPr>
              <a:t>D</a:t>
            </a:r>
          </a:p>
          <a:p>
            <a:pPr marL="971550" lvl="1" indent="-514350">
              <a:buFont typeface="+mj-lt"/>
              <a:buAutoNum type="arabicPeriod"/>
            </a:pPr>
            <a:r>
              <a:rPr lang="vi-VN"/>
              <a:t>Ghép ngữ cảnh </a:t>
            </a:r>
            <a:r>
              <a:rPr lang="vi-VN" b="1">
                <a:solidFill>
                  <a:schemeClr val="accent2">
                    <a:lumMod val="75000"/>
                  </a:schemeClr>
                </a:solidFill>
              </a:rPr>
              <a:t>D</a:t>
            </a:r>
            <a:r>
              <a:rPr lang="vi-VN">
                <a:solidFill>
                  <a:schemeClr val="accent2">
                    <a:lumMod val="75000"/>
                  </a:schemeClr>
                </a:solidFill>
              </a:rPr>
              <a:t> </a:t>
            </a:r>
            <a:r>
              <a:rPr lang="vi-VN"/>
              <a:t>vào truy vấn </a:t>
            </a:r>
            <a:r>
              <a:rPr lang="vi-VN" b="1">
                <a:solidFill>
                  <a:schemeClr val="accent6">
                    <a:lumMod val="75000"/>
                  </a:schemeClr>
                </a:solidFill>
              </a:rPr>
              <a:t>Q’</a:t>
            </a:r>
            <a:r>
              <a:rPr lang="vi-VN"/>
              <a:t> → prompt </a:t>
            </a:r>
            <a:r>
              <a:rPr lang="vi-VN" b="1">
                <a:solidFill>
                  <a:srgbClr val="CC0000"/>
                </a:solidFill>
              </a:rPr>
              <a:t>P</a:t>
            </a:r>
          </a:p>
          <a:p>
            <a:pPr marL="971550" lvl="1" indent="-514350">
              <a:buFont typeface="+mj-lt"/>
              <a:buAutoNum type="arabicPeriod"/>
            </a:pPr>
            <a:r>
              <a:rPr lang="vi-VN"/>
              <a:t>Gửi prompt </a:t>
            </a:r>
            <a:r>
              <a:rPr lang="vi-VN" b="1">
                <a:solidFill>
                  <a:srgbClr val="CC0000"/>
                </a:solidFill>
              </a:rPr>
              <a:t>P </a:t>
            </a:r>
            <a:r>
              <a:rPr lang="vi-VN"/>
              <a:t>và </a:t>
            </a:r>
            <a:r>
              <a:rPr lang="vi-VN" b="1"/>
              <a:t>S</a:t>
            </a:r>
            <a:r>
              <a:rPr lang="vi-VN"/>
              <a:t> vào Gemini → phản hồi </a:t>
            </a:r>
            <a:r>
              <a:rPr lang="vi-VN" b="1">
                <a:solidFill>
                  <a:srgbClr val="99CC00"/>
                </a:solidFill>
              </a:rPr>
              <a:t>A</a:t>
            </a:r>
          </a:p>
          <a:p>
            <a:pPr marL="971550" lvl="1" indent="-514350">
              <a:buFont typeface="+mj-lt"/>
              <a:buAutoNum type="arabicPeriod"/>
            </a:pPr>
            <a:r>
              <a:rPr lang="vi-VN"/>
              <a:t>Dịch phản hồi </a:t>
            </a:r>
            <a:r>
              <a:rPr lang="vi-VN" b="1">
                <a:solidFill>
                  <a:srgbClr val="99CC00"/>
                </a:solidFill>
              </a:rPr>
              <a:t>A</a:t>
            </a:r>
            <a:r>
              <a:rPr lang="vi-VN"/>
              <a:t> về ngôn ngữ gốc → </a:t>
            </a:r>
            <a:r>
              <a:rPr lang="vi-VN" b="1"/>
              <a:t>A’</a:t>
            </a:r>
          </a:p>
          <a:p>
            <a:pPr marL="971550" lvl="1" indent="-514350">
              <a:buFont typeface="+mj-lt"/>
              <a:buAutoNum type="arabicPeriod"/>
            </a:pPr>
            <a:r>
              <a:rPr lang="vi-VN"/>
              <a:t>Trả về phản hồi </a:t>
            </a:r>
            <a:r>
              <a:rPr lang="vi-VN" b="1"/>
              <a:t>A’</a:t>
            </a:r>
            <a:r>
              <a:rPr lang="vi-VN"/>
              <a:t> cho người dùng</a:t>
            </a:r>
          </a:p>
        </p:txBody>
      </p:sp>
      <p:sp>
        <p:nvSpPr>
          <p:cNvPr id="3" name="Slide Number Placeholder 2">
            <a:extLst>
              <a:ext uri="{FF2B5EF4-FFF2-40B4-BE49-F238E27FC236}">
                <a16:creationId xmlns:a16="http://schemas.microsoft.com/office/drawing/2014/main" id="{1FA53556-E364-71FB-A59E-D52AF63D6F4B}"/>
              </a:ext>
            </a:extLst>
          </p:cNvPr>
          <p:cNvSpPr>
            <a:spLocks noGrp="1"/>
          </p:cNvSpPr>
          <p:nvPr>
            <p:ph type="sldNum" sz="quarter" idx="12"/>
          </p:nvPr>
        </p:nvSpPr>
        <p:spPr/>
        <p:txBody>
          <a:bodyPr/>
          <a:lstStyle/>
          <a:p>
            <a:fld id="{4ED22EA6-6E07-498D-89D0-2FA887FD1E5C}" type="slidenum">
              <a:rPr lang="vi-VN" smtClean="0"/>
              <a:t>23</a:t>
            </a:fld>
            <a:endParaRPr lang="vi-VN"/>
          </a:p>
        </p:txBody>
      </p:sp>
    </p:spTree>
    <p:extLst>
      <p:ext uri="{BB962C8B-B14F-4D97-AF65-F5344CB8AC3E}">
        <p14:creationId xmlns:p14="http://schemas.microsoft.com/office/powerpoint/2010/main" val="80013966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500"/>
                                        <p:tgtEl>
                                          <p:spTgt spid="7">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fade">
                                      <p:cBhvr>
                                        <p:cTn id="16" dur="500"/>
                                        <p:tgtEl>
                                          <p:spTgt spid="7">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animEffect transition="in" filter="fade">
                                      <p:cBhvr>
                                        <p:cTn id="19" dur="500"/>
                                        <p:tgtEl>
                                          <p:spTgt spid="7">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fade">
                                      <p:cBhvr>
                                        <p:cTn id="22" dur="500"/>
                                        <p:tgtEl>
                                          <p:spTgt spid="7">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7">
                                            <p:txEl>
                                              <p:pRg st="6" end="6"/>
                                            </p:txEl>
                                          </p:spTgt>
                                        </p:tgtEl>
                                        <p:attrNameLst>
                                          <p:attrName>style.visibility</p:attrName>
                                        </p:attrNameLst>
                                      </p:cBhvr>
                                      <p:to>
                                        <p:strVal val="visible"/>
                                      </p:to>
                                    </p:set>
                                    <p:animEffect transition="in" filter="fade">
                                      <p:cBhvr>
                                        <p:cTn id="25" dur="500"/>
                                        <p:tgtEl>
                                          <p:spTgt spid="7">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7">
                                            <p:txEl>
                                              <p:pRg st="7" end="7"/>
                                            </p:txEl>
                                          </p:spTgt>
                                        </p:tgtEl>
                                        <p:attrNameLst>
                                          <p:attrName>style.visibility</p:attrName>
                                        </p:attrNameLst>
                                      </p:cBhvr>
                                      <p:to>
                                        <p:strVal val="visible"/>
                                      </p:to>
                                    </p:set>
                                    <p:animEffect transition="in" filter="fade">
                                      <p:cBhvr>
                                        <p:cTn id="28" dur="500"/>
                                        <p:tgtEl>
                                          <p:spTgt spid="7">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xEl>
                                              <p:pRg st="8" end="8"/>
                                            </p:txEl>
                                          </p:spTgt>
                                        </p:tgtEl>
                                        <p:attrNameLst>
                                          <p:attrName>style.visibility</p:attrName>
                                        </p:attrNameLst>
                                      </p:cBhvr>
                                      <p:to>
                                        <p:strVal val="visible"/>
                                      </p:to>
                                    </p:set>
                                    <p:animEffect transition="in" filter="fade">
                                      <p:cBhvr>
                                        <p:cTn id="31" dur="500"/>
                                        <p:tgtEl>
                                          <p:spTgt spid="7">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7">
                                            <p:txEl>
                                              <p:pRg st="9" end="9"/>
                                            </p:txEl>
                                          </p:spTgt>
                                        </p:tgtEl>
                                        <p:attrNameLst>
                                          <p:attrName>style.visibility</p:attrName>
                                        </p:attrNameLst>
                                      </p:cBhvr>
                                      <p:to>
                                        <p:strVal val="visible"/>
                                      </p:to>
                                    </p:set>
                                    <p:animEffect transition="in" filter="fade">
                                      <p:cBhvr>
                                        <p:cTn id="34" dur="500"/>
                                        <p:tgtEl>
                                          <p:spTgt spid="7">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7">
                                            <p:txEl>
                                              <p:pRg st="10" end="10"/>
                                            </p:txEl>
                                          </p:spTgt>
                                        </p:tgtEl>
                                        <p:attrNameLst>
                                          <p:attrName>style.visibility</p:attrName>
                                        </p:attrNameLst>
                                      </p:cBhvr>
                                      <p:to>
                                        <p:strVal val="visible"/>
                                      </p:to>
                                    </p:set>
                                    <p:animEffect transition="in" filter="fade">
                                      <p:cBhvr>
                                        <p:cTn id="37" dur="500"/>
                                        <p:tgtEl>
                                          <p:spTgt spid="7">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784FE9-5B07-AF40-DBC3-2EF29D42F13F}"/>
              </a:ext>
            </a:extLst>
          </p:cNvPr>
          <p:cNvSpPr>
            <a:spLocks noGrp="1"/>
          </p:cNvSpPr>
          <p:nvPr>
            <p:ph type="title"/>
          </p:nvPr>
        </p:nvSpPr>
        <p:spPr/>
        <p:txBody>
          <a:bodyPr/>
          <a:lstStyle/>
          <a:p>
            <a:r>
              <a:rPr lang="vi-VN"/>
              <a:t>V. Kết quả và đánh giá</a:t>
            </a:r>
          </a:p>
        </p:txBody>
      </p:sp>
      <p:sp>
        <p:nvSpPr>
          <p:cNvPr id="5" name="Text Placeholder 4">
            <a:extLst>
              <a:ext uri="{FF2B5EF4-FFF2-40B4-BE49-F238E27FC236}">
                <a16:creationId xmlns:a16="http://schemas.microsoft.com/office/drawing/2014/main" id="{F2D115C8-C24F-1C35-3092-EE0BCCA71858}"/>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FE000DAE-8C08-6FA4-61B5-F988D575427E}"/>
              </a:ext>
            </a:extLst>
          </p:cNvPr>
          <p:cNvSpPr>
            <a:spLocks noGrp="1"/>
          </p:cNvSpPr>
          <p:nvPr>
            <p:ph type="sldNum" sz="quarter" idx="12"/>
          </p:nvPr>
        </p:nvSpPr>
        <p:spPr/>
        <p:txBody>
          <a:bodyPr/>
          <a:lstStyle/>
          <a:p>
            <a:fld id="{4ED22EA6-6E07-498D-89D0-2FA887FD1E5C}" type="slidenum">
              <a:rPr lang="vi-VN" smtClean="0"/>
              <a:t>24</a:t>
            </a:fld>
            <a:endParaRPr lang="vi-VN"/>
          </a:p>
        </p:txBody>
      </p:sp>
    </p:spTree>
    <p:extLst>
      <p:ext uri="{BB962C8B-B14F-4D97-AF65-F5344CB8AC3E}">
        <p14:creationId xmlns:p14="http://schemas.microsoft.com/office/powerpoint/2010/main" val="7125627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592D-5392-0C2A-0C50-D1E785B172AF}"/>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4AC49E50-F0AE-A37A-A612-B0EF285FFFAE}"/>
              </a:ext>
            </a:extLst>
          </p:cNvPr>
          <p:cNvSpPr>
            <a:spLocks noGrp="1"/>
          </p:cNvSpPr>
          <p:nvPr>
            <p:ph idx="1"/>
          </p:nvPr>
        </p:nvSpPr>
        <p:spPr/>
        <p:txBody>
          <a:bodyPr>
            <a:normAutofit lnSpcReduction="10000"/>
          </a:bodyPr>
          <a:lstStyle/>
          <a:p>
            <a:r>
              <a:rPr lang="vi-VN" b="1" dirty="0"/>
              <a:t>Số phiên </a:t>
            </a:r>
            <a:r>
              <a:rPr lang="vi-VN" dirty="0"/>
              <a:t>(</a:t>
            </a:r>
            <a:r>
              <a:rPr lang="vi-VN" i="1" dirty="0" err="1"/>
              <a:t>sessions</a:t>
            </a:r>
            <a:r>
              <a:rPr lang="vi-VN" dirty="0"/>
              <a:t>): 30 phiên với </a:t>
            </a:r>
            <a:r>
              <a:rPr lang="vi-VN" b="1" dirty="0" err="1">
                <a:solidFill>
                  <a:schemeClr val="accent4">
                    <a:lumMod val="75000"/>
                  </a:schemeClr>
                </a:solidFill>
              </a:rPr>
              <a:t>multi-turn</a:t>
            </a:r>
            <a:r>
              <a:rPr lang="vi-VN" dirty="0"/>
              <a:t> và 100 phiên với </a:t>
            </a:r>
            <a:r>
              <a:rPr lang="vi-VN" b="1" dirty="0" err="1">
                <a:solidFill>
                  <a:schemeClr val="accent2">
                    <a:lumMod val="75000"/>
                  </a:schemeClr>
                </a:solidFill>
              </a:rPr>
              <a:t>one-shot</a:t>
            </a:r>
            <a:r>
              <a:rPr lang="vi-VN" dirty="0"/>
              <a:t>.</a:t>
            </a:r>
          </a:p>
          <a:p>
            <a:r>
              <a:rPr lang="vi-VN" b="1" dirty="0"/>
              <a:t>Kịch bản </a:t>
            </a:r>
            <a:r>
              <a:rPr lang="vi-VN" b="1" dirty="0" err="1">
                <a:solidFill>
                  <a:schemeClr val="accent4">
                    <a:lumMod val="75000"/>
                  </a:schemeClr>
                </a:solidFill>
              </a:rPr>
              <a:t>multi-turn</a:t>
            </a:r>
            <a:r>
              <a:rPr lang="vi-VN" dirty="0"/>
              <a:t>: </a:t>
            </a:r>
          </a:p>
          <a:p>
            <a:pPr lvl="1"/>
            <a:r>
              <a:rPr lang="vi-VN" dirty="0"/>
              <a:t>Mỗi phiên gồm tối đa 1</a:t>
            </a:r>
            <a:r>
              <a:rPr lang="en-US" dirty="0"/>
              <a:t>0</a:t>
            </a:r>
            <a:r>
              <a:rPr lang="vi-VN" dirty="0"/>
              <a:t> lượt </a:t>
            </a:r>
            <a:r>
              <a:rPr lang="vi-VN" dirty="0" err="1"/>
              <a:t>prompt</a:t>
            </a:r>
            <a:endParaRPr lang="vi-VN" dirty="0"/>
          </a:p>
          <a:p>
            <a:pPr lvl="1"/>
            <a:r>
              <a:rPr lang="vi-VN" dirty="0"/>
              <a:t>Đánh giá được ghi lại ở mốc </a:t>
            </a:r>
            <a:r>
              <a:rPr lang="en-US" dirty="0"/>
              <a:t>2</a:t>
            </a:r>
            <a:r>
              <a:rPr lang="vi-VN" dirty="0"/>
              <a:t>, </a:t>
            </a:r>
            <a:r>
              <a:rPr lang="en-US" dirty="0"/>
              <a:t>5</a:t>
            </a:r>
            <a:r>
              <a:rPr lang="vi-VN" dirty="0"/>
              <a:t> và 1</a:t>
            </a:r>
            <a:r>
              <a:rPr lang="en-US" dirty="0"/>
              <a:t>0</a:t>
            </a:r>
            <a:r>
              <a:rPr lang="vi-VN" dirty="0"/>
              <a:t> lượt.</a:t>
            </a:r>
          </a:p>
          <a:p>
            <a:r>
              <a:rPr lang="vi-VN" b="1" dirty="0"/>
              <a:t>Kịch bản </a:t>
            </a:r>
            <a:r>
              <a:rPr lang="vi-VN" b="1" dirty="0" err="1">
                <a:solidFill>
                  <a:schemeClr val="accent2">
                    <a:lumMod val="75000"/>
                  </a:schemeClr>
                </a:solidFill>
              </a:rPr>
              <a:t>one-shot</a:t>
            </a:r>
            <a:r>
              <a:rPr lang="vi-VN" dirty="0"/>
              <a:t>:</a:t>
            </a:r>
          </a:p>
          <a:p>
            <a:pPr lvl="1"/>
            <a:r>
              <a:rPr lang="vi-VN" dirty="0"/>
              <a:t>Mỗi truy vấn độc lập được đưa vào </a:t>
            </a:r>
            <a:r>
              <a:rPr lang="vi-VN" dirty="0" err="1"/>
              <a:t>chatbot</a:t>
            </a:r>
            <a:r>
              <a:rPr lang="vi-VN" dirty="0"/>
              <a:t> một lần</a:t>
            </a:r>
          </a:p>
          <a:p>
            <a:pPr lvl="1"/>
            <a:r>
              <a:rPr lang="vi-VN" dirty="0"/>
              <a:t>Lặp lại 100 truy vấn để đánh giá tính ổn định và chính xác từ lượt đầu.</a:t>
            </a:r>
          </a:p>
          <a:p>
            <a:r>
              <a:rPr lang="vi-VN" b="1" dirty="0"/>
              <a:t>Người đánh giá</a:t>
            </a:r>
            <a:r>
              <a:rPr lang="vi-VN" dirty="0"/>
              <a:t>: các đánh giá viên là người thật (</a:t>
            </a:r>
            <a:r>
              <a:rPr lang="vi-VN" i="1" dirty="0"/>
              <a:t>nhóm kiểm thử nội bộ</a:t>
            </a:r>
            <a:r>
              <a:rPr lang="vi-VN" dirty="0"/>
              <a:t>), thực hiện hội thoại và chấm điểm theo cảm nhận cá nhân</a:t>
            </a:r>
          </a:p>
        </p:txBody>
      </p:sp>
      <p:sp>
        <p:nvSpPr>
          <p:cNvPr id="4" name="Slide Number Placeholder 3">
            <a:extLst>
              <a:ext uri="{FF2B5EF4-FFF2-40B4-BE49-F238E27FC236}">
                <a16:creationId xmlns:a16="http://schemas.microsoft.com/office/drawing/2014/main" id="{600BFC35-B129-9C38-58C6-DD5F080F2276}"/>
              </a:ext>
            </a:extLst>
          </p:cNvPr>
          <p:cNvSpPr>
            <a:spLocks noGrp="1"/>
          </p:cNvSpPr>
          <p:nvPr>
            <p:ph type="sldNum" sz="quarter" idx="12"/>
          </p:nvPr>
        </p:nvSpPr>
        <p:spPr/>
        <p:txBody>
          <a:bodyPr/>
          <a:lstStyle/>
          <a:p>
            <a:fld id="{4ED22EA6-6E07-498D-89D0-2FA887FD1E5C}" type="slidenum">
              <a:rPr lang="vi-VN" smtClean="0"/>
              <a:t>25</a:t>
            </a:fld>
            <a:endParaRPr lang="vi-VN"/>
          </a:p>
        </p:txBody>
      </p:sp>
    </p:spTree>
    <p:extLst>
      <p:ext uri="{BB962C8B-B14F-4D97-AF65-F5344CB8AC3E}">
        <p14:creationId xmlns:p14="http://schemas.microsoft.com/office/powerpoint/2010/main" val="38332784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753D0-1058-FAA4-ABEC-F700A5C7EE4B}"/>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8A5B446C-3968-F3DF-FA5A-E62F23ED7B4E}"/>
              </a:ext>
            </a:extLst>
          </p:cNvPr>
          <p:cNvSpPr>
            <a:spLocks noGrp="1"/>
          </p:cNvSpPr>
          <p:nvPr>
            <p:ph idx="1"/>
          </p:nvPr>
        </p:nvSpPr>
        <p:spPr/>
        <p:txBody>
          <a:bodyPr/>
          <a:lstStyle/>
          <a:p>
            <a:r>
              <a:rPr lang="vi-VN"/>
              <a:t>Sử dụng 3 chỉ số để đánh giá:</a:t>
            </a:r>
          </a:p>
          <a:p>
            <a:pPr lvl="1"/>
            <a:r>
              <a:rPr lang="vi-VN"/>
              <a:t>Độ thiện cảm tích lũy (</a:t>
            </a:r>
            <a:r>
              <a:rPr lang="vi-VN" i="1"/>
              <a:t>Cumulative</a:t>
            </a:r>
            <a:r>
              <a:rPr lang="vi-VN"/>
              <a:t> </a:t>
            </a:r>
            <a:r>
              <a:rPr lang="vi-VN" i="1"/>
              <a:t>likability</a:t>
            </a:r>
            <a:r>
              <a:rPr lang="vi-VN"/>
              <a:t>)</a:t>
            </a:r>
          </a:p>
          <a:p>
            <a:pPr lvl="1"/>
            <a:r>
              <a:rPr lang="vi-VN"/>
              <a:t>Độ chính xác tích lũy (</a:t>
            </a:r>
            <a:r>
              <a:rPr lang="vi-VN" i="1"/>
              <a:t>Cumulative accuracy</a:t>
            </a:r>
            <a:r>
              <a:rPr lang="vi-VN"/>
              <a:t>)</a:t>
            </a:r>
          </a:p>
          <a:p>
            <a:pPr lvl="1"/>
            <a:r>
              <a:rPr lang="vi-VN"/>
              <a:t>Độ chính xác one-shot</a:t>
            </a:r>
          </a:p>
          <a:p>
            <a:r>
              <a:rPr lang="vi-VN"/>
              <a:t>Với mỗi chỉ số trên, tính trung bình và độ lệch chuẩn để đánh giá và thống kê.</a:t>
            </a:r>
          </a:p>
        </p:txBody>
      </p:sp>
      <p:sp>
        <p:nvSpPr>
          <p:cNvPr id="4" name="Slide Number Placeholder 3">
            <a:extLst>
              <a:ext uri="{FF2B5EF4-FFF2-40B4-BE49-F238E27FC236}">
                <a16:creationId xmlns:a16="http://schemas.microsoft.com/office/drawing/2014/main" id="{15279EAA-84B1-107B-8EAE-DAB516758215}"/>
              </a:ext>
            </a:extLst>
          </p:cNvPr>
          <p:cNvSpPr>
            <a:spLocks noGrp="1"/>
          </p:cNvSpPr>
          <p:nvPr>
            <p:ph type="sldNum" sz="quarter" idx="12"/>
          </p:nvPr>
        </p:nvSpPr>
        <p:spPr/>
        <p:txBody>
          <a:bodyPr/>
          <a:lstStyle/>
          <a:p>
            <a:fld id="{4ED22EA6-6E07-498D-89D0-2FA887FD1E5C}" type="slidenum">
              <a:rPr lang="vi-VN" smtClean="0"/>
              <a:t>26</a:t>
            </a:fld>
            <a:endParaRPr lang="vi-VN"/>
          </a:p>
        </p:txBody>
      </p:sp>
    </p:spTree>
    <p:extLst>
      <p:ext uri="{BB962C8B-B14F-4D97-AF65-F5344CB8AC3E}">
        <p14:creationId xmlns:p14="http://schemas.microsoft.com/office/powerpoint/2010/main" val="6601184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A42B-E093-9B57-2B8F-E519C81D71B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9A45312C-14A3-5A47-C4F0-0775BB998831}"/>
                  </a:ext>
                </a:extLst>
              </p:cNvPr>
              <p:cNvSpPr>
                <a:spLocks noGrp="1"/>
              </p:cNvSpPr>
              <p:nvPr>
                <p:ph idx="1"/>
              </p:nvPr>
            </p:nvSpPr>
            <p:spPr/>
            <p:txBody>
              <a:bodyPr/>
              <a:lstStyle/>
              <a:p>
                <a:r>
                  <a:rPr lang="vi-VN" b="1" dirty="0"/>
                  <a:t>Độ thiện cảm tích lũy (</a:t>
                </a:r>
                <a:r>
                  <a:rPr lang="vi-VN" b="1" i="1" dirty="0" err="1"/>
                  <a:t>Cumulative</a:t>
                </a:r>
                <a:r>
                  <a:rPr lang="vi-VN" i="1" dirty="0"/>
                  <a:t> </a:t>
                </a:r>
                <a:r>
                  <a:rPr lang="vi-VN" b="1" i="1" dirty="0" err="1"/>
                  <a:t>likability</a:t>
                </a:r>
                <a:r>
                  <a:rPr lang="vi-VN" b="1" dirty="0"/>
                  <a:t>)</a:t>
                </a:r>
                <a:r>
                  <a:rPr lang="vi-VN" dirty="0"/>
                  <a:t>:</a:t>
                </a:r>
              </a:p>
              <a:p>
                <a:pPr lvl="1"/>
                <a:r>
                  <a:rPr lang="vi-VN" b="1" dirty="0"/>
                  <a:t>Thang điểm</a:t>
                </a:r>
                <a:r>
                  <a:rPr lang="vi-VN" dirty="0"/>
                  <a:t>: 1-10 (</a:t>
                </a:r>
                <a:r>
                  <a:rPr lang="vi-VN" i="1" dirty="0"/>
                  <a:t>rất khó chịu - rất thân thiện</a:t>
                </a:r>
                <a:r>
                  <a:rPr lang="vi-VN" dirty="0"/>
                  <a:t>)</a:t>
                </a:r>
              </a:p>
              <a:p>
                <a:pPr lvl="1"/>
                <a:r>
                  <a:rPr lang="vi-VN" b="1" dirty="0"/>
                  <a:t>Tiêu chí</a:t>
                </a:r>
                <a:r>
                  <a:rPr lang="vi-VN" dirty="0"/>
                  <a:t>: Dựa trên sự tự nhiên của văn phong, lịch sự và thân thiện, rõ ràng trong cách trình bày, tốc độ phản hồi cảm nhận.</a:t>
                </a:r>
              </a:p>
              <a:p>
                <a:pPr lvl="1"/>
                <a:r>
                  <a:rPr lang="vi-VN" b="1" dirty="0"/>
                  <a:t>Công thức</a:t>
                </a:r>
                <a:r>
                  <a:rPr lang="vi-VN" dirty="0"/>
                  <a:t>: </a:t>
                </a:r>
                <a14:m>
                  <m:oMath xmlns:m="http://schemas.openxmlformats.org/officeDocument/2006/math">
                    <m:f>
                      <m:fPr>
                        <m:ctrlPr>
                          <a:rPr lang="vi-VN" i="1" smtClean="0">
                            <a:latin typeface="Cambria Math" panose="02040503050406030204" pitchFamily="18" charset="0"/>
                          </a:rPr>
                        </m:ctrlPr>
                      </m:fPr>
                      <m:num>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num>
                      <m:den>
                        <m:r>
                          <m:rPr>
                            <m:sty m:val="p"/>
                          </m:rPr>
                          <a:rPr lang="vi-VN" i="1">
                            <a:latin typeface="Cambria Math" panose="02040503050406030204" pitchFamily="18" charset="0"/>
                          </a:rPr>
                          <m:t>S</m:t>
                        </m:r>
                      </m:den>
                    </m:f>
                  </m:oMath>
                </a14:m>
                <a:endParaRPr lang="vi-VN" dirty="0"/>
              </a:p>
              <a:p>
                <a:pPr lvl="2"/>
                <a14:m>
                  <m:oMath xmlns:m="http://schemas.openxmlformats.org/officeDocument/2006/math">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oMath>
                </a14:m>
                <a:r>
                  <a:rPr lang="vi-VN" dirty="0"/>
                  <a:t> là giá trị trung bình ở mốc </a:t>
                </a:r>
                <a14:m>
                  <m:oMath xmlns:m="http://schemas.openxmlformats.org/officeDocument/2006/math">
                    <m:r>
                      <m:rPr>
                        <m:sty m:val="p"/>
                      </m:rPr>
                      <a:rPr lang="vi-VN">
                        <a:latin typeface="Cambria Math" panose="02040503050406030204" pitchFamily="18" charset="0"/>
                      </a:rPr>
                      <m:t>n</m:t>
                    </m:r>
                  </m:oMath>
                </a14:m>
                <a:r>
                  <a:rPr lang="vi-VN" dirty="0"/>
                  <a:t> lượt (</a:t>
                </a:r>
                <a14:m>
                  <m:oMath xmlns:m="http://schemas.openxmlformats.org/officeDocument/2006/math">
                    <m:r>
                      <m:rPr>
                        <m:sty m:val="p"/>
                      </m:rPr>
                      <a:rPr lang="vi-VN" i="1">
                        <a:latin typeface="Cambria Math" panose="02040503050406030204" pitchFamily="18" charset="0"/>
                        <a:ea typeface="Cambria Math" panose="02040503050406030204" pitchFamily="18" charset="0"/>
                      </a:rPr>
                      <m:t>n</m:t>
                    </m:r>
                    <m:r>
                      <a:rPr lang="vi-VN" i="1" smtClean="0">
                        <a:latin typeface="Cambria Math" panose="02040503050406030204" pitchFamily="18" charset="0"/>
                        <a:ea typeface="Cambria Math" panose="02040503050406030204" pitchFamily="18" charset="0"/>
                      </a:rPr>
                      <m:t>𝜖</m:t>
                    </m:r>
                    <m:d>
                      <m:dPr>
                        <m:begChr m:val="{"/>
                        <m:endChr m:val="}"/>
                        <m:ctrlPr>
                          <a:rPr lang="vi-VN"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2</m:t>
                        </m:r>
                        <m:r>
                          <a:rPr lang="vi-VN"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5</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m:t>
                        </m:r>
                        <m:r>
                          <a:rPr lang="en-US" b="0" i="1" smtClean="0">
                            <a:latin typeface="Cambria Math" panose="02040503050406030204" pitchFamily="18" charset="0"/>
                            <a:ea typeface="Cambria Math" panose="02040503050406030204" pitchFamily="18" charset="0"/>
                          </a:rPr>
                          <m:t>0</m:t>
                        </m:r>
                      </m:e>
                    </m:d>
                  </m:oMath>
                </a14:m>
                <a:r>
                  <a:rPr lang="vi-VN" dirty="0"/>
                  <a:t>)</a:t>
                </a:r>
              </a:p>
              <a:p>
                <a:pPr lvl="2"/>
                <a14:m>
                  <m:oMath xmlns:m="http://schemas.openxmlformats.org/officeDocument/2006/math">
                    <m:r>
                      <m:rPr>
                        <m:sty m:val="p"/>
                      </m:rPr>
                      <a:rPr lang="vi-VN" i="1" smtClean="0">
                        <a:latin typeface="Cambria Math" panose="02040503050406030204" pitchFamily="18" charset="0"/>
                      </a:rPr>
                      <m:t>S</m:t>
                    </m:r>
                  </m:oMath>
                </a14:m>
                <a:r>
                  <a:rPr lang="vi-VN" dirty="0"/>
                  <a:t> là số phiên</a:t>
                </a:r>
              </a:p>
            </p:txBody>
          </p:sp>
        </mc:Choice>
        <mc:Fallback xmlns="">
          <p:sp>
            <p:nvSpPr>
              <p:cNvPr id="13" name="Content Placeholder 12">
                <a:extLst>
                  <a:ext uri="{FF2B5EF4-FFF2-40B4-BE49-F238E27FC236}">
                    <a16:creationId xmlns:a16="http://schemas.microsoft.com/office/drawing/2014/main" id="{9A45312C-14A3-5A47-C4F0-0775BB99883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0518C323-20C9-9BAC-982B-A3D280A58FE4}"/>
              </a:ext>
            </a:extLst>
          </p:cNvPr>
          <p:cNvSpPr>
            <a:spLocks noGrp="1"/>
          </p:cNvSpPr>
          <p:nvPr>
            <p:ph type="sldNum" sz="quarter" idx="12"/>
          </p:nvPr>
        </p:nvSpPr>
        <p:spPr/>
        <p:txBody>
          <a:bodyPr/>
          <a:lstStyle/>
          <a:p>
            <a:fld id="{4ED22EA6-6E07-498D-89D0-2FA887FD1E5C}" type="slidenum">
              <a:rPr lang="vi-VN" smtClean="0"/>
              <a:t>27</a:t>
            </a:fld>
            <a:endParaRPr lang="vi-VN"/>
          </a:p>
        </p:txBody>
      </p:sp>
    </p:spTree>
    <p:extLst>
      <p:ext uri="{BB962C8B-B14F-4D97-AF65-F5344CB8AC3E}">
        <p14:creationId xmlns:p14="http://schemas.microsoft.com/office/powerpoint/2010/main" val="30478123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xEl>
                                              <p:pRg st="5" end="5"/>
                                            </p:txEl>
                                          </p:spTgt>
                                        </p:tgtEl>
                                        <p:attrNameLst>
                                          <p:attrName>style.visibility</p:attrName>
                                        </p:attrNameLst>
                                      </p:cBhvr>
                                      <p:to>
                                        <p:strVal val="visible"/>
                                      </p:to>
                                    </p:set>
                                    <p:animEffect transition="in" filter="fade">
                                      <p:cBhvr>
                                        <p:cTn id="22" dur="500"/>
                                        <p:tgtEl>
                                          <p:spTgt spid="1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7345-2527-E8C0-FDC6-6E5459CFC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DD0CF-001F-DC6B-C02D-5E330139977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9F980B15-0E56-024C-6F81-FFC9D1E10702}"/>
                  </a:ext>
                </a:extLst>
              </p:cNvPr>
              <p:cNvSpPr>
                <a:spLocks noGrp="1"/>
              </p:cNvSpPr>
              <p:nvPr>
                <p:ph idx="1"/>
              </p:nvPr>
            </p:nvSpPr>
            <p:spPr/>
            <p:txBody>
              <a:bodyPr/>
              <a:lstStyle/>
              <a:p>
                <a:r>
                  <a:rPr lang="vi-VN" b="1"/>
                  <a:t>Độ thiện cảm tích lũy (</a:t>
                </a:r>
                <a:r>
                  <a:rPr lang="vi-VN" b="1" i="1"/>
                  <a:t>Cumulative</a:t>
                </a:r>
                <a:r>
                  <a:rPr lang="vi-VN" i="1"/>
                  <a:t> </a:t>
                </a:r>
                <a:r>
                  <a:rPr lang="vi-VN" b="1" i="1"/>
                  <a:t>likability</a:t>
                </a:r>
                <a:r>
                  <a:rPr lang="vi-VN" b="1"/>
                  <a:t>)</a:t>
                </a:r>
                <a:r>
                  <a:rPr lang="vi-VN"/>
                  <a:t>:</a:t>
                </a:r>
              </a:p>
              <a:p>
                <a:pPr lvl="1"/>
                <a:r>
                  <a:rPr lang="vi-VN"/>
                  <a:t>Trung bình:</a:t>
                </a:r>
              </a:p>
              <a:p>
                <a:pPr marL="914400" lvl="2" indent="0">
                  <a:buNone/>
                </a:pPr>
                <a14:m>
                  <m:oMathPara xmlns:m="http://schemas.openxmlformats.org/officeDocument/2006/math">
                    <m:oMathParaPr>
                      <m:jc m:val="centerGroup"/>
                    </m:oMathParaPr>
                    <m:oMath xmlns:m="http://schemas.openxmlformats.org/officeDocument/2006/math">
                      <m:sSub>
                        <m:sSubPr>
                          <m:ctrlPr>
                            <a:rPr lang="vi-VN" i="1" smtClean="0">
                              <a:latin typeface="Cambria Math" panose="02040503050406030204" pitchFamily="18" charset="0"/>
                            </a:rPr>
                          </m:ctrlPr>
                        </m:sSubPr>
                        <m:e>
                          <m:acc>
                            <m:accPr>
                              <m:chr m:val="̅"/>
                              <m:ctrlPr>
                                <a:rPr lang="vi-VN" i="1" smtClean="0">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n</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j</m:t>
                          </m:r>
                          <m:r>
                            <a:rPr lang="vi-VN" b="0" i="1" smtClean="0">
                              <a:latin typeface="Cambria Math" panose="02040503050406030204" pitchFamily="18" charset="0"/>
                            </a:rPr>
                            <m:t>=</m:t>
                          </m:r>
                          <m:r>
                            <m:rPr>
                              <m:brk m:alnAt="25"/>
                            </m:rPr>
                            <a:rPr lang="vi-VN" i="1">
                              <a:latin typeface="Cambria Math" panose="02040503050406030204" pitchFamily="18" charset="0"/>
                            </a:rPr>
                            <m:t>1</m:t>
                          </m:r>
                        </m:sub>
                        <m:sup>
                          <m:r>
                            <m:rPr>
                              <m:sty m:val="p"/>
                            </m:rPr>
                            <a:rPr lang="vi-VN" i="1">
                              <a:latin typeface="Cambria Math" panose="02040503050406030204" pitchFamily="18" charset="0"/>
                            </a:rPr>
                            <m:t>S</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𝜎</m:t>
                      </m:r>
                      <m:sSub>
                        <m:sSubPr>
                          <m:ctrlPr>
                            <a:rPr lang="vi-VN" i="1" smtClean="0">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n</m:t>
                          </m:r>
                        </m:sub>
                      </m:sSub>
                      <m:r>
                        <a:rPr lang="vi-VN" b="0" i="1" smtClean="0">
                          <a:latin typeface="Cambria Math" panose="02040503050406030204" pitchFamily="18" charset="0"/>
                          <a:ea typeface="Cambria Math" panose="02040503050406030204" pitchFamily="18" charset="0"/>
                        </a:rPr>
                        <m:t>= </m:t>
                      </m:r>
                      <m:rad>
                        <m:radPr>
                          <m:degHide m:val="on"/>
                          <m:ctrlPr>
                            <a:rPr lang="vi-VN" b="0" i="1" smtClean="0">
                              <a:latin typeface="Cambria Math" panose="02040503050406030204" pitchFamily="18" charset="0"/>
                              <a:ea typeface="Cambria Math" panose="02040503050406030204" pitchFamily="18" charset="0"/>
                            </a:rPr>
                          </m:ctrlPr>
                        </m:radPr>
                        <m:deg/>
                        <m:e>
                          <m:f>
                            <m:fPr>
                              <m:ctrlPr>
                                <a:rPr lang="vi-VN" b="0" i="1" smtClean="0">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b="0" i="1" smtClean="0">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1</m:t>
                              </m:r>
                            </m:den>
                          </m:f>
                        </m:e>
                      </m:rad>
                      <m:nary>
                        <m:naryPr>
                          <m:chr m:val="∑"/>
                          <m:limLoc m:val="subSup"/>
                          <m:ctrlPr>
                            <a:rPr lang="vi-VN" b="0" i="1" smtClean="0">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b="0" i="1" smtClean="0">
                              <a:latin typeface="Cambria Math" panose="02040503050406030204" pitchFamily="18" charset="0"/>
                              <a:ea typeface="Cambria Math" panose="02040503050406030204" pitchFamily="18" charset="0"/>
                            </a:rPr>
                            <m:t>=</m:t>
                          </m:r>
                          <m:r>
                            <m:rPr>
                              <m:brk m:alnAt="25"/>
                            </m:rP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b="0" i="1" smtClean="0">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acc>
                                    <m:accPr>
                                      <m:chr m:val="̅"/>
                                      <m:ctrlPr>
                                        <a:rPr lang="vi-VN" i="1">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p:txBody>
          </p:sp>
        </mc:Choice>
        <mc:Fallback xmlns="">
          <p:sp>
            <p:nvSpPr>
              <p:cNvPr id="13" name="Content Placeholder 12">
                <a:extLst>
                  <a:ext uri="{FF2B5EF4-FFF2-40B4-BE49-F238E27FC236}">
                    <a16:creationId xmlns:a16="http://schemas.microsoft.com/office/drawing/2014/main" id="{9F980B15-0E56-024C-6F81-FFC9D1E1070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3" name="Slide Number Placeholder 2">
            <a:extLst>
              <a:ext uri="{FF2B5EF4-FFF2-40B4-BE49-F238E27FC236}">
                <a16:creationId xmlns:a16="http://schemas.microsoft.com/office/drawing/2014/main" id="{F9C726EB-F0D0-31BC-07D8-EFC66D667D53}"/>
              </a:ext>
            </a:extLst>
          </p:cNvPr>
          <p:cNvSpPr>
            <a:spLocks noGrp="1"/>
          </p:cNvSpPr>
          <p:nvPr>
            <p:ph type="sldNum" sz="quarter" idx="12"/>
          </p:nvPr>
        </p:nvSpPr>
        <p:spPr/>
        <p:txBody>
          <a:bodyPr/>
          <a:lstStyle/>
          <a:p>
            <a:fld id="{4ED22EA6-6E07-498D-89D0-2FA887FD1E5C}" type="slidenum">
              <a:rPr lang="vi-VN" smtClean="0"/>
              <a:t>28</a:t>
            </a:fld>
            <a:endParaRPr lang="vi-VN"/>
          </a:p>
        </p:txBody>
      </p:sp>
    </p:spTree>
    <p:extLst>
      <p:ext uri="{BB962C8B-B14F-4D97-AF65-F5344CB8AC3E}">
        <p14:creationId xmlns:p14="http://schemas.microsoft.com/office/powerpoint/2010/main" val="25489020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87DA8-93C7-9D8B-3579-503258B66DBB}"/>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06D146-3B26-864E-5F61-7B1C072768A2}"/>
                  </a:ext>
                </a:extLst>
              </p:cNvPr>
              <p:cNvSpPr>
                <a:spLocks noGrp="1"/>
              </p:cNvSpPr>
              <p:nvPr>
                <p:ph idx="1"/>
              </p:nvPr>
            </p:nvSpPr>
            <p:spPr/>
            <p:txBody>
              <a:bodyPr/>
              <a:lstStyle/>
              <a:p>
                <a:r>
                  <a:rPr lang="vi-VN" b="1" dirty="0"/>
                  <a:t>Độ chính xác tích lũy (</a:t>
                </a:r>
                <a:r>
                  <a:rPr lang="vi-VN" b="1" i="1" dirty="0" err="1"/>
                  <a:t>Cumulative</a:t>
                </a:r>
                <a:r>
                  <a:rPr lang="vi-VN" b="1" i="1" dirty="0"/>
                  <a:t> </a:t>
                </a:r>
                <a:r>
                  <a:rPr lang="vi-VN" b="1" i="1" dirty="0" err="1"/>
                  <a:t>accuracy</a:t>
                </a:r>
                <a:r>
                  <a:rPr lang="vi-VN" b="1" dirty="0"/>
                  <a:t>)</a:t>
                </a:r>
                <a:r>
                  <a:rPr lang="vi-VN" dirty="0"/>
                  <a:t>:</a:t>
                </a:r>
              </a:p>
              <a:p>
                <a:pPr lvl="1"/>
                <a:r>
                  <a:rPr lang="vi-VN" dirty="0"/>
                  <a:t>Với mỗi phiên </a:t>
                </a:r>
                <a14:m>
                  <m:oMath xmlns:m="http://schemas.openxmlformats.org/officeDocument/2006/math">
                    <m:r>
                      <m:rPr>
                        <m:sty m:val="p"/>
                      </m:rPr>
                      <a:rPr lang="vi-VN">
                        <a:latin typeface="Cambria Math" panose="02040503050406030204" pitchFamily="18" charset="0"/>
                      </a:rPr>
                      <m:t>j</m:t>
                    </m:r>
                  </m:oMath>
                </a14:m>
                <a:r>
                  <a:rPr lang="vi-VN" dirty="0"/>
                  <a:t> tại mốc </a:t>
                </a:r>
                <a14:m>
                  <m:oMath xmlns:m="http://schemas.openxmlformats.org/officeDocument/2006/math">
                    <m:r>
                      <m:rPr>
                        <m:sty m:val="p"/>
                      </m:rPr>
                      <a:rPr lang="vi-VN">
                        <a:latin typeface="Cambria Math" panose="02040503050406030204" pitchFamily="18" charset="0"/>
                      </a:rPr>
                      <m:t>n</m:t>
                    </m:r>
                  </m:oMath>
                </a14:m>
                <a:r>
                  <a:rPr lang="vi-VN" dirty="0"/>
                  <a:t> lượt, định nghĩa:</a:t>
                </a:r>
              </a:p>
              <a:p>
                <a:pPr marL="457200" lvl="1" indent="0">
                  <a:buNone/>
                </a:pPr>
                <a14:m>
                  <m:oMathPara xmlns:m="http://schemas.openxmlformats.org/officeDocument/2006/math">
                    <m:oMathParaPr>
                      <m:jc m:val="centerGroup"/>
                    </m:oMathParaPr>
                    <m:oMath xmlns:m="http://schemas.openxmlformats.org/officeDocument/2006/math">
                      <m:r>
                        <m:rPr>
                          <m:sty m:val="p"/>
                        </m:rPr>
                        <a:rPr lang="vi-VN" i="1">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T</m:t>
                          </m:r>
                          <m:r>
                            <a:rPr lang="vi-VN" i="1">
                              <a:latin typeface="Cambria Math" panose="02040503050406030204" pitchFamily="18" charset="0"/>
                            </a:rPr>
                            <m:t>ổ</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s</m:t>
                          </m:r>
                          <m:r>
                            <a:rPr lang="vi-VN" i="1">
                              <a:latin typeface="Cambria Math" panose="02040503050406030204" pitchFamily="18" charset="0"/>
                            </a:rPr>
                            <m:t>ố </m:t>
                          </m:r>
                          <m:r>
                            <m:rPr>
                              <m:sty m:val="p"/>
                            </m:rPr>
                            <a:rPr lang="vi-VN" i="1">
                              <a:latin typeface="Cambria Math" panose="02040503050406030204" pitchFamily="18" charset="0"/>
                            </a:rPr>
                            <m:t>c</m:t>
                          </m:r>
                          <m:r>
                            <a:rPr lang="vi-VN" i="1">
                              <a:latin typeface="Cambria Math" panose="02040503050406030204" pitchFamily="18" charset="0"/>
                            </a:rPr>
                            <m:t>â</m:t>
                          </m:r>
                          <m:r>
                            <m:rPr>
                              <m:sty m:val="p"/>
                            </m:rPr>
                            <a:rPr lang="vi-VN" i="1">
                              <a:latin typeface="Cambria Math" panose="02040503050406030204" pitchFamily="18" charset="0"/>
                            </a:rPr>
                            <m:t>u</m:t>
                          </m:r>
                          <m:r>
                            <a:rPr lang="vi-VN" b="0" i="1" smtClean="0">
                              <a:latin typeface="Cambria Math" panose="02040503050406030204" pitchFamily="18" charset="0"/>
                            </a:rPr>
                            <m:t> </m:t>
                          </m:r>
                          <m:r>
                            <m:rPr>
                              <m:sty m:val="p"/>
                            </m:rPr>
                            <a:rPr lang="vi-VN" i="1">
                              <a:latin typeface="Cambria Math" panose="02040503050406030204" pitchFamily="18" charset="0"/>
                            </a:rPr>
                            <m:t>tr</m:t>
                          </m:r>
                          <m:r>
                            <a:rPr lang="vi-VN" i="1">
                              <a:latin typeface="Cambria Math" panose="02040503050406030204" pitchFamily="18" charset="0"/>
                            </a:rPr>
                            <m:t>ả </m:t>
                          </m:r>
                          <m:r>
                            <m:rPr>
                              <m:sty m:val="p"/>
                            </m:rPr>
                            <a:rPr lang="vi-VN" i="1">
                              <a:latin typeface="Cambria Math" panose="02040503050406030204" pitchFamily="18" charset="0"/>
                            </a:rPr>
                            <m:t>l</m:t>
                          </m:r>
                          <m:r>
                            <a:rPr lang="vi-VN" i="1">
                              <a:latin typeface="Cambria Math" panose="02040503050406030204" pitchFamily="18" charset="0"/>
                            </a:rPr>
                            <m:t>ờ</m:t>
                          </m:r>
                          <m:r>
                            <m:rPr>
                              <m:sty m:val="p"/>
                            </m:rPr>
                            <a:rPr lang="vi-VN" i="1">
                              <a:latin typeface="Cambria Math" panose="02040503050406030204" pitchFamily="18" charset="0"/>
                            </a:rPr>
                            <m:t>i</m:t>
                          </m:r>
                          <m:r>
                            <a:rPr lang="vi-VN" b="0" i="1" smtClean="0">
                              <a:latin typeface="Cambria Math" panose="02040503050406030204" pitchFamily="18" charset="0"/>
                            </a:rPr>
                            <m:t> </m:t>
                          </m:r>
                          <m:r>
                            <a:rPr lang="vi-VN" i="1">
                              <a:latin typeface="Cambria Math" panose="02040503050406030204" pitchFamily="18" charset="0"/>
                            </a:rPr>
                            <m:t>đú</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trong</m:t>
                          </m:r>
                          <m:r>
                            <a:rPr lang="vi-VN" b="0" i="1" smtClean="0">
                              <a:latin typeface="Cambria Math" panose="02040503050406030204" pitchFamily="18" charset="0"/>
                            </a:rPr>
                            <m:t> </m:t>
                          </m:r>
                          <m:r>
                            <m:rPr>
                              <m:sty m:val="p"/>
                            </m:rPr>
                            <a:rPr lang="vi-VN" i="1">
                              <a:latin typeface="Cambria Math" panose="02040503050406030204" pitchFamily="18" charset="0"/>
                            </a:rPr>
                            <m:t>c</m:t>
                          </m:r>
                          <m:r>
                            <a:rPr lang="vi-VN" i="1">
                              <a:latin typeface="Cambria Math" panose="02040503050406030204" pitchFamily="18" charset="0"/>
                            </a:rPr>
                            <m:t>á</m:t>
                          </m:r>
                          <m:r>
                            <m:rPr>
                              <m:sty m:val="p"/>
                            </m:rPr>
                            <a:rPr lang="vi-VN" i="1">
                              <a:latin typeface="Cambria Math" panose="02040503050406030204" pitchFamily="18" charset="0"/>
                            </a:rPr>
                            <m:t>c</m:t>
                          </m:r>
                          <m:r>
                            <a:rPr lang="vi-VN" b="0" i="1" smtClean="0">
                              <a:latin typeface="Cambria Math" panose="02040503050406030204" pitchFamily="18" charset="0"/>
                            </a:rPr>
                            <m:t> </m:t>
                          </m:r>
                          <m:r>
                            <m:rPr>
                              <m:sty m:val="p"/>
                            </m:rPr>
                            <a:rPr lang="vi-VN" i="1">
                              <a:latin typeface="Cambria Math" panose="02040503050406030204" pitchFamily="18" charset="0"/>
                            </a:rPr>
                            <m:t>l</m:t>
                          </m:r>
                          <m:r>
                            <a:rPr lang="vi-VN" i="1">
                              <a:latin typeface="Cambria Math" panose="02040503050406030204" pitchFamily="18" charset="0"/>
                            </a:rPr>
                            <m:t>ượ</m:t>
                          </m:r>
                          <m:r>
                            <m:rPr>
                              <m:sty m:val="p"/>
                            </m:rPr>
                            <a:rPr lang="vi-VN" i="1">
                              <a:latin typeface="Cambria Math" panose="02040503050406030204" pitchFamily="18" charset="0"/>
                            </a:rPr>
                            <m:t>t</m:t>
                          </m:r>
                          <m:r>
                            <a:rPr lang="vi-VN" b="0" i="1" smtClean="0">
                              <a:latin typeface="Cambria Math" panose="02040503050406030204" pitchFamily="18" charset="0"/>
                            </a:rPr>
                            <m:t> </m:t>
                          </m:r>
                          <m:r>
                            <a:rPr lang="vi-VN" i="1">
                              <a:latin typeface="Cambria Math" panose="02040503050406030204" pitchFamily="18" charset="0"/>
                            </a:rPr>
                            <m:t>1</m:t>
                          </m:r>
                          <m:r>
                            <a:rPr lang="en-US" b="0" i="1" smtClean="0">
                              <a:latin typeface="Cambria Math" panose="02040503050406030204" pitchFamily="18" charset="0"/>
                            </a:rPr>
                            <m:t>…</m:t>
                          </m:r>
                          <m:r>
                            <m:rPr>
                              <m:sty m:val="p"/>
                            </m:rPr>
                            <a:rPr lang="vi-VN" i="1">
                              <a:latin typeface="Cambria Math" panose="02040503050406030204" pitchFamily="18" charset="0"/>
                            </a:rPr>
                            <m:t>n</m:t>
                          </m:r>
                        </m:num>
                        <m:den>
                          <m:r>
                            <m:rPr>
                              <m:sty m:val="p"/>
                            </m:rPr>
                            <a:rPr lang="vi-VN" i="1">
                              <a:latin typeface="Cambria Math" panose="02040503050406030204" pitchFamily="18" charset="0"/>
                            </a:rPr>
                            <m:t>n</m:t>
                          </m:r>
                        </m:den>
                      </m:f>
                    </m:oMath>
                  </m:oMathPara>
                </a14:m>
                <a:endParaRPr lang="vi-VN" dirty="0"/>
              </a:p>
              <a:p>
                <a:pPr lvl="1"/>
                <a:r>
                  <a:rPr lang="vi-VN" dirty="0"/>
                  <a:t>Qua S phiên, độ chính xác tích lũy tại mốc n là:</a:t>
                </a:r>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S</m:t>
                          </m:r>
                        </m:den>
                      </m:f>
                      <m:nary>
                        <m:naryPr>
                          <m:chr m:val="∑"/>
                          <m:ctrlPr>
                            <a:rPr lang="vi-VN" b="0" i="1" smtClean="0">
                              <a:latin typeface="Cambria Math" panose="02040503050406030204" pitchFamily="18" charset="0"/>
                            </a:rPr>
                          </m:ctrlPr>
                        </m:naryPr>
                        <m:sub>
                          <m:r>
                            <m:rPr>
                              <m:sty m:val="p"/>
                              <m:brk m:alnAt="23"/>
                            </m:rPr>
                            <a:rPr lang="vi-VN" i="1">
                              <a:latin typeface="Cambria Math" panose="02040503050406030204" pitchFamily="18" charset="0"/>
                            </a:rPr>
                            <m:t>j</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S</m:t>
                          </m:r>
                        </m:sup>
                        <m:e>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dirty="0"/>
              </a:p>
              <a:p>
                <a:pPr lvl="1"/>
                <a:r>
                  <a:rPr lang="vi-VN" b="1" dirty="0"/>
                  <a:t>“Câu trả lời đúng” </a:t>
                </a:r>
                <a:r>
                  <a:rPr lang="vi-VN" dirty="0"/>
                  <a:t>được hiểu là: nội dung trả lời khớp (</a:t>
                </a:r>
                <a:r>
                  <a:rPr lang="vi-VN" i="1" dirty="0"/>
                  <a:t>hoặc bao gồm</a:t>
                </a:r>
                <a:r>
                  <a:rPr lang="vi-VN" dirty="0"/>
                  <a:t>) thông tin xác thực có trong cơ sở dữ liệu.</a:t>
                </a:r>
              </a:p>
              <a:p>
                <a:pPr lvl="1"/>
                <a:r>
                  <a:rPr lang="vi-VN" b="1" dirty="0"/>
                  <a:t>“Câu trả lời sai”</a:t>
                </a:r>
                <a:r>
                  <a:rPr lang="vi-VN" dirty="0"/>
                  <a:t> được hiểu là: nội dung trả lời không có trong cơ sở dữ liệu, sai trọng tâm yêu cầu hoặc bịa đặt thông tin</a:t>
                </a:r>
              </a:p>
            </p:txBody>
          </p:sp>
        </mc:Choice>
        <mc:Fallback xmlns="">
          <p:sp>
            <p:nvSpPr>
              <p:cNvPr id="3" name="Content Placeholder 2">
                <a:extLst>
                  <a:ext uri="{FF2B5EF4-FFF2-40B4-BE49-F238E27FC236}">
                    <a16:creationId xmlns:a16="http://schemas.microsoft.com/office/drawing/2014/main" id="{8B06D146-3B26-864E-5F61-7B1C072768A2}"/>
                  </a:ext>
                </a:extLst>
              </p:cNvPr>
              <p:cNvSpPr>
                <a:spLocks noGrp="1" noRot="1" noChangeAspect="1" noMove="1" noResize="1" noEditPoints="1" noAdjustHandles="1" noChangeArrowheads="1" noChangeShapeType="1" noTextEdit="1"/>
              </p:cNvSpPr>
              <p:nvPr>
                <p:ph idx="1"/>
              </p:nvPr>
            </p:nvSpPr>
            <p:spPr>
              <a:blipFill>
                <a:blip r:embed="rId2"/>
                <a:stretch>
                  <a:fillRect l="-1043" t="-2203" r="-81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89B54D04-BB24-30B9-1F05-F25BF5453A4D}"/>
              </a:ext>
            </a:extLst>
          </p:cNvPr>
          <p:cNvSpPr>
            <a:spLocks noGrp="1"/>
          </p:cNvSpPr>
          <p:nvPr>
            <p:ph type="sldNum" sz="quarter" idx="12"/>
          </p:nvPr>
        </p:nvSpPr>
        <p:spPr/>
        <p:txBody>
          <a:bodyPr/>
          <a:lstStyle/>
          <a:p>
            <a:fld id="{4ED22EA6-6E07-498D-89D0-2FA887FD1E5C}" type="slidenum">
              <a:rPr lang="vi-VN" smtClean="0"/>
              <a:t>29</a:t>
            </a:fld>
            <a:endParaRPr lang="vi-VN"/>
          </a:p>
        </p:txBody>
      </p:sp>
    </p:spTree>
    <p:extLst>
      <p:ext uri="{BB962C8B-B14F-4D97-AF65-F5344CB8AC3E}">
        <p14:creationId xmlns:p14="http://schemas.microsoft.com/office/powerpoint/2010/main" val="13926790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3B83C-980B-51B9-916B-ED2703883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8DAD01-C53D-D7DC-6948-B31A7486EA1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37C206-993D-DE64-1B2F-92E736214F62}"/>
                  </a:ext>
                </a:extLst>
              </p:cNvPr>
              <p:cNvSpPr>
                <a:spLocks noGrp="1"/>
              </p:cNvSpPr>
              <p:nvPr>
                <p:ph idx="1"/>
              </p:nvPr>
            </p:nvSpPr>
            <p:spPr/>
            <p:txBody>
              <a:bodyPr/>
              <a:lstStyle/>
              <a:p>
                <a:r>
                  <a:rPr lang="vi-VN" b="1"/>
                  <a:t>Độ chính xác tích lũy (</a:t>
                </a:r>
                <a:r>
                  <a:rPr lang="vi-VN" b="1" i="1"/>
                  <a:t>Cumulative accuracy</a:t>
                </a:r>
                <a:r>
                  <a:rPr lang="vi-VN" b="1"/>
                  <a:t>)</a:t>
                </a:r>
                <a:r>
                  <a:rPr lang="vi-VN"/>
                  <a:t>:</a:t>
                </a:r>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a:latin typeface="Cambria Math" panose="02040503050406030204" pitchFamily="18" charset="0"/>
                          <a:ea typeface="Cambria Math" panose="02040503050406030204" pitchFamily="18" charset="0"/>
                        </a:rPr>
                        <m:t>𝜎</m:t>
                      </m:r>
                      <m:sSub>
                        <m:sSubPr>
                          <m:ctrlPr>
                            <a:rPr lang="vi-VN" i="1">
                              <a:latin typeface="Cambria Math" panose="02040503050406030204" pitchFamily="18" charset="0"/>
                              <a:ea typeface="Cambria Math" panose="02040503050406030204" pitchFamily="18" charset="0"/>
                            </a:rPr>
                          </m:ctrlPr>
                        </m:sSubPr>
                        <m:e>
                          <m:r>
                            <m:rPr>
                              <m:sty m:val="p"/>
                            </m:rPr>
                            <a:rPr lang="vi-VN" i="1" smtClean="0">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 </m:t>
                      </m:r>
                      <m:rad>
                        <m:radPr>
                          <m:degHide m:val="on"/>
                          <m:ctrlPr>
                            <a:rPr lang="vi-VN" i="1">
                              <a:latin typeface="Cambria Math" panose="02040503050406030204" pitchFamily="18" charset="0"/>
                              <a:ea typeface="Cambria Math" panose="02040503050406030204" pitchFamily="18" charset="0"/>
                            </a:rPr>
                          </m:ctrlPr>
                        </m:radPr>
                        <m:deg/>
                        <m:e>
                          <m:f>
                            <m:fPr>
                              <m:ctrlPr>
                                <a:rPr lang="vi-VN" i="1">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i="1">
                                  <a:latin typeface="Cambria Math" panose="02040503050406030204" pitchFamily="18" charset="0"/>
                                  <a:ea typeface="Cambria Math" panose="02040503050406030204" pitchFamily="18" charset="0"/>
                                </a:rPr>
                                <m:t>−1</m:t>
                              </m:r>
                            </m:den>
                          </m:f>
                        </m:e>
                      </m:rad>
                      <m:nary>
                        <m:naryPr>
                          <m:chr m:val="∑"/>
                          <m:limLoc m:val="subSup"/>
                          <m:ctrlPr>
                            <a:rPr lang="vi-VN" i="1">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i="1">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r>
                                    <m:rPr>
                                      <m:sty m:val="p"/>
                                    </m:rPr>
                                    <a:rPr lang="vi-VN" i="1">
                                      <a:latin typeface="Cambria Math" panose="02040503050406030204" pitchFamily="18" charset="0"/>
                                    </a:rPr>
                                    <m:t>Acc</m:t>
                                  </m:r>
                                </m:e>
                                <m:sub>
                                  <m:r>
                                    <m:rPr>
                                      <m:sty m:val="p"/>
                                    </m:rPr>
                                    <a:rPr lang="vi-VN" i="1">
                                      <a:latin typeface="Cambria Math" panose="02040503050406030204" pitchFamily="18" charset="0"/>
                                    </a:rPr>
                                    <m:t>n</m:t>
                                  </m:r>
                                </m:sub>
                              </m:sSub>
                              <m:r>
                                <a:rPr lang="vi-VN" i="1">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a:p>
                <a:pPr lvl="1"/>
                <a:endParaRPr lang="vi-VN"/>
              </a:p>
              <a:p>
                <a:pPr lvl="1"/>
                <a:endParaRPr lang="vi-VN"/>
              </a:p>
            </p:txBody>
          </p:sp>
        </mc:Choice>
        <mc:Fallback xmlns="">
          <p:sp>
            <p:nvSpPr>
              <p:cNvPr id="3" name="Content Placeholder 2">
                <a:extLst>
                  <a:ext uri="{FF2B5EF4-FFF2-40B4-BE49-F238E27FC236}">
                    <a16:creationId xmlns:a16="http://schemas.microsoft.com/office/drawing/2014/main" id="{5B37C206-993D-DE64-1B2F-92E736214F6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C79EC42E-2BBC-A4E1-C8F7-3FFBD79ABB93}"/>
              </a:ext>
            </a:extLst>
          </p:cNvPr>
          <p:cNvSpPr>
            <a:spLocks noGrp="1"/>
          </p:cNvSpPr>
          <p:nvPr>
            <p:ph type="sldNum" sz="quarter" idx="12"/>
          </p:nvPr>
        </p:nvSpPr>
        <p:spPr/>
        <p:txBody>
          <a:bodyPr/>
          <a:lstStyle/>
          <a:p>
            <a:fld id="{4ED22EA6-6E07-498D-89D0-2FA887FD1E5C}" type="slidenum">
              <a:rPr lang="vi-VN" smtClean="0"/>
              <a:t>30</a:t>
            </a:fld>
            <a:endParaRPr lang="vi-VN"/>
          </a:p>
        </p:txBody>
      </p:sp>
    </p:spTree>
    <p:extLst>
      <p:ext uri="{BB962C8B-B14F-4D97-AF65-F5344CB8AC3E}">
        <p14:creationId xmlns:p14="http://schemas.microsoft.com/office/powerpoint/2010/main" val="3343488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61DDE-A078-B73D-58B1-057711F5A225}"/>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78178D2-3397-D18A-88AA-C8BC21572C89}"/>
                  </a:ext>
                </a:extLst>
              </p:cNvPr>
              <p:cNvSpPr>
                <a:spLocks noGrp="1"/>
              </p:cNvSpPr>
              <p:nvPr>
                <p:ph idx="1"/>
              </p:nvPr>
            </p:nvSpPr>
            <p:spPr/>
            <p:txBody>
              <a:bodyPr/>
              <a:lstStyle/>
              <a:p>
                <a:r>
                  <a:rPr lang="vi-VN" b="1" dirty="0"/>
                  <a:t>Độ chính xác </a:t>
                </a:r>
                <a:r>
                  <a:rPr lang="vi-VN" b="1" dirty="0" err="1"/>
                  <a:t>one-shot</a:t>
                </a:r>
                <a:r>
                  <a:rPr lang="vi-VN" dirty="0"/>
                  <a:t>:</a:t>
                </a:r>
              </a:p>
              <a:p>
                <a:pPr lvl="1"/>
                <a:r>
                  <a:rPr lang="vi-VN" dirty="0"/>
                  <a:t>Với </a:t>
                </a:r>
                <a14:m>
                  <m:oMath xmlns:m="http://schemas.openxmlformats.org/officeDocument/2006/math">
                    <m:r>
                      <m:rPr>
                        <m:sty m:val="p"/>
                      </m:rPr>
                      <a:rPr lang="vi-VN" i="1">
                        <a:latin typeface="Cambria Math" panose="02040503050406030204" pitchFamily="18" charset="0"/>
                      </a:rPr>
                      <m:t>M</m:t>
                    </m:r>
                    <m:r>
                      <a:rPr lang="vi-VN" b="0" i="1" smtClean="0">
                        <a:latin typeface="Cambria Math" panose="02040503050406030204" pitchFamily="18" charset="0"/>
                      </a:rPr>
                      <m:t>=</m:t>
                    </m:r>
                    <m:r>
                      <a:rPr lang="vi-VN" i="1">
                        <a:latin typeface="Cambria Math" panose="02040503050406030204" pitchFamily="18" charset="0"/>
                      </a:rPr>
                      <m:t>100</m:t>
                    </m:r>
                  </m:oMath>
                </a14:m>
                <a:r>
                  <a:rPr lang="vi-VN" dirty="0"/>
                  <a:t> truy vấn độc lập, </a:t>
                </a:r>
                <a:r>
                  <a:rPr lang="en-US" dirty="0" err="1"/>
                  <a:t>hệ</a:t>
                </a:r>
                <a:r>
                  <a:rPr lang="en-US" dirty="0"/>
                  <a:t> </a:t>
                </a:r>
                <a:r>
                  <a:rPr lang="en-US" dirty="0" err="1"/>
                  <a:t>thống</a:t>
                </a:r>
                <a:r>
                  <a:rPr lang="en-US" dirty="0"/>
                  <a:t> </a:t>
                </a:r>
                <a:r>
                  <a:rPr lang="en-US" dirty="0" err="1"/>
                  <a:t>trả</a:t>
                </a:r>
                <a:r>
                  <a:rPr lang="en-US" dirty="0"/>
                  <a:t> </a:t>
                </a:r>
                <a:r>
                  <a:rPr lang="en-US" dirty="0" err="1"/>
                  <a:t>lời</a:t>
                </a:r>
                <a:r>
                  <a:rPr lang="en-US" dirty="0"/>
                  <a:t> 1 </a:t>
                </a:r>
                <a:r>
                  <a:rPr lang="en-US" dirty="0" err="1"/>
                  <a:t>lần</a:t>
                </a:r>
                <a:r>
                  <a:rPr lang="en-US" dirty="0"/>
                  <a:t> </a:t>
                </a:r>
                <a:r>
                  <a:rPr lang="en-US" dirty="0" err="1"/>
                  <a:t>cho</a:t>
                </a:r>
                <a:r>
                  <a:rPr lang="en-US" dirty="0"/>
                  <a:t> </a:t>
                </a:r>
                <a:r>
                  <a:rPr lang="en-US" dirty="0" err="1"/>
                  <a:t>mỗi</a:t>
                </a:r>
                <a:r>
                  <a:rPr lang="en-US" dirty="0"/>
                  <a:t> </a:t>
                </a:r>
                <a:r>
                  <a:rPr lang="en-US" dirty="0" err="1"/>
                  <a:t>truy</a:t>
                </a:r>
                <a:r>
                  <a:rPr lang="en-US" dirty="0"/>
                  <a:t> </a:t>
                </a:r>
                <a:r>
                  <a:rPr lang="en-US" dirty="0" err="1"/>
                  <a:t>vấn</a:t>
                </a:r>
                <a:r>
                  <a:rPr lang="en-US" dirty="0"/>
                  <a:t>, </a:t>
                </a:r>
                <a:r>
                  <a:rPr lang="en-US" dirty="0" err="1"/>
                  <a:t>đánh</a:t>
                </a:r>
                <a:r>
                  <a:rPr lang="en-US" dirty="0"/>
                  <a:t> </a:t>
                </a:r>
                <a:r>
                  <a:rPr lang="en-US" dirty="0" err="1"/>
                  <a:t>giá</a:t>
                </a:r>
                <a:r>
                  <a:rPr lang="en-US" dirty="0"/>
                  <a:t> </a:t>
                </a:r>
                <a:r>
                  <a:rPr lang="en-US" dirty="0" err="1"/>
                  <a:t>viên</a:t>
                </a:r>
                <a:r>
                  <a:rPr lang="en-US" dirty="0"/>
                  <a:t> </a:t>
                </a:r>
                <a:r>
                  <a:rPr lang="en-US" dirty="0" err="1"/>
                  <a:t>gán</a:t>
                </a:r>
                <a:r>
                  <a:rPr lang="en-US" dirty="0"/>
                  <a:t> </a:t>
                </a:r>
                <a:r>
                  <a:rPr lang="en-US" dirty="0" err="1"/>
                  <a:t>điểm</a:t>
                </a:r>
                <a:r>
                  <a:rPr lang="en-US" dirty="0"/>
                  <a:t> </a:t>
                </a:r>
                <a:r>
                  <a:rPr lang="en-US" dirty="0" err="1"/>
                  <a:t>số</a:t>
                </a:r>
                <a:r>
                  <a:rPr lang="en-US" dirty="0"/>
                  <a:t> từ 1 đến 10 </a:t>
                </a:r>
                <a:r>
                  <a:rPr lang="en-US" dirty="0" err="1"/>
                  <a:t>cho</a:t>
                </a:r>
                <a:r>
                  <a:rPr lang="en-US" dirty="0"/>
                  <a:t> </a:t>
                </a:r>
                <a:r>
                  <a:rPr lang="en-US" dirty="0" err="1"/>
                  <a:t>từng</a:t>
                </a:r>
                <a:r>
                  <a:rPr lang="en-US" dirty="0"/>
                  <a:t> </a:t>
                </a:r>
                <a:r>
                  <a:rPr lang="en-US" dirty="0" err="1"/>
                  <a:t>phản</a:t>
                </a:r>
                <a:r>
                  <a:rPr lang="en-US" dirty="0"/>
                  <a:t> </a:t>
                </a:r>
                <a:r>
                  <a:rPr lang="en-US" dirty="0" err="1"/>
                  <a:t>hồi</a:t>
                </a:r>
                <a:r>
                  <a:rPr lang="en-US" dirty="0"/>
                  <a:t>.</a:t>
                </a:r>
                <a:endParaRPr lang="vi-VN" dirty="0"/>
              </a:p>
              <a:p>
                <a:pPr marL="457200" lvl="1" indent="0">
                  <a:buNone/>
                </a:pPr>
                <a:endParaRPr lang="vi-VN" dirty="0"/>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OneShotAcc</m:t>
                      </m:r>
                      <m:r>
                        <a:rPr lang="vi-VN" b="0" i="1" smtClean="0">
                          <a:latin typeface="Cambria Math" panose="02040503050406030204" pitchFamily="18" charset="0"/>
                        </a:rPr>
                        <m:t>=</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M</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M</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i</m:t>
                              </m:r>
                            </m:sub>
                          </m:sSub>
                        </m:e>
                      </m:nary>
                    </m:oMath>
                  </m:oMathPara>
                </a14:m>
                <a:endParaRPr lang="vi-VN" dirty="0"/>
              </a:p>
            </p:txBody>
          </p:sp>
        </mc:Choice>
        <mc:Fallback xmlns="">
          <p:sp>
            <p:nvSpPr>
              <p:cNvPr id="3" name="Content Placeholder 2">
                <a:extLst>
                  <a:ext uri="{FF2B5EF4-FFF2-40B4-BE49-F238E27FC236}">
                    <a16:creationId xmlns:a16="http://schemas.microsoft.com/office/drawing/2014/main" id="{378178D2-3397-D18A-88AA-C8BC21572C89}"/>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6C4E8126-86EC-212C-7F34-99DD3A479313}"/>
              </a:ext>
            </a:extLst>
          </p:cNvPr>
          <p:cNvSpPr>
            <a:spLocks noGrp="1"/>
          </p:cNvSpPr>
          <p:nvPr>
            <p:ph type="sldNum" sz="quarter" idx="12"/>
          </p:nvPr>
        </p:nvSpPr>
        <p:spPr/>
        <p:txBody>
          <a:bodyPr/>
          <a:lstStyle/>
          <a:p>
            <a:fld id="{4ED22EA6-6E07-498D-89D0-2FA887FD1E5C}" type="slidenum">
              <a:rPr lang="vi-VN" smtClean="0"/>
              <a:t>31</a:t>
            </a:fld>
            <a:endParaRPr lang="vi-VN"/>
          </a:p>
        </p:txBody>
      </p:sp>
    </p:spTree>
    <p:extLst>
      <p:ext uri="{BB962C8B-B14F-4D97-AF65-F5344CB8AC3E}">
        <p14:creationId xmlns:p14="http://schemas.microsoft.com/office/powerpoint/2010/main" val="415978029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AD92-8483-7AB3-D77D-A3A1D8169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B8469-89C8-F3E8-2209-3EAF0DBE2CC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8D9E34-403F-69B7-6996-449C905422AF}"/>
                  </a:ext>
                </a:extLst>
              </p:cNvPr>
              <p:cNvSpPr>
                <a:spLocks noGrp="1"/>
              </p:cNvSpPr>
              <p:nvPr>
                <p:ph idx="1"/>
              </p:nvPr>
            </p:nvSpPr>
            <p:spPr/>
            <p:txBody>
              <a:bodyPr/>
              <a:lstStyle/>
              <a:p>
                <a:r>
                  <a:rPr lang="vi-VN"/>
                  <a:t>Độ chính xác one-shot:</a:t>
                </a:r>
              </a:p>
              <a:p>
                <a:pPr lvl="1"/>
                <a:r>
                  <a:rPr lang="vi-VN"/>
                  <a:t>Độ lệch chuẩn:</a:t>
                </a:r>
              </a:p>
              <a:p>
                <a:pPr lvl="1"/>
                <a14:m>
                  <m:oMath xmlns:m="http://schemas.openxmlformats.org/officeDocument/2006/math">
                    <m:r>
                      <a:rPr lang="vi-VN">
                        <a:latin typeface="Cambria Math" panose="02040503050406030204" pitchFamily="18" charset="0"/>
                      </a:rPr>
                      <m:t>𝜎</m:t>
                    </m:r>
                    <m:r>
                      <m:rPr>
                        <m:sty m:val="p"/>
                      </m:rPr>
                      <a:rPr lang="vi-VN" smtClean="0">
                        <a:latin typeface="Cambria Math" panose="02040503050406030204" pitchFamily="18" charset="0"/>
                      </a:rPr>
                      <m:t>OneShotAcc</m:t>
                    </m:r>
                    <m:r>
                      <a:rPr lang="vi-VN">
                        <a:latin typeface="Cambria Math" panose="02040503050406030204" pitchFamily="18" charset="0"/>
                      </a:rPr>
                      <m:t>= </m:t>
                    </m:r>
                    <m:rad>
                      <m:radPr>
                        <m:degHide m:val="on"/>
                        <m:ctrlPr>
                          <a:rPr lang="vi-VN" i="1">
                            <a:latin typeface="Cambria Math" panose="02040503050406030204" pitchFamily="18" charset="0"/>
                          </a:rPr>
                        </m:ctrlPr>
                      </m:radPr>
                      <m:deg/>
                      <m:e>
                        <m:f>
                          <m:fPr>
                            <m:ctrlPr>
                              <a:rPr lang="vi-VN" i="1">
                                <a:latin typeface="Cambria Math" panose="02040503050406030204" pitchFamily="18" charset="0"/>
                              </a:rPr>
                            </m:ctrlPr>
                          </m:fPr>
                          <m:num>
                            <m:r>
                              <a:rPr lang="vi-VN">
                                <a:latin typeface="Cambria Math" panose="02040503050406030204" pitchFamily="18" charset="0"/>
                              </a:rPr>
                              <m:t>1</m:t>
                            </m:r>
                          </m:num>
                          <m:den>
                            <m:r>
                              <m:rPr>
                                <m:sty m:val="p"/>
                              </m:rPr>
                              <a:rPr lang="vi-VN">
                                <a:latin typeface="Cambria Math" panose="02040503050406030204" pitchFamily="18" charset="0"/>
                              </a:rPr>
                              <m:t>M</m:t>
                            </m:r>
                            <m:r>
                              <a:rPr lang="vi-VN">
                                <a:latin typeface="Cambria Math" panose="02040503050406030204" pitchFamily="18" charset="0"/>
                              </a:rPr>
                              <m:t>−1</m:t>
                            </m:r>
                          </m:den>
                        </m:f>
                      </m:e>
                    </m:rad>
                    <m:nary>
                      <m:naryPr>
                        <m:chr m:val="∑"/>
                        <m:limLoc m:val="subSup"/>
                        <m:ctrlPr>
                          <a:rPr lang="vi-VN" i="1">
                            <a:latin typeface="Cambria Math" panose="02040503050406030204" pitchFamily="18" charset="0"/>
                          </a:rPr>
                        </m:ctrlPr>
                      </m:naryPr>
                      <m:sub>
                        <m:r>
                          <m:rPr>
                            <m:sty m:val="p"/>
                            <m:brk m:alnAt="1"/>
                          </m:rPr>
                          <a:rPr lang="vi-VN">
                            <a:latin typeface="Cambria Math" panose="02040503050406030204" pitchFamily="18" charset="0"/>
                          </a:rPr>
                          <m:t>i</m:t>
                        </m:r>
                        <m:r>
                          <a:rPr lang="vi-VN">
                            <a:latin typeface="Cambria Math" panose="02040503050406030204" pitchFamily="18" charset="0"/>
                          </a:rPr>
                          <m:t>=1</m:t>
                        </m:r>
                      </m:sub>
                      <m:sup>
                        <m:r>
                          <m:rPr>
                            <m:sty m:val="p"/>
                          </m:rPr>
                          <a:rPr lang="vi-VN">
                            <a:latin typeface="Cambria Math" panose="02040503050406030204" pitchFamily="18" charset="0"/>
                          </a:rPr>
                          <m:t>S</m:t>
                        </m:r>
                      </m:sup>
                      <m:e>
                        <m:sSup>
                          <m:sSupPr>
                            <m:ctrlPr>
                              <a:rPr lang="vi-VN" i="1">
                                <a:latin typeface="Cambria Math" panose="02040503050406030204" pitchFamily="18" charset="0"/>
                              </a:rPr>
                            </m:ctrlPr>
                          </m:sSupPr>
                          <m:e>
                            <m:r>
                              <a:rPr lang="vi-VN">
                                <a:latin typeface="Cambria Math" panose="02040503050406030204" pitchFamily="18" charset="0"/>
                              </a:rPr>
                              <m:t>(</m:t>
                            </m:r>
                            <m:sSub>
                              <m:sSubPr>
                                <m:ctrlPr>
                                  <a:rPr lang="vi-VN" i="1" smtClean="0">
                                    <a:latin typeface="Cambria Math" panose="02040503050406030204" pitchFamily="18" charset="0"/>
                                  </a:rPr>
                                </m:ctrlPr>
                              </m:sSubPr>
                              <m:e>
                                <m:r>
                                  <m:rPr>
                                    <m:sty m:val="p"/>
                                  </m:rPr>
                                  <a:rPr lang="vi-VN">
                                    <a:latin typeface="Cambria Math" panose="02040503050406030204" pitchFamily="18" charset="0"/>
                                  </a:rPr>
                                  <m:t>c</m:t>
                                </m:r>
                              </m:e>
                              <m:sub>
                                <m:r>
                                  <m:rPr>
                                    <m:sty m:val="p"/>
                                  </m:rPr>
                                  <a:rPr lang="vi-VN">
                                    <a:latin typeface="Cambria Math" panose="02040503050406030204" pitchFamily="18" charset="0"/>
                                  </a:rPr>
                                  <m:t>i</m:t>
                                </m:r>
                              </m:sub>
                            </m:sSub>
                            <m:r>
                              <a:rPr lang="vi-VN">
                                <a:latin typeface="Cambria Math" panose="02040503050406030204" pitchFamily="18" charset="0"/>
                              </a:rPr>
                              <m:t>−</m:t>
                            </m:r>
                            <m:r>
                              <m:rPr>
                                <m:sty m:val="p"/>
                              </m:rPr>
                              <a:rPr lang="vi-VN">
                                <a:latin typeface="Cambria Math" panose="02040503050406030204" pitchFamily="18" charset="0"/>
                              </a:rPr>
                              <m:t>OneShotAcc</m:t>
                            </m:r>
                            <m:r>
                              <a:rPr lang="vi-VN">
                                <a:latin typeface="Cambria Math" panose="02040503050406030204" pitchFamily="18" charset="0"/>
                              </a:rPr>
                              <m:t>)</m:t>
                            </m:r>
                          </m:e>
                          <m:sup>
                            <m:r>
                              <a:rPr lang="vi-VN">
                                <a:latin typeface="Cambria Math" panose="02040503050406030204" pitchFamily="18" charset="0"/>
                              </a:rPr>
                              <m:t>2</m:t>
                            </m:r>
                          </m:sup>
                        </m:sSup>
                      </m:e>
                    </m:nary>
                  </m:oMath>
                </a14:m>
                <a:endParaRPr lang="vi-VN"/>
              </a:p>
              <a:p>
                <a:pPr lvl="1"/>
                <a:endParaRPr lang="vi-VN"/>
              </a:p>
            </p:txBody>
          </p:sp>
        </mc:Choice>
        <mc:Fallback xmlns="">
          <p:sp>
            <p:nvSpPr>
              <p:cNvPr id="3" name="Content Placeholder 2">
                <a:extLst>
                  <a:ext uri="{FF2B5EF4-FFF2-40B4-BE49-F238E27FC236}">
                    <a16:creationId xmlns:a16="http://schemas.microsoft.com/office/drawing/2014/main" id="{BD8D9E34-403F-69B7-6996-449C905422AF}"/>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3929C89F-0B71-B17F-1A26-20DAF9C9EC23}"/>
              </a:ext>
            </a:extLst>
          </p:cNvPr>
          <p:cNvSpPr>
            <a:spLocks noGrp="1"/>
          </p:cNvSpPr>
          <p:nvPr>
            <p:ph type="sldNum" sz="quarter" idx="12"/>
          </p:nvPr>
        </p:nvSpPr>
        <p:spPr/>
        <p:txBody>
          <a:bodyPr/>
          <a:lstStyle/>
          <a:p>
            <a:fld id="{4ED22EA6-6E07-498D-89D0-2FA887FD1E5C}" type="slidenum">
              <a:rPr lang="vi-VN" smtClean="0"/>
              <a:t>32</a:t>
            </a:fld>
            <a:endParaRPr lang="vi-VN"/>
          </a:p>
        </p:txBody>
      </p:sp>
    </p:spTree>
    <p:extLst>
      <p:ext uri="{BB962C8B-B14F-4D97-AF65-F5344CB8AC3E}">
        <p14:creationId xmlns:p14="http://schemas.microsoft.com/office/powerpoint/2010/main" val="3704276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1B6C4-EC21-47D8-0AC2-1BA89E76B5B2}"/>
              </a:ext>
            </a:extLst>
          </p:cNvPr>
          <p:cNvSpPr>
            <a:spLocks noGrp="1"/>
          </p:cNvSpPr>
          <p:nvPr>
            <p:ph type="title"/>
          </p:nvPr>
        </p:nvSpPr>
        <p:spPr/>
        <p:txBody>
          <a:bodyPr>
            <a:normAutofit/>
          </a:bodyPr>
          <a:lstStyle/>
          <a:p>
            <a:r>
              <a:rPr lang="vi-VN"/>
              <a:t>V. Kết quả và đánh giá</a:t>
            </a:r>
          </a:p>
        </p:txBody>
      </p:sp>
      <p:graphicFrame>
        <p:nvGraphicFramePr>
          <p:cNvPr id="6" name="Chỗ dành sẵn cho Nội dung 5">
            <a:extLst>
              <a:ext uri="{FF2B5EF4-FFF2-40B4-BE49-F238E27FC236}">
                <a16:creationId xmlns:a16="http://schemas.microsoft.com/office/drawing/2014/main" id="{AC1759D8-3A99-6469-C2F1-B52F74AC9564}"/>
              </a:ext>
            </a:extLst>
          </p:cNvPr>
          <p:cNvGraphicFramePr>
            <a:graphicFrameLocks noGrp="1"/>
          </p:cNvGraphicFramePr>
          <p:nvPr>
            <p:ph idx="1"/>
            <p:extLst>
              <p:ext uri="{D42A27DB-BD31-4B8C-83A1-F6EECF244321}">
                <p14:modId xmlns:p14="http://schemas.microsoft.com/office/powerpoint/2010/main" val="3057695870"/>
              </p:ext>
            </p:extLst>
          </p:nvPr>
        </p:nvGraphicFramePr>
        <p:xfrm>
          <a:off x="838200" y="1930866"/>
          <a:ext cx="10515600" cy="19812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974202303"/>
                    </a:ext>
                  </a:extLst>
                </a:gridCol>
                <a:gridCol w="2103120">
                  <a:extLst>
                    <a:ext uri="{9D8B030D-6E8A-4147-A177-3AD203B41FA5}">
                      <a16:colId xmlns:a16="http://schemas.microsoft.com/office/drawing/2014/main" val="4041585590"/>
                    </a:ext>
                  </a:extLst>
                </a:gridCol>
                <a:gridCol w="2103120">
                  <a:extLst>
                    <a:ext uri="{9D8B030D-6E8A-4147-A177-3AD203B41FA5}">
                      <a16:colId xmlns:a16="http://schemas.microsoft.com/office/drawing/2014/main" val="417388301"/>
                    </a:ext>
                  </a:extLst>
                </a:gridCol>
                <a:gridCol w="2103120">
                  <a:extLst>
                    <a:ext uri="{9D8B030D-6E8A-4147-A177-3AD203B41FA5}">
                      <a16:colId xmlns:a16="http://schemas.microsoft.com/office/drawing/2014/main" val="1491150681"/>
                    </a:ext>
                  </a:extLst>
                </a:gridCol>
                <a:gridCol w="2103120">
                  <a:extLst>
                    <a:ext uri="{9D8B030D-6E8A-4147-A177-3AD203B41FA5}">
                      <a16:colId xmlns:a16="http://schemas.microsoft.com/office/drawing/2014/main" val="1487681724"/>
                    </a:ext>
                  </a:extLst>
                </a:gridCol>
              </a:tblGrid>
              <a:tr h="370840">
                <a:tc rowSpan="2">
                  <a:txBody>
                    <a:bodyPr/>
                    <a:lstStyle/>
                    <a:p>
                      <a:pPr algn="ctr"/>
                      <a:r>
                        <a:rPr lang="en-US" sz="2000" dirty="0" err="1">
                          <a:latin typeface="Times New Roman" panose="02020603050405020304" pitchFamily="18" charset="0"/>
                          <a:cs typeface="Times New Roman" panose="02020603050405020304" pitchFamily="18" charset="0"/>
                        </a:rPr>
                        <a:t>Mốc</a:t>
                      </a:r>
                      <a:endParaRPr lang="en-US" sz="2000" dirty="0">
                        <a:latin typeface="Times New Roman" panose="02020603050405020304" pitchFamily="18" charset="0"/>
                        <a:cs typeface="Times New Roman" panose="02020603050405020304" pitchFamily="18" charset="0"/>
                      </a:endParaRPr>
                    </a:p>
                  </a:txBody>
                  <a:tcPr/>
                </a:tc>
                <a:tc gridSpan="2">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thiện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cảm</a:t>
                      </a:r>
                      <a:endParaRPr lang="en-US" sz="2000" dirty="0">
                        <a:latin typeface="Times New Roman" panose="02020603050405020304" pitchFamily="18" charset="0"/>
                        <a:cs typeface="Times New Roman" panose="02020603050405020304" pitchFamily="18" charset="0"/>
                      </a:endParaRPr>
                    </a:p>
                  </a:txBody>
                  <a:tcPr/>
                </a:tc>
                <a:tc hMerge="1">
                  <a:txBody>
                    <a:bodyPr/>
                    <a:lstStyle/>
                    <a:p>
                      <a:endParaRPr lang="en-US" dirty="0"/>
                    </a:p>
                  </a:txBody>
                  <a:tcPr/>
                </a:tc>
                <a:tc gridSpan="2">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chính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xác</a:t>
                      </a:r>
                      <a:endParaRPr lang="en-US" sz="2000" dirty="0">
                        <a:latin typeface="Times New Roman" panose="02020603050405020304" pitchFamily="18" charset="0"/>
                        <a:cs typeface="Times New Roman" panose="02020603050405020304" pitchFamily="18" charset="0"/>
                      </a:endParaRPr>
                    </a:p>
                  </a:txBody>
                  <a:tcPr/>
                </a:tc>
                <a:tc hMerge="1">
                  <a:txBody>
                    <a:bodyPr/>
                    <a:lstStyle/>
                    <a:p>
                      <a:endParaRPr lang="en-US" dirty="0"/>
                    </a:p>
                  </a:txBody>
                  <a:tcPr/>
                </a:tc>
                <a:extLst>
                  <a:ext uri="{0D108BD9-81ED-4DB2-BD59-A6C34878D82A}">
                    <a16:rowId xmlns:a16="http://schemas.microsoft.com/office/drawing/2014/main" val="3428171097"/>
                  </a:ext>
                </a:extLst>
              </a:tr>
              <a:tr h="370840">
                <a:tc vMerge="1">
                  <a:txBody>
                    <a:bodyPr/>
                    <a:lstStyle/>
                    <a:p>
                      <a:endParaRPr lang="en-US" dirty="0"/>
                    </a:p>
                  </a:txBody>
                  <a:tcPr/>
                </a:tc>
                <a:tc>
                  <a:txBody>
                    <a:bodyPr/>
                    <a:lstStyle/>
                    <a:p>
                      <a:pPr algn="ctr"/>
                      <a:r>
                        <a:rPr lang="en-US" sz="2000" dirty="0">
                          <a:latin typeface="Times New Roman" panose="02020603050405020304" pitchFamily="18" charset="0"/>
                          <a:cs typeface="Times New Roman" panose="02020603050405020304" pitchFamily="18" charset="0"/>
                        </a:rPr>
                        <a:t>Trung </a:t>
                      </a:r>
                      <a:r>
                        <a:rPr lang="en-US" sz="2000" dirty="0" err="1">
                          <a:latin typeface="Times New Roman" panose="02020603050405020304" pitchFamily="18" charset="0"/>
                          <a:cs typeface="Times New Roman" panose="02020603050405020304" pitchFamily="18" charset="0"/>
                        </a:rPr>
                        <a:t>bình</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lệch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chuẩn</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a:latin typeface="Times New Roman" panose="02020603050405020304" pitchFamily="18" charset="0"/>
                          <a:cs typeface="Times New Roman" panose="02020603050405020304" pitchFamily="18" charset="0"/>
                        </a:rPr>
                        <a:t>Trung </a:t>
                      </a:r>
                      <a:r>
                        <a:rPr lang="en-US" sz="2000" dirty="0" err="1">
                          <a:latin typeface="Times New Roman" panose="02020603050405020304" pitchFamily="18" charset="0"/>
                          <a:cs typeface="Times New Roman" panose="02020603050405020304" pitchFamily="18" charset="0"/>
                        </a:rPr>
                        <a:t>bình</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lệch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chuẩn</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745317419"/>
                  </a:ext>
                </a:extLst>
              </a:tr>
              <a:tr h="370840">
                <a:tc>
                  <a:txBody>
                    <a:bodyPr/>
                    <a:lstStyle/>
                    <a:p>
                      <a:pPr algn="ctr"/>
                      <a:r>
                        <a:rPr lang="en-US" sz="2000" dirty="0">
                          <a:latin typeface="Times New Roman" panose="02020603050405020304" pitchFamily="18" charset="0"/>
                          <a:cs typeface="Times New Roman" panose="02020603050405020304" pitchFamily="18" charset="0"/>
                        </a:rPr>
                        <a:t>2</a:t>
                      </a:r>
                    </a:p>
                  </a:txBody>
                  <a:tcPr/>
                </a:tc>
                <a:tc>
                  <a:txBody>
                    <a:bodyPr/>
                    <a:lstStyle/>
                    <a:p>
                      <a:pPr algn="ctr"/>
                      <a:r>
                        <a:rPr lang="en-US" sz="2000" dirty="0">
                          <a:latin typeface="Times New Roman" panose="02020603050405020304" pitchFamily="18" charset="0"/>
                          <a:cs typeface="Times New Roman" panose="02020603050405020304" pitchFamily="18" charset="0"/>
                        </a:rPr>
                        <a:t>8.7667</a:t>
                      </a:r>
                    </a:p>
                  </a:txBody>
                  <a:tcPr/>
                </a:tc>
                <a:tc>
                  <a:txBody>
                    <a:bodyPr/>
                    <a:lstStyle/>
                    <a:p>
                      <a:pPr algn="ctr"/>
                      <a:r>
                        <a:rPr lang="en-US" sz="2000" dirty="0">
                          <a:latin typeface="Times New Roman" panose="02020603050405020304" pitchFamily="18" charset="0"/>
                          <a:cs typeface="Times New Roman" panose="02020603050405020304" pitchFamily="18" charset="0"/>
                        </a:rPr>
                        <a:t>0.3278</a:t>
                      </a:r>
                    </a:p>
                  </a:txBody>
                  <a:tcPr/>
                </a:tc>
                <a:tc>
                  <a:txBody>
                    <a:bodyPr/>
                    <a:lstStyle/>
                    <a:p>
                      <a:pPr algn="ctr"/>
                      <a:r>
                        <a:rPr lang="en-US" sz="2000" dirty="0">
                          <a:latin typeface="Times New Roman" panose="02020603050405020304" pitchFamily="18" charset="0"/>
                          <a:cs typeface="Times New Roman" panose="02020603050405020304" pitchFamily="18" charset="0"/>
                        </a:rPr>
                        <a:t>8.6583</a:t>
                      </a:r>
                    </a:p>
                  </a:txBody>
                  <a:tcPr/>
                </a:tc>
                <a:tc>
                  <a:txBody>
                    <a:bodyPr/>
                    <a:lstStyle/>
                    <a:p>
                      <a:pPr algn="ctr"/>
                      <a:r>
                        <a:rPr lang="en-US" sz="2000" dirty="0">
                          <a:latin typeface="Times New Roman" panose="02020603050405020304" pitchFamily="18" charset="0"/>
                          <a:cs typeface="Times New Roman" panose="02020603050405020304" pitchFamily="18" charset="0"/>
                        </a:rPr>
                        <a:t>0.6581</a:t>
                      </a:r>
                    </a:p>
                  </a:txBody>
                  <a:tcPr/>
                </a:tc>
                <a:extLst>
                  <a:ext uri="{0D108BD9-81ED-4DB2-BD59-A6C34878D82A}">
                    <a16:rowId xmlns:a16="http://schemas.microsoft.com/office/drawing/2014/main" val="4203320636"/>
                  </a:ext>
                </a:extLst>
              </a:tr>
              <a:tr h="370840">
                <a:tc>
                  <a:txBody>
                    <a:bodyPr/>
                    <a:lstStyle/>
                    <a:p>
                      <a:pPr algn="ctr"/>
                      <a:r>
                        <a:rPr lang="en-US" sz="2000" dirty="0">
                          <a:latin typeface="Times New Roman" panose="02020603050405020304" pitchFamily="18" charset="0"/>
                          <a:cs typeface="Times New Roman" panose="02020603050405020304" pitchFamily="18" charset="0"/>
                        </a:rPr>
                        <a:t>5</a:t>
                      </a:r>
                    </a:p>
                  </a:txBody>
                  <a:tcPr/>
                </a:tc>
                <a:tc>
                  <a:txBody>
                    <a:bodyPr/>
                    <a:lstStyle/>
                    <a:p>
                      <a:pPr algn="ctr"/>
                      <a:r>
                        <a:rPr lang="en-US" sz="2000" dirty="0">
                          <a:latin typeface="Times New Roman" panose="02020603050405020304" pitchFamily="18" charset="0"/>
                          <a:cs typeface="Times New Roman" panose="02020603050405020304" pitchFamily="18" charset="0"/>
                        </a:rPr>
                        <a:t>8.6917</a:t>
                      </a:r>
                    </a:p>
                  </a:txBody>
                  <a:tcPr/>
                </a:tc>
                <a:tc>
                  <a:txBody>
                    <a:bodyPr/>
                    <a:lstStyle/>
                    <a:p>
                      <a:pPr algn="ctr"/>
                      <a:r>
                        <a:rPr lang="en-US" sz="2000" dirty="0">
                          <a:latin typeface="Times New Roman" panose="02020603050405020304" pitchFamily="18" charset="0"/>
                          <a:cs typeface="Times New Roman" panose="02020603050405020304" pitchFamily="18" charset="0"/>
                        </a:rPr>
                        <a:t>0.2516</a:t>
                      </a:r>
                    </a:p>
                  </a:txBody>
                  <a:tcPr/>
                </a:tc>
                <a:tc>
                  <a:txBody>
                    <a:bodyPr/>
                    <a:lstStyle/>
                    <a:p>
                      <a:pPr algn="ctr"/>
                      <a:r>
                        <a:rPr lang="en-US" sz="2000" dirty="0">
                          <a:latin typeface="Times New Roman" panose="02020603050405020304" pitchFamily="18" charset="0"/>
                          <a:cs typeface="Times New Roman" panose="02020603050405020304" pitchFamily="18" charset="0"/>
                        </a:rPr>
                        <a:t>8.1833</a:t>
                      </a:r>
                    </a:p>
                  </a:txBody>
                  <a:tcPr/>
                </a:tc>
                <a:tc>
                  <a:txBody>
                    <a:bodyPr/>
                    <a:lstStyle/>
                    <a:p>
                      <a:pPr algn="ctr"/>
                      <a:r>
                        <a:rPr lang="en-US" sz="2000" dirty="0">
                          <a:latin typeface="Times New Roman" panose="02020603050405020304" pitchFamily="18" charset="0"/>
                          <a:cs typeface="Times New Roman" panose="02020603050405020304" pitchFamily="18" charset="0"/>
                        </a:rPr>
                        <a:t>0.4777</a:t>
                      </a:r>
                    </a:p>
                  </a:txBody>
                  <a:tcPr/>
                </a:tc>
                <a:extLst>
                  <a:ext uri="{0D108BD9-81ED-4DB2-BD59-A6C34878D82A}">
                    <a16:rowId xmlns:a16="http://schemas.microsoft.com/office/drawing/2014/main" val="1383552061"/>
                  </a:ext>
                </a:extLst>
              </a:tr>
              <a:tr h="370840">
                <a:tc>
                  <a:txBody>
                    <a:bodyPr/>
                    <a:lstStyle/>
                    <a:p>
                      <a:pPr algn="ctr"/>
                      <a:r>
                        <a:rPr lang="en-US" sz="2000" dirty="0">
                          <a:latin typeface="Times New Roman" panose="02020603050405020304" pitchFamily="18" charset="0"/>
                          <a:cs typeface="Times New Roman" panose="02020603050405020304" pitchFamily="18" charset="0"/>
                        </a:rPr>
                        <a:t>10</a:t>
                      </a:r>
                    </a:p>
                  </a:txBody>
                  <a:tcPr/>
                </a:tc>
                <a:tc>
                  <a:txBody>
                    <a:bodyPr/>
                    <a:lstStyle/>
                    <a:p>
                      <a:pPr algn="ctr"/>
                      <a:r>
                        <a:rPr lang="en-US" sz="2000" dirty="0">
                          <a:latin typeface="Times New Roman" panose="02020603050405020304" pitchFamily="18" charset="0"/>
                          <a:cs typeface="Times New Roman" panose="02020603050405020304" pitchFamily="18" charset="0"/>
                        </a:rPr>
                        <a:t>9.0167</a:t>
                      </a:r>
                    </a:p>
                  </a:txBody>
                  <a:tcPr/>
                </a:tc>
                <a:tc>
                  <a:txBody>
                    <a:bodyPr/>
                    <a:lstStyle/>
                    <a:p>
                      <a:pPr algn="ctr"/>
                      <a:r>
                        <a:rPr lang="en-US" sz="2000" dirty="0">
                          <a:latin typeface="Times New Roman" panose="02020603050405020304" pitchFamily="18" charset="0"/>
                          <a:cs typeface="Times New Roman" panose="02020603050405020304" pitchFamily="18" charset="0"/>
                        </a:rPr>
                        <a:t>0.2702</a:t>
                      </a:r>
                    </a:p>
                  </a:txBody>
                  <a:tcPr/>
                </a:tc>
                <a:tc>
                  <a:txBody>
                    <a:bodyPr/>
                    <a:lstStyle/>
                    <a:p>
                      <a:pPr algn="ctr"/>
                      <a:r>
                        <a:rPr lang="en-US" sz="2000" dirty="0">
                          <a:latin typeface="Times New Roman" panose="02020603050405020304" pitchFamily="18" charset="0"/>
                          <a:cs typeface="Times New Roman" panose="02020603050405020304" pitchFamily="18" charset="0"/>
                        </a:rPr>
                        <a:t>8.5667</a:t>
                      </a:r>
                    </a:p>
                  </a:txBody>
                  <a:tcPr/>
                </a:tc>
                <a:tc>
                  <a:txBody>
                    <a:bodyPr/>
                    <a:lstStyle/>
                    <a:p>
                      <a:pPr algn="ctr"/>
                      <a:r>
                        <a:rPr lang="en-US" sz="2000" dirty="0">
                          <a:latin typeface="Times New Roman" panose="02020603050405020304" pitchFamily="18" charset="0"/>
                          <a:cs typeface="Times New Roman" panose="02020603050405020304" pitchFamily="18" charset="0"/>
                        </a:rPr>
                        <a:t>0.3212</a:t>
                      </a:r>
                    </a:p>
                  </a:txBody>
                  <a:tcPr/>
                </a:tc>
                <a:extLst>
                  <a:ext uri="{0D108BD9-81ED-4DB2-BD59-A6C34878D82A}">
                    <a16:rowId xmlns:a16="http://schemas.microsoft.com/office/drawing/2014/main" val="702600287"/>
                  </a:ext>
                </a:extLst>
              </a:tr>
            </a:tbl>
          </a:graphicData>
        </a:graphic>
      </p:graphicFrame>
      <p:sp>
        <p:nvSpPr>
          <p:cNvPr id="4" name="Slide Number Placeholder 3">
            <a:extLst>
              <a:ext uri="{FF2B5EF4-FFF2-40B4-BE49-F238E27FC236}">
                <a16:creationId xmlns:a16="http://schemas.microsoft.com/office/drawing/2014/main" id="{41D5FE31-4683-F374-1C1C-4EDE161E4287}"/>
              </a:ext>
            </a:extLst>
          </p:cNvPr>
          <p:cNvSpPr>
            <a:spLocks noGrp="1"/>
          </p:cNvSpPr>
          <p:nvPr>
            <p:ph type="sldNum" sz="quarter" idx="12"/>
          </p:nvPr>
        </p:nvSpPr>
        <p:spPr/>
        <p:txBody>
          <a:bodyPr/>
          <a:lstStyle/>
          <a:p>
            <a:fld id="{4ED22EA6-6E07-498D-89D0-2FA887FD1E5C}" type="slidenum">
              <a:rPr lang="vi-VN" smtClean="0"/>
              <a:t>33</a:t>
            </a:fld>
            <a:endParaRPr lang="vi-VN"/>
          </a:p>
        </p:txBody>
      </p:sp>
      <p:sp>
        <p:nvSpPr>
          <p:cNvPr id="7" name="Hộp Văn bản 6">
            <a:extLst>
              <a:ext uri="{FF2B5EF4-FFF2-40B4-BE49-F238E27FC236}">
                <a16:creationId xmlns:a16="http://schemas.microsoft.com/office/drawing/2014/main" id="{E4DC019A-EAA4-CB7E-763E-BFE0A4F5AD91}"/>
              </a:ext>
            </a:extLst>
          </p:cNvPr>
          <p:cNvSpPr txBox="1"/>
          <p:nvPr/>
        </p:nvSpPr>
        <p:spPr>
          <a:xfrm>
            <a:off x="838200" y="1323806"/>
            <a:ext cx="1986280" cy="477054"/>
          </a:xfrm>
          <a:prstGeom prst="rect">
            <a:avLst/>
          </a:prstGeom>
          <a:noFill/>
        </p:spPr>
        <p:txBody>
          <a:bodyPr wrap="square" rtlCol="0">
            <a:spAutoFit/>
          </a:bodyPr>
          <a:lstStyle/>
          <a:p>
            <a:pPr marL="285750" indent="-285750">
              <a:buFont typeface="Arial" panose="020B0604020202020204" pitchFamily="34" charset="0"/>
              <a:buChar char="•"/>
            </a:pPr>
            <a:r>
              <a:rPr lang="en-US" sz="2500" b="1" dirty="0">
                <a:latin typeface="Times New Roman" panose="02020603050405020304" pitchFamily="18" charset="0"/>
                <a:cs typeface="Times New Roman" panose="02020603050405020304" pitchFamily="18" charset="0"/>
              </a:rPr>
              <a:t>Multi-turn</a:t>
            </a:r>
          </a:p>
        </p:txBody>
      </p:sp>
      <p:sp>
        <p:nvSpPr>
          <p:cNvPr id="8" name="Hộp Văn bản 7">
            <a:extLst>
              <a:ext uri="{FF2B5EF4-FFF2-40B4-BE49-F238E27FC236}">
                <a16:creationId xmlns:a16="http://schemas.microsoft.com/office/drawing/2014/main" id="{E28F8243-F062-4B01-9039-B376607BFC2C}"/>
              </a:ext>
            </a:extLst>
          </p:cNvPr>
          <p:cNvSpPr txBox="1"/>
          <p:nvPr/>
        </p:nvSpPr>
        <p:spPr>
          <a:xfrm>
            <a:off x="838200" y="4355424"/>
            <a:ext cx="4373880" cy="1092607"/>
          </a:xfrm>
          <a:prstGeom prst="rect">
            <a:avLst/>
          </a:prstGeom>
          <a:noFill/>
        </p:spPr>
        <p:txBody>
          <a:bodyPr wrap="square" rtlCol="0">
            <a:spAutoFit/>
          </a:bodyPr>
          <a:lstStyle/>
          <a:p>
            <a:pPr marL="285750" indent="-285750">
              <a:buFont typeface="Arial" panose="020B0604020202020204" pitchFamily="34" charset="0"/>
              <a:buChar char="•"/>
            </a:pPr>
            <a:r>
              <a:rPr lang="en-US" sz="2500" b="1" dirty="0">
                <a:latin typeface="Times New Roman" panose="02020603050405020304" pitchFamily="18" charset="0"/>
                <a:cs typeface="Times New Roman" panose="02020603050405020304" pitchFamily="18" charset="0"/>
              </a:rPr>
              <a:t>One-shot</a:t>
            </a:r>
          </a:p>
          <a:p>
            <a:pPr marL="342900" indent="-342900">
              <a:buFontTx/>
              <a:buChar char="-"/>
            </a:pPr>
            <a:r>
              <a:rPr lang="en-US" sz="2000" dirty="0">
                <a:latin typeface="Times New Roman" panose="02020603050405020304" pitchFamily="18" charset="0"/>
                <a:cs typeface="Times New Roman" panose="02020603050405020304" pitchFamily="18" charset="0"/>
              </a:rPr>
              <a:t>Trung </a:t>
            </a:r>
            <a:r>
              <a:rPr lang="en-US" sz="2000" dirty="0" err="1">
                <a:latin typeface="Times New Roman" panose="02020603050405020304" pitchFamily="18" charset="0"/>
                <a:cs typeface="Times New Roman" panose="02020603050405020304" pitchFamily="18" charset="0"/>
              </a:rPr>
              <a:t>bình</a:t>
            </a:r>
            <a:r>
              <a:rPr lang="en-US" sz="2000" dirty="0">
                <a:latin typeface="Times New Roman" panose="02020603050405020304" pitchFamily="18" charset="0"/>
                <a:cs typeface="Times New Roman" panose="02020603050405020304" pitchFamily="18" charset="0"/>
              </a:rPr>
              <a:t>: 7.6825</a:t>
            </a:r>
          </a:p>
          <a:p>
            <a:pPr marL="342900" indent="-342900">
              <a:buFontTx/>
              <a:buChar char="-"/>
            </a:pP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lệch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chuẩn</a:t>
            </a:r>
            <a:r>
              <a:rPr lang="en-US" sz="2000" dirty="0">
                <a:latin typeface="Times New Roman" panose="02020603050405020304" pitchFamily="18" charset="0"/>
                <a:cs typeface="Times New Roman" panose="02020603050405020304" pitchFamily="18" charset="0"/>
              </a:rPr>
              <a:t>: 0.7478</a:t>
            </a:r>
          </a:p>
        </p:txBody>
      </p:sp>
    </p:spTree>
    <p:extLst>
      <p:ext uri="{BB962C8B-B14F-4D97-AF65-F5344CB8AC3E}">
        <p14:creationId xmlns:p14="http://schemas.microsoft.com/office/powerpoint/2010/main" val="33079422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0"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par>
                          <p:cTn id="10" fill="hold">
                            <p:stCondLst>
                              <p:cond delay="500"/>
                            </p:stCondLst>
                            <p:childTnLst>
                              <p:par>
                                <p:cTn id="11" presetID="10" presetClass="entr" presetSubtype="0" fill="hold" grpId="0" nodeType="after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167CA2-6B0E-7A01-7577-870A1B4D99D6}"/>
              </a:ext>
            </a:extLst>
          </p:cNvPr>
          <p:cNvSpPr>
            <a:spLocks noGrp="1"/>
          </p:cNvSpPr>
          <p:nvPr>
            <p:ph type="title"/>
          </p:nvPr>
        </p:nvSpPr>
        <p:spPr/>
        <p:txBody>
          <a:bodyPr/>
          <a:lstStyle/>
          <a:p>
            <a:r>
              <a:rPr lang="vi-VN"/>
              <a:t>VI. Demo chatbot</a:t>
            </a:r>
          </a:p>
        </p:txBody>
      </p:sp>
      <p:sp>
        <p:nvSpPr>
          <p:cNvPr id="5" name="Text Placeholder 4">
            <a:extLst>
              <a:ext uri="{FF2B5EF4-FFF2-40B4-BE49-F238E27FC236}">
                <a16:creationId xmlns:a16="http://schemas.microsoft.com/office/drawing/2014/main" id="{E2F98F31-5A2A-8B53-0320-8EAC9013D1E9}"/>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BC1FEDD9-C94B-BA6C-A249-BAC0A28CA4C8}"/>
              </a:ext>
            </a:extLst>
          </p:cNvPr>
          <p:cNvSpPr>
            <a:spLocks noGrp="1"/>
          </p:cNvSpPr>
          <p:nvPr>
            <p:ph type="sldNum" sz="quarter" idx="12"/>
          </p:nvPr>
        </p:nvSpPr>
        <p:spPr/>
        <p:txBody>
          <a:bodyPr/>
          <a:lstStyle/>
          <a:p>
            <a:fld id="{4ED22EA6-6E07-498D-89D0-2FA887FD1E5C}" type="slidenum">
              <a:rPr lang="vi-VN" smtClean="0"/>
              <a:t>34</a:t>
            </a:fld>
            <a:endParaRPr lang="vi-VN"/>
          </a:p>
        </p:txBody>
      </p:sp>
    </p:spTree>
    <p:extLst>
      <p:ext uri="{BB962C8B-B14F-4D97-AF65-F5344CB8AC3E}">
        <p14:creationId xmlns:p14="http://schemas.microsoft.com/office/powerpoint/2010/main" val="144631385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6A7A1-7C3B-D39D-C828-2D7A23BCDDDA}"/>
              </a:ext>
            </a:extLst>
          </p:cNvPr>
          <p:cNvSpPr>
            <a:spLocks noGrp="1"/>
          </p:cNvSpPr>
          <p:nvPr>
            <p:ph type="title"/>
          </p:nvPr>
        </p:nvSpPr>
        <p:spPr/>
        <p:txBody>
          <a:bodyPr>
            <a:normAutofit/>
          </a:bodyPr>
          <a:lstStyle/>
          <a:p>
            <a:r>
              <a:rPr lang="vi-VN"/>
              <a:t>VI. Demo chatbot</a:t>
            </a:r>
          </a:p>
        </p:txBody>
      </p:sp>
      <p:pic>
        <p:nvPicPr>
          <p:cNvPr id="5" name="Content Placeholder 4">
            <a:extLst>
              <a:ext uri="{FF2B5EF4-FFF2-40B4-BE49-F238E27FC236}">
                <a16:creationId xmlns:a16="http://schemas.microsoft.com/office/drawing/2014/main" id="{949B039D-8AC5-257F-A8A0-44CE57F08947}"/>
              </a:ext>
            </a:extLst>
          </p:cNvPr>
          <p:cNvPicPr>
            <a:picLocks noGrp="1" noChangeAspect="1"/>
          </p:cNvPicPr>
          <p:nvPr>
            <p:ph idx="1"/>
          </p:nvPr>
        </p:nvPicPr>
        <p:blipFill>
          <a:blip r:embed="rId2"/>
          <a:stretch>
            <a:fillRect/>
          </a:stretch>
        </p:blipFill>
        <p:spPr>
          <a:xfrm>
            <a:off x="3216717" y="1193800"/>
            <a:ext cx="5758566" cy="4983163"/>
          </a:xfrm>
          <a:prstGeom prst="rect">
            <a:avLst/>
          </a:prstGeom>
        </p:spPr>
      </p:pic>
      <p:sp>
        <p:nvSpPr>
          <p:cNvPr id="3" name="Slide Number Placeholder 2">
            <a:extLst>
              <a:ext uri="{FF2B5EF4-FFF2-40B4-BE49-F238E27FC236}">
                <a16:creationId xmlns:a16="http://schemas.microsoft.com/office/drawing/2014/main" id="{E2ECE10C-D058-4568-23FB-122380707ED7}"/>
              </a:ext>
            </a:extLst>
          </p:cNvPr>
          <p:cNvSpPr>
            <a:spLocks noGrp="1"/>
          </p:cNvSpPr>
          <p:nvPr>
            <p:ph type="sldNum" sz="quarter" idx="12"/>
          </p:nvPr>
        </p:nvSpPr>
        <p:spPr/>
        <p:txBody>
          <a:bodyPr/>
          <a:lstStyle/>
          <a:p>
            <a:fld id="{4ED22EA6-6E07-498D-89D0-2FA887FD1E5C}" type="slidenum">
              <a:rPr lang="vi-VN" smtClean="0"/>
              <a:t>35</a:t>
            </a:fld>
            <a:endParaRPr lang="vi-VN"/>
          </a:p>
        </p:txBody>
      </p:sp>
    </p:spTree>
    <p:extLst>
      <p:ext uri="{BB962C8B-B14F-4D97-AF65-F5344CB8AC3E}">
        <p14:creationId xmlns:p14="http://schemas.microsoft.com/office/powerpoint/2010/main" val="29622452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856</TotalTime>
  <Words>1594</Words>
  <Application>Microsoft Office PowerPoint</Application>
  <PresentationFormat>Widescreen</PresentationFormat>
  <Paragraphs>248</Paragraphs>
  <Slides>35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Cambria Math</vt:lpstr>
      <vt:lpstr>Times New Roman</vt:lpstr>
      <vt:lpstr>Office Theme</vt:lpstr>
      <vt:lpstr>Chatbot Ẩm Thực</vt:lpstr>
      <vt:lpstr>Thông tin</vt:lpstr>
      <vt:lpstr>Thành viên nhóm</vt:lpstr>
      <vt:lpstr>Nội dung</vt:lpstr>
      <vt:lpstr>I. Giới thiệu bài toán</vt:lpstr>
      <vt:lpstr>I. Giới thiệu bài toán</vt:lpstr>
      <vt:lpstr>I. Giới thiệu bài toán</vt:lpstr>
      <vt:lpstr>II. Tổng quan dự án</vt:lpstr>
      <vt:lpstr>II. Tổng quan dự án</vt:lpstr>
      <vt:lpstr>II. Tổng quan </vt:lpstr>
      <vt:lpstr>III. Xử lý dữ liệu</vt:lpstr>
      <vt:lpstr>III. Xử lý dữ liệu</vt:lpstr>
      <vt:lpstr>III. Xử lý dữ liệu</vt:lpstr>
      <vt:lpstr>III. Xử lý dữ liệu</vt:lpstr>
      <vt:lpstr>III. Xử lý dữ liệu</vt:lpstr>
      <vt:lpstr>III. Xử lý dữ liệu</vt:lpstr>
      <vt:lpstr>IV. Hệ thống chatbot</vt:lpstr>
      <vt:lpstr>IV. Hệ thống chatbot</vt:lpstr>
      <vt:lpstr>IV. Hệ thống chatbot</vt:lpstr>
      <vt:lpstr>IV. Hệ thống chatbot</vt:lpstr>
      <vt:lpstr>IV. Hệ thống chatbot</vt:lpstr>
      <vt:lpstr>IV. Hệ thống chatbot</vt:lpstr>
      <vt:lpstr>IV. Hệ thống chatbot</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VI. Demo chatbot</vt:lpstr>
      <vt:lpstr>VI. Demo chatbot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Dang Hung</dc:creator>
  <cp:lastModifiedBy>Dang Hung</cp:lastModifiedBy>
  <cp:revision>6</cp:revision>
  <dcterms:created xsi:type="dcterms:W3CDTF">2025-11-29T10:14:34Z</dcterms:created>
  <dcterms:modified xsi:type="dcterms:W3CDTF">2025-11-30T15:30:33Z</dcterms:modified>
</cp:coreProperties>
</file>